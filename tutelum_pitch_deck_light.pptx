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chambard/Documents/Projects/tutelum-pitch-deck/Tutelum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9144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Control Layer for Enterprise AI Agents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Tutelum lets enterprises deploy AI agents that spend money without losing control.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4846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john@tutelum.ai  ·  tutelum.ai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Spend Real Money. With No Control.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agents gain purchasing power, enterprises have no financial control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" cy="1920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Spending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can't see what their agent fleet is spending: when, why, or to whom.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15568"/>
            <a:ext cx="45720" cy="1920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280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Spending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01768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call any API, drain company funds in a single request: no limits, no rules.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82112"/>
            <a:ext cx="45720" cy="1920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467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380390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manipulated by malicious content in web pages or APIs, redirecting payments without any human knowing.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0600" y="3182112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182112"/>
            <a:ext cx="45720" cy="1920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33467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Cryptographic Record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01768" y="380390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Compliance have nothing for auditors; no signed record of any agent transaction.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Forces Create an Urgent Window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6517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6517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Explosion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19202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in agent creation, H1 2025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$7.92B today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7398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$236B by 2034 at 45.8% CAGR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Salesforce Agentic Enterprise Index, Sept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914400"/>
            <a:ext cx="26517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914400"/>
            <a:ext cx="265176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429000" y="1664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EU's binding AI risk law; mandatory compliance for high-risk AI 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2788920"/>
            <a:ext cx="19202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535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 EU AI Act maximum penalty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5204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Deadline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0" y="401421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months away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AI Act, Official Journal 2024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914400"/>
            <a:ext cx="26517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914400"/>
            <a:ext cx="26517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0789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10,780%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355080" y="2048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Payment Rails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29400" y="2487168"/>
            <a:ext cx="19202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surge in one month (May 2025)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3172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launched x402: May 2025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37398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payments in one week, Oct 2025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Dune Analytics / Coinbase, Oct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Incidents. Real Losses. No Controls.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public incidents. The unreported ones are worse.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 ·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value, irreversible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Lobstar Wilde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trading agent misread a sarcastic post and transferred 5% of its token supply (~$250K paper value) to a user requesting $4. The transaction was irreversible.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Reported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29844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298448"/>
            <a:ext cx="265176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 ·  NOV 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$47K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2900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prompt injection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 AI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27248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Freysa's only rule: never transfer funds. After 481 failed attempts, a user's fake "admin terminal" override drained 13.19 ETH ($47K) from the prize pool.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@jarrodwatts · Nov 2024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129844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298448"/>
            <a:ext cx="265176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408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·  JAN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645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5508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in AP2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AP2 Flaws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400800" y="3127248"/>
            <a:ext cx="237744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10128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reliably subvert Google's Agent Payments Protocol, manipulating purchases and extracting user data from Gemini agents.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4626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arXiv:2601.22569 · Jan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Layer. Every Stakeholder. Zero Bypass.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93852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MCP · Zero rewrites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713232"/>
            <a:ext cx="193852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 / 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· Spend limits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713232"/>
            <a:ext cx="193852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TEE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713232"/>
            <a:ext cx="193852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78638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LEGAL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1155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· SOC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1984248"/>
            <a:ext cx="1463040" cy="1600200"/>
          </a:xfrm>
          <a:prstGeom prst="rect">
            <a:avLst/>
          </a:prstGeom>
          <a:solidFill>
            <a:srgbClr val="E8EFF9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1984248"/>
            <a:ext cx="146304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pay()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84248" y="2656332"/>
            <a:ext cx="182880" cy="256032"/>
          </a:xfrm>
          <a:prstGeom prst="rightArrow">
            <a:avLst/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6272" y="1984248"/>
            <a:ext cx="1463040" cy="1600200"/>
          </a:xfrm>
          <a:prstGeom prst="rect">
            <a:avLst/>
          </a:prstGeom>
          <a:solidFill>
            <a:srgbClr val="EBF0FA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1984248"/>
            <a:ext cx="14630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9424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49424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48456" y="2656332"/>
            <a:ext cx="182880" cy="256032"/>
          </a:xfrm>
          <a:prstGeom prst="rightArrow">
            <a:avLst/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1984248"/>
            <a:ext cx="1463040" cy="1600200"/>
          </a:xfrm>
          <a:prstGeom prst="rect">
            <a:avLst/>
          </a:prstGeom>
          <a:solidFill>
            <a:srgbClr val="F0EBFA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984248"/>
            <a:ext cx="146304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Layer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913632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crypto-verified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12664" y="2656332"/>
            <a:ext cx="182880" cy="256032"/>
          </a:xfrm>
          <a:prstGeom prst="rightArrow">
            <a:avLst/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1984248"/>
            <a:ext cx="1463040" cy="1600200"/>
          </a:xfrm>
          <a:prstGeom prst="rect">
            <a:avLst/>
          </a:prstGeom>
          <a:solidFill>
            <a:srgbClr val="EBF0FA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984248"/>
            <a:ext cx="14630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Router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77840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· USDC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ACH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76872" y="2656332"/>
            <a:ext cx="182880" cy="256032"/>
          </a:xfrm>
          <a:prstGeom prst="rightArrow">
            <a:avLst/>
          </a:prstGeom>
          <a:solidFill>
            <a:srgbClr val="1E40AF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1984248"/>
            <a:ext cx="1463040" cy="1600200"/>
          </a:xfrm>
          <a:prstGeom prst="rect">
            <a:avLst/>
          </a:prstGeom>
          <a:solidFill>
            <a:srgbClr val="EAFAF0"/>
          </a:solidFill>
          <a:ln w="15240">
            <a:solidFill>
              <a:srgbClr val="A8D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68896" y="1984248"/>
            <a:ext cx="1463040" cy="45720"/>
          </a:xfrm>
          <a:prstGeom prst="rect">
            <a:avLst/>
          </a:prstGeom>
          <a:solidFill>
            <a:srgbClr val="A8D8B8"/>
          </a:solidFill>
          <a:ln w="12700">
            <a:solidFill>
              <a:srgbClr val="A8D8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112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Logged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42048" y="26060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receipt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9319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CISO: Can an agent spend outside policy if Tutelum's servers are breached?  </a:t>
            </a:r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Spend limits are enforced in hardware by Turnkey's secure enclave; cryptographically verifiable, independent of our application layer.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$236B Market With No Governance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2606040" cy="2103120"/>
          </a:xfrm>
          <a:prstGeom prst="rect">
            <a:avLst/>
          </a:prstGeom>
          <a:solidFill>
            <a:srgbClr val="EB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77824"/>
            <a:ext cx="260604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$236B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Agents market by 2034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45.82% CAGR · Precedence Research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877824"/>
            <a:ext cx="26060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38328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agentic AI with financial capability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enterprises × 200 agents × $20K/yr = ~$17.6B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877824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877824"/>
            <a:ext cx="26060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24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3533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17920" y="20299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via dev-led enterprise sales (3 yrs)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SAM · 5 accts Y1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8412480" cy="1005840"/>
          </a:xfrm>
          <a:prstGeom prst="rect">
            <a:avLst/>
          </a:prstGeom>
          <a:solidFill>
            <a:srgbClr val="EA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90672"/>
            <a:ext cx="45720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455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Validation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34930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AI agents with purchasing power today · avg 200 agents/fleet · governance $20K–$80K/yr per fleet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SAM: $6B–$20B · 5 enterprise pilot accounts in Year 1 at avg $40K ACV = ~$200K ARR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198424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400K+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 today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Coinbase / x402, Q1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24328" y="4187952"/>
            <a:ext cx="198424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697480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payments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 (2025)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Dune Analytics / x402,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91456" y="4187952"/>
            <a:ext cx="198424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864608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≥1 function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McKinsey,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58584" y="4187952"/>
            <a:ext cx="1984248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422452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31736" y="4626864"/>
            <a:ext cx="1837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max penalty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enforce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31736" y="497433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Official Journal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82880" y="109728"/>
            <a:ext cx="8778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Alternative Enables Spending. None Enforce Governance.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49424" y="621792"/>
            <a:ext cx="1121664" cy="3931920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9424" y="621792"/>
            <a:ext cx="1121664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21792"/>
            <a:ext cx="2084832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9424" y="621792"/>
            <a:ext cx="1121664" cy="530352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Tutelum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71088" y="621792"/>
            <a:ext cx="1121664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664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Skyfire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92752" y="621792"/>
            <a:ext cx="1121664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328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Payman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14416" y="621792"/>
            <a:ext cx="1121664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AnChain.AI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36080" y="621792"/>
            <a:ext cx="1121664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2656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Agent Pay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57744" y="621792"/>
            <a:ext cx="1121664" cy="530352"/>
          </a:xfrm>
          <a:prstGeom prst="rect">
            <a:avLst/>
          </a:prstGeom>
          <a:solidFill>
            <a:srgbClr val="E8EFF9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621792"/>
            <a:ext cx="1048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/ Brex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" y="1152144"/>
            <a:ext cx="20848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11521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/ Hardware-Attested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49424" y="1152144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71088" y="1152144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7664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2752" y="1152144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9328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14416" y="1152144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36080" y="1152144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2656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57744" y="1152144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4320" y="115214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64592" y="1719072"/>
            <a:ext cx="2084832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17190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Payment Layer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249424" y="1719072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371088" y="1719072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7664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2752" y="1719072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9328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14416" y="1719072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36080" y="1719072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2656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57744" y="1719072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94320" y="1719072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64592" y="2286000"/>
            <a:ext cx="20848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Conditional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249424" y="2286000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0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3371088" y="2286000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7664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492752" y="2286000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9328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14416" y="2286000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50992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36080" y="2286000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72656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857744" y="2286000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4320" y="2286000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64592" y="2852928"/>
            <a:ext cx="2084832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Traditional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249424" y="2852928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0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3371088" y="2852928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7664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92752" y="2852928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9328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614416" y="2852928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50992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736080" y="2852928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72656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857744" y="2852928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94320" y="2852928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64592" y="3419856"/>
            <a:ext cx="208483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249424" y="3419856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0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79" name="Shape 77"/>
          <p:cNvSpPr/>
          <p:nvPr/>
        </p:nvSpPr>
        <p:spPr>
          <a:xfrm>
            <a:off x="3371088" y="3419856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07664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492752" y="3419856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9328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5614416" y="3419856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50992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736080" y="3419856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72656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857744" y="3419856"/>
            <a:ext cx="11216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94320" y="3419856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64592" y="3986784"/>
            <a:ext cx="2084832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92608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2249424" y="3986784"/>
            <a:ext cx="1121664" cy="566928"/>
          </a:xfrm>
          <a:prstGeom prst="rect">
            <a:avLst/>
          </a:prstGeom>
          <a:solidFill>
            <a:srgbClr val="DDEE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86000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93" name="Shape 91"/>
          <p:cNvSpPr/>
          <p:nvPr/>
        </p:nvSpPr>
        <p:spPr>
          <a:xfrm>
            <a:off x="3371088" y="3986784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07664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492752" y="3986784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29328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5614416" y="3986784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50992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736080" y="3986784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72656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7857744" y="3986784"/>
            <a:ext cx="1121664" cy="566928"/>
          </a:xfrm>
          <a:prstGeom prst="rect">
            <a:avLst/>
          </a:prstGeom>
          <a:solidFill>
            <a:srgbClr val="F5F8FF"/>
          </a:solidFill>
          <a:ln w="9525">
            <a:solidFill>
              <a:srgbClr val="C8D6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94320" y="3986784"/>
            <a:ext cx="1048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182880" y="4736592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support  ·  ⚠️ Partial / in development  ·  ❌ Not supported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Before Revenue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≠ pre-progress. The product is live and integrated with the top agent frameworks.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96596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19659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Shipped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999232"/>
            <a:ext cx="141732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AutoGen  ·  MCP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 popular agent frameworks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1353312"/>
            <a:ext cx="196596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353312"/>
            <a:ext cx="1965960" cy="45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Rate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88920" y="2999232"/>
            <a:ext cx="141732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policy bypasses recorded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testing to date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353312"/>
            <a:ext cx="196596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53312"/>
            <a:ext cx="196596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Live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5488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month)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2999232"/>
            <a:ext cx="141732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3-person 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execution speed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12280" y="1353312"/>
            <a:ext cx="196596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353312"/>
            <a:ext cx="196596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5179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90372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Leads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086600" y="2999232"/>
            <a:ext cx="141732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145536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conversations with CISOs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VP Engs in fintech and logistics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EAFAF0"/>
          </a:solidFill>
          <a:ln w="9525">
            <a:solidFill>
              <a:srgbClr val="A8D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 signed LOIs before seed round  ·  EU AI Act enforcement window: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SaaS + Platform Fees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26974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→  $199/mo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792224"/>
            <a:ext cx="2423160" cy="18288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3911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agents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48716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tx/mo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29352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policy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" y="33832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audit log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6120" y="841248"/>
            <a:ext cx="2697480" cy="2926080"/>
          </a:xfrm>
          <a:prstGeom prst="rect">
            <a:avLst/>
          </a:prstGeom>
          <a:solidFill>
            <a:srgbClr val="EB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841248"/>
            <a:ext cx="269748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8328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$999/mo + 0.008% per tx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83280" y="1792224"/>
            <a:ext cx="2423160" cy="18288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0712" y="2039112"/>
            <a:ext cx="91440" cy="914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0712" y="2487168"/>
            <a:ext cx="91440" cy="914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+ anomaly detection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0712" y="2935224"/>
            <a:ext cx="91440" cy="914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10712" y="3383280"/>
            <a:ext cx="91440" cy="914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audit log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841248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841248"/>
            <a:ext cx="269748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9784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63640" y="13898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63640" y="1792224"/>
            <a:ext cx="2423160" cy="18288"/>
          </a:xfrm>
          <a:prstGeom prst="rect">
            <a:avLst/>
          </a:prstGeom>
          <a:solidFill>
            <a:srgbClr val="D1DCF0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203911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93852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TEE hardware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1072" y="248716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386584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EU AI Act packages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91072" y="2935224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83464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(Okta, Azure AD)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1072" y="3383280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328269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5760" y="3767328"/>
            <a:ext cx="8412480" cy="1335024"/>
          </a:xfrm>
          <a:prstGeom prst="rect">
            <a:avLst/>
          </a:prstGeom>
          <a:solidFill>
            <a:srgbClr val="EA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767328"/>
            <a:ext cx="45720" cy="133502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8313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94360" y="41879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$999/mo = $12K ACV  ·  Enterprise ~$40K–$80K ACV  ·  Model: 5 enterprise accounts Y1 × $40K avg = ~$200K ARR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94360" y="4572000"/>
            <a:ext cx="795528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45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expansion: a $12K/yr Growth account becomes $30K/yr as the agent fleet grows 2–3× YoY. Zero new sales motion.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Three-Motion GTM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Dev-led adoption lands the account. Compliance pressure closes the enterprise deal. Usage expansion drives NRR.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SDK-Led (Bottom-Up)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551176"/>
            <a:ext cx="242316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developer reach via LangChain, AutoGen, and MCP communities: 200K+ active users. Free tier drives adoption into team stacks, zero cold sales needed.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9748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Pull (Top-Down)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29000" y="2551176"/>
            <a:ext cx="242316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(Aug 2026) is a mandatory procurement trigger. CISOs are already asking about agent financial controls; Tutelum is the answer.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26974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25880"/>
            <a:ext cx="269748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490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55080" y="20208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Expansion (Built-In NRR)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55080" y="2551176"/>
            <a:ext cx="242316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642616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automatically with agent fleet size. Every new agent an existing customer deploys generates incremental per-transaction revenue.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4553712"/>
            <a:ext cx="8412480" cy="493776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5371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SDK-led (Now)  →  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pull (Q3 2026, EU AI Act enforcement)  → 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expansion (YR2+)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Engineers Who've Lived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25603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6" name="Image 0" descr="/Users/jchambard/Documents/Projects/tutelum-pitch-deck/Joh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996696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Chambard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 ·  Co-Founder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infrastructure and enterprise compliance tooling at NETSYNC; Saw how emerging regulations around agents creates a need for AI auditing.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282696"/>
            <a:ext cx="201168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Purdue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@ Phillips66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linkedin.com/in/john-chambard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868680"/>
            <a:ext cx="2560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868680"/>
            <a:ext cx="25603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69080" y="996696"/>
            <a:ext cx="822960" cy="822960"/>
          </a:xfrm>
          <a:prstGeom prst="ellipse">
            <a:avLst/>
          </a:prstGeom>
          <a:solidFill>
            <a:srgbClr val="0D3D3A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69080" y="9966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29184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Harsha Potta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29184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 ·  Co-Founder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1012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developer tooling at NETSYNC for platform tools; Knows exactly where governance gaps open up when developers get API access.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74720" y="3282696"/>
            <a:ext cx="201168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UT Austin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9184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@ HPE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9184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linkedin.com/in/sri-harsha-potta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35040" y="868680"/>
            <a:ext cx="2560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8FAD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868680"/>
            <a:ext cx="256032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27" name="Image 1" descr="/Users/jchambard/Documents/Projects/tutelum-pitch-deck/Am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96696"/>
            <a:ext cx="822960" cy="8229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2648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Nangia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12648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 ·  Co-Founder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144768" y="255117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agent fleet deployments at NETSYNC; Saw the control gap firsthand: agents with access and nothing governing them.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09360" y="3282696"/>
            <a:ext cx="2011680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126480" y="3355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@ Georgia Tech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126480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@ LinkedIn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126480" y="38862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linkedin.com/in/amar-nangia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65760" y="4133088"/>
            <a:ext cx="8412480" cy="914400"/>
          </a:xfrm>
          <a:prstGeom prst="rect">
            <a:avLst/>
          </a:prstGeom>
          <a:solidFill>
            <a:srgbClr val="E8EFF9"/>
          </a:solidFill>
          <a:ln w="9525">
            <a:solidFill>
              <a:srgbClr val="B8C8E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17880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built together for six years: hackathons, UIL competitive programming, a school app used by thousands, and internships at NETSYNC. Tutelum started when we saw firsthand how easy it was to give agents powerful API access with almost no financial safeguards.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Accelerator Round  ·  SAFE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runway  ·  5 enterprise pilot LOIs  ·  EU AI Act compliance launch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97480" cy="1371600"/>
          </a:xfrm>
          <a:prstGeom prst="rect">
            <a:avLst/>
          </a:prstGeom>
          <a:solidFill>
            <a:srgbClr val="EA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269748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SAFE to fund 12 months of engineering, 5 pilot LOIs, and SOC 2 certification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97480" cy="1371600"/>
          </a:xfrm>
          <a:prstGeom prst="rect">
            <a:avLst/>
          </a:prstGeom>
          <a:solidFill>
            <a:srgbClr val="EA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72768"/>
            <a:ext cx="269748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&amp;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enterprise prospects · EU regulatory advisors · dev community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2697480" cy="1371600"/>
          </a:xfrm>
          <a:prstGeom prst="rect">
            <a:avLst/>
          </a:prstGeom>
          <a:solidFill>
            <a:srgbClr val="EAF0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72768"/>
            <a:ext cx="269748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Value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companies as early customers · enterprise sales credibility · co-investor intros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703320"/>
            <a:ext cx="64008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9928" y="3621024"/>
            <a:ext cx="201168" cy="201168"/>
          </a:xfrm>
          <a:prstGeom prst="ellipse">
            <a:avLst/>
          </a:prstGeom>
          <a:solidFill>
            <a:srgbClr val="1E40A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LOIs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13048" y="362102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1752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01752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paying pilots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16168" y="362102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2064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seed raise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 launch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19288" y="3621024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090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DEPLOYS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23760" y="3858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accounts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revenue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352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6268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45%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29968" y="4654296"/>
            <a:ext cx="347472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29968" y="4654296"/>
            <a:ext cx="1563624" cy="914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4626864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hardening · EU AI Act modules · SSO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914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GTM  30%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29968" y="4818888"/>
            <a:ext cx="347472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9968" y="4818888"/>
            <a:ext cx="1042416" cy="91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32704" y="4791456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· developer community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9560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 25%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029968" y="4983480"/>
            <a:ext cx="3474720" cy="91440"/>
          </a:xfrm>
          <a:prstGeom prst="rect">
            <a:avLst/>
          </a:prstGeom>
          <a:solidFill>
            <a:srgbClr val="DDE4F0"/>
          </a:solidFill>
          <a:ln w="12700">
            <a:solidFill>
              <a:srgbClr val="DDE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9968" y="4983480"/>
            <a:ext cx="868680" cy="9144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4956048"/>
            <a:ext cx="2962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· EU AI Act prep · infra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Tutelum Pre-Seed Pitch Deck</dc:title>
  <dc:subject>PptxGenJS Presentation</dc:subject>
  <dc:creator>PptxGenJS</dc:creator>
  <cp:lastModifiedBy>PptxGenJS</cp:lastModifiedBy>
  <cp:revision>1</cp:revision>
  <dcterms:created xsi:type="dcterms:W3CDTF">2026-04-04T06:04:17Z</dcterms:created>
  <dcterms:modified xsi:type="dcterms:W3CDTF">2026-04-04T06:04:17Z</dcterms:modified>
</cp:coreProperties>
</file>