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chambard/Documents/Projects/tutelum-pitch-deck/Tutelu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9144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Control Layer for Enterprise AI Agents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37307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Tutelum lets enterprises deploy AI agents that spend money without losing control.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2026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john@tutelum.ai  ·  tutelum.ai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Spend Real Money. With No Control.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agents gain purchasing power, enterprises have no financial control layer.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931920" cy="192024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45720" cy="192024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80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Spending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 can't see what their agent fleet is spending: when, why, or to whom.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3931920" cy="192024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15568"/>
            <a:ext cx="45720" cy="192024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80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Spending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01768" y="17373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can call any API, drain company funds in a single request: no limits, no rules.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3931920" cy="192024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82112"/>
            <a:ext cx="45720" cy="192024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34670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380390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be manipulated by malicious content in web pages or APIs, redirecting payments without any human knowing.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00600" y="3182112"/>
            <a:ext cx="3931920" cy="192024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182112"/>
            <a:ext cx="45720" cy="192024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34670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Record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01768" y="380390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Compliance have nothing for auditors; no signed record of any agent transaction.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Forces Create an Urgent Window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651760" cy="384048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265176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Explosion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192024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agent creation, H1 2025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$7.92B today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7398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$236B by 2034 at 45.8% CAGR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480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Salesforce Agentic Enterprise Index, Sept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914400"/>
            <a:ext cx="2651760" cy="384048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91440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0789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342900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29000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Pressure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29000" y="2450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EU's binding AI risk law; mandatory compliance for high-risk AI 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2788920"/>
            <a:ext cx="192024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953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 EU AI Act maximum penalty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3520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Deadline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74720" y="401421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months away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4480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 AI Act, Official Journal 2024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914400"/>
            <a:ext cx="2651760" cy="384048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914400"/>
            <a:ext cx="265176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0789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10,780%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355080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Payment Rails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29400" y="2487168"/>
            <a:ext cx="192024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606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surge in one month (May 2025)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3172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launched x402: May 2025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0" y="37398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 payments in one week, Oct 2025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55080" y="4480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Dune Analytics / Coinbase, Oct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Incidents. Real Losses. No Controls.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public incidents. The unreported ones are worse.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51760" cy="356616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08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AGENT  · 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value, irreversible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Lobstar Wilde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237744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012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trading agent misread a sarcastic post and transferred 5% of its token supply (~$250K paper value) to a user requesting $4. The transaction was irreversible.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Reported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98448"/>
            <a:ext cx="2651760" cy="356616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298448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408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AGENT  ·  NOV 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$47K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42900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prompt injection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Freysa AI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74720" y="3127248"/>
            <a:ext cx="237744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31012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Freysa's only rule: never transfer funds. After 481 failed attempts, a user's fake "admin terminal" override drained 13.19 ETH ($47K) from the prize pool.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@jarrodwatts · Nov 2024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1298448"/>
            <a:ext cx="2651760" cy="356616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298448"/>
            <a:ext cx="2651760" cy="45720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408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·  JAN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5508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in AP2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AP2 Flaws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400800" y="3127248"/>
            <a:ext cx="237744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31012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prompts reliably subvert Google's Agent Payments Protocol, manipulating purchases and extracting user data from Gemini agents.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5508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arXiv:2601.22569 · Jan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Layer. Every Stakeholder. Zero Bypass.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938528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863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+ MCP · Zero rewrites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713232"/>
            <a:ext cx="1938528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7863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 / 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1155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· Spend limits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713232"/>
            <a:ext cx="1938528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7863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1155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TEE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713232"/>
            <a:ext cx="1938528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7863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LEGAL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1155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· SOC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1984248"/>
            <a:ext cx="1463040" cy="1600200"/>
          </a:xfrm>
          <a:prstGeom prst="rect">
            <a:avLst/>
          </a:prstGeom>
          <a:solidFill>
            <a:srgbClr val="0A0F1A"/>
          </a:solidFill>
          <a:ln w="15240">
            <a:solidFill>
              <a:srgbClr val="5A6E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1984248"/>
            <a:ext cx="1463040" cy="45720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pay()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84248" y="2656332"/>
            <a:ext cx="182880" cy="256032"/>
          </a:xfrm>
          <a:prstGeom prst="rightArrow">
            <a:avLst/>
          </a:prstGeom>
          <a:solidFill>
            <a:srgbClr val="4B8EF8"/>
          </a:solidFill>
          <a:ln w="6350">
            <a:solidFill>
              <a:srgbClr val="4B8E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76272" y="1984248"/>
            <a:ext cx="1463040" cy="1600200"/>
          </a:xfrm>
          <a:prstGeom prst="rect">
            <a:avLst/>
          </a:prstGeom>
          <a:solidFill>
            <a:srgbClr val="162040"/>
          </a:solidFill>
          <a:ln w="15240">
            <a:solidFill>
              <a:srgbClr val="2D5B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6272" y="1984248"/>
            <a:ext cx="1463040" cy="45720"/>
          </a:xfrm>
          <a:prstGeom prst="rect">
            <a:avLst/>
          </a:prstGeom>
          <a:solidFill>
            <a:srgbClr val="2D5BB8"/>
          </a:solidFill>
          <a:ln w="12700">
            <a:solidFill>
              <a:srgbClr val="2D5B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9424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49424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48456" y="2656332"/>
            <a:ext cx="182880" cy="256032"/>
          </a:xfrm>
          <a:prstGeom prst="rightArrow">
            <a:avLst/>
          </a:prstGeom>
          <a:solidFill>
            <a:srgbClr val="4B8EF8"/>
          </a:solidFill>
          <a:ln w="6350">
            <a:solidFill>
              <a:srgbClr val="4B8E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1984248"/>
            <a:ext cx="1463040" cy="1600200"/>
          </a:xfrm>
          <a:prstGeom prst="rect">
            <a:avLst/>
          </a:prstGeom>
          <a:solidFill>
            <a:srgbClr val="14102A"/>
          </a:solidFill>
          <a:ln w="15240">
            <a:solidFill>
              <a:srgbClr val="6B7F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1984248"/>
            <a:ext cx="1463040" cy="45720"/>
          </a:xfrm>
          <a:prstGeom prst="rect">
            <a:avLst/>
          </a:prstGeom>
          <a:solidFill>
            <a:srgbClr val="6B7FCC"/>
          </a:solidFill>
          <a:ln w="12700">
            <a:solidFill>
              <a:srgbClr val="6B7F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Layer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13632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limits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crypto-verified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12664" y="2656332"/>
            <a:ext cx="182880" cy="256032"/>
          </a:xfrm>
          <a:prstGeom prst="rightArrow">
            <a:avLst/>
          </a:prstGeom>
          <a:solidFill>
            <a:srgbClr val="4B8EF8"/>
          </a:solidFill>
          <a:ln w="6350">
            <a:solidFill>
              <a:srgbClr val="4B8E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1984248"/>
            <a:ext cx="1463040" cy="1600200"/>
          </a:xfrm>
          <a:prstGeom prst="rect">
            <a:avLst/>
          </a:prstGeom>
          <a:solidFill>
            <a:srgbClr val="162040"/>
          </a:solidFill>
          <a:ln w="15240">
            <a:solidFill>
              <a:srgbClr val="2D5B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04688" y="1984248"/>
            <a:ext cx="1463040" cy="45720"/>
          </a:xfrm>
          <a:prstGeom prst="rect">
            <a:avLst/>
          </a:prstGeom>
          <a:solidFill>
            <a:srgbClr val="2D5BB8"/>
          </a:solidFill>
          <a:ln w="12700">
            <a:solidFill>
              <a:srgbClr val="2D5B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Router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77840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· USDC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ACH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76872" y="2656332"/>
            <a:ext cx="182880" cy="256032"/>
          </a:xfrm>
          <a:prstGeom prst="rightArrow">
            <a:avLst/>
          </a:prstGeom>
          <a:solidFill>
            <a:srgbClr val="4B8EF8"/>
          </a:solidFill>
          <a:ln w="6350">
            <a:solidFill>
              <a:srgbClr val="4B8E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1984248"/>
            <a:ext cx="1463040" cy="1600200"/>
          </a:xfrm>
          <a:prstGeom prst="rect">
            <a:avLst/>
          </a:prstGeom>
          <a:solidFill>
            <a:srgbClr val="0A1A10"/>
          </a:solidFill>
          <a:ln w="15240">
            <a:solidFill>
              <a:srgbClr val="1A3A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68896" y="1984248"/>
            <a:ext cx="1463040" cy="45720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+ Logged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42048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receipt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0A0F1A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9319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CISO: Can an agent spend outside policy if Tutelum's servers are breached?  </a:t>
            </a:r>
            <a:pPr indent="0" marL="0">
              <a:buNone/>
            </a:pPr>
            <a:r>
              <a:rPr lang="en-US" sz="18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pPr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Spend limits are enforced in hardware by Turnkey's secure enclave; cryptographically verifiable, independent of our application layer.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8E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IN ACTION - UI MOCKUP</a:t>
            </a:r>
            <a:endParaRPr lang="en-US" sz="900" dirty="0"/>
          </a:p>
        </p:txBody>
      </p:sp>
      <p:pic>
        <p:nvPicPr>
          <p:cNvPr id="4" name="Image 0" descr="/Users/jchambard/Documents/Projects/tutelum-pitch-deck/UI_Mockup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475488"/>
            <a:ext cx="5541264" cy="4361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$236B Market With No Governance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2606040" cy="2103120"/>
          </a:xfrm>
          <a:prstGeom prst="rect">
            <a:avLst/>
          </a:prstGeom>
          <a:solidFill>
            <a:srgbClr val="162040"/>
          </a:solidFill>
          <a:ln w="9525">
            <a:solidFill>
              <a:srgbClr val="2D5B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77824"/>
            <a:ext cx="260604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241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$236B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Agents market by 2034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45.82% CAGR · Precedence Research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877824"/>
            <a:ext cx="2606040" cy="210312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877824"/>
            <a:ext cx="2606040" cy="45720"/>
          </a:xfrm>
          <a:prstGeom prst="rect">
            <a:avLst/>
          </a:prstGeom>
          <a:solidFill>
            <a:srgbClr val="2D5BB8"/>
          </a:solidFill>
          <a:ln w="12700">
            <a:solidFill>
              <a:srgbClr val="2D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0241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3533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$18B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383280" y="20299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agentic AI with financial capability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enterprises × 200 agents × $20K/yr = ~$17.6B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877824"/>
            <a:ext cx="2606040" cy="210312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877824"/>
            <a:ext cx="2606040" cy="45720"/>
          </a:xfrm>
          <a:prstGeom prst="rect">
            <a:avLst/>
          </a:prstGeom>
          <a:solidFill>
            <a:srgbClr val="2D5BB8"/>
          </a:solidFill>
          <a:ln w="12700">
            <a:solidFill>
              <a:srgbClr val="2D5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241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13533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$850M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217920" y="20299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via dev-led enterprise sales (3 yrs)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 SAM · 5 accts Y1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8412480" cy="1005840"/>
          </a:xfrm>
          <a:prstGeom prst="rect">
            <a:avLst/>
          </a:prstGeom>
          <a:solidFill>
            <a:srgbClr val="0D1628"/>
          </a:solidFill>
          <a:ln w="9525">
            <a:solidFill>
              <a:srgbClr val="2D5B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90672"/>
            <a:ext cx="45720" cy="100584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455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Validation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34930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~400K AI agents with purchasing power today · avg 200 agents/fleet · governance $20K–$80K/yr per fleet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SAM: $6B–$20B · 5 enterprise pilot accounts in Year 1 at avg $40K ACV = ~$200K ARR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187952"/>
            <a:ext cx="1984248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2245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" y="4626864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power today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4974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Coinbase / x402, Q1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24328" y="4187952"/>
            <a:ext cx="1984248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42245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140M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697480" y="4626864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payments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 (2025)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97480" y="4974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Dune Analytics / x402, 2025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91456" y="4187952"/>
            <a:ext cx="1984248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42245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864608" y="4626864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using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≥1 function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64608" y="4974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McKinsey, 2025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58584" y="4187952"/>
            <a:ext cx="1984248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31736" y="42245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31736" y="4626864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max penalty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 enforce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31736" y="4974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 Official Journal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82880" y="109728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Alternative Enables Spending. None Enforce Governance.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49424" y="621792"/>
            <a:ext cx="1121664" cy="3931920"/>
          </a:xfrm>
          <a:prstGeom prst="rect">
            <a:avLst/>
          </a:prstGeom>
          <a:solidFill>
            <a:srgbClr val="0E2244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621792"/>
            <a:ext cx="1121664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21792"/>
            <a:ext cx="2084832" cy="530352"/>
          </a:xfrm>
          <a:prstGeom prst="rect">
            <a:avLst/>
          </a:prstGeom>
          <a:solidFill>
            <a:srgbClr val="0A0F1A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9424" y="621792"/>
            <a:ext cx="1121664" cy="530352"/>
          </a:xfrm>
          <a:prstGeom prst="rect">
            <a:avLst/>
          </a:prstGeom>
          <a:solidFill>
            <a:srgbClr val="0E2244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Tutelum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71088" y="621792"/>
            <a:ext cx="1121664" cy="530352"/>
          </a:xfrm>
          <a:prstGeom prst="rect">
            <a:avLst/>
          </a:prstGeom>
          <a:solidFill>
            <a:srgbClr val="0A0F1A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7664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Skyfire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92752" y="621792"/>
            <a:ext cx="1121664" cy="530352"/>
          </a:xfrm>
          <a:prstGeom prst="rect">
            <a:avLst/>
          </a:prstGeom>
          <a:solidFill>
            <a:srgbClr val="0A0F1A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9328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Payman 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14416" y="621792"/>
            <a:ext cx="1121664" cy="530352"/>
          </a:xfrm>
          <a:prstGeom prst="rect">
            <a:avLst/>
          </a:prstGeom>
          <a:solidFill>
            <a:srgbClr val="0A0F1A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AnChain.AI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36080" y="621792"/>
            <a:ext cx="1121664" cy="530352"/>
          </a:xfrm>
          <a:prstGeom prst="rect">
            <a:avLst/>
          </a:prstGeom>
          <a:solidFill>
            <a:srgbClr val="0A0F1A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2656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Agent Pay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57744" y="621792"/>
            <a:ext cx="1121664" cy="530352"/>
          </a:xfrm>
          <a:prstGeom prst="rect">
            <a:avLst/>
          </a:prstGeom>
          <a:solidFill>
            <a:srgbClr val="0A0F1A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/ Brex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" y="1152144"/>
            <a:ext cx="2084832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11521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/ Hardware-Attested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49424" y="1152144"/>
            <a:ext cx="1121664" cy="566928"/>
          </a:xfrm>
          <a:prstGeom prst="rect">
            <a:avLst/>
          </a:prstGeom>
          <a:solidFill>
            <a:srgbClr val="0E2244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371088" y="1152144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7664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92752" y="1152144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9328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14416" y="1152144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36080" y="1152144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2656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57744" y="1152144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94320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64592" y="1719072"/>
            <a:ext cx="2084832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17190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Payment Layer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249424" y="1719072"/>
            <a:ext cx="1121664" cy="566928"/>
          </a:xfrm>
          <a:prstGeom prst="rect">
            <a:avLst/>
          </a:prstGeom>
          <a:solidFill>
            <a:srgbClr val="0E2244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3371088" y="1719072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7664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92752" y="1719072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9328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14416" y="1719072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36080" y="1719072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72656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857744" y="1719072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94320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64592" y="2286000"/>
            <a:ext cx="2084832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2286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Conditional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249424" y="2286000"/>
            <a:ext cx="1121664" cy="566928"/>
          </a:xfrm>
          <a:prstGeom prst="rect">
            <a:avLst/>
          </a:prstGeom>
          <a:solidFill>
            <a:srgbClr val="0E2244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0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3371088" y="2286000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7664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492752" y="2286000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9328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14416" y="2286000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50992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736080" y="2286000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72656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857744" y="2286000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4320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64592" y="2852928"/>
            <a:ext cx="2084832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2608" y="28529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+ Traditional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249424" y="2852928"/>
            <a:ext cx="1121664" cy="566928"/>
          </a:xfrm>
          <a:prstGeom prst="rect">
            <a:avLst/>
          </a:prstGeom>
          <a:solidFill>
            <a:srgbClr val="0E2244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0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3371088" y="2852928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07664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92752" y="2852928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29328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614416" y="2852928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50992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736080" y="2852928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72656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857744" y="2852928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94320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64592" y="3419856"/>
            <a:ext cx="2084832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2608" y="34198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2249424" y="3419856"/>
            <a:ext cx="1121664" cy="566928"/>
          </a:xfrm>
          <a:prstGeom prst="rect">
            <a:avLst/>
          </a:prstGeom>
          <a:solidFill>
            <a:srgbClr val="0E2244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86000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79" name="Shape 77"/>
          <p:cNvSpPr/>
          <p:nvPr/>
        </p:nvSpPr>
        <p:spPr>
          <a:xfrm>
            <a:off x="3371088" y="3419856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07664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492752" y="3419856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29328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5614416" y="3419856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50992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736080" y="3419856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72656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7857744" y="3419856"/>
            <a:ext cx="1121664" cy="566928"/>
          </a:xfrm>
          <a:prstGeom prst="rect">
            <a:avLst/>
          </a:prstGeom>
          <a:solidFill>
            <a:srgbClr val="1A2235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94320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64592" y="3986784"/>
            <a:ext cx="2084832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92608" y="39867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2249424" y="3986784"/>
            <a:ext cx="1121664" cy="566928"/>
          </a:xfrm>
          <a:prstGeom prst="rect">
            <a:avLst/>
          </a:prstGeom>
          <a:solidFill>
            <a:srgbClr val="0E2244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86000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93" name="Shape 91"/>
          <p:cNvSpPr/>
          <p:nvPr/>
        </p:nvSpPr>
        <p:spPr>
          <a:xfrm>
            <a:off x="3371088" y="3986784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07664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4492752" y="3986784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29328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5614416" y="3986784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50992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6736080" y="3986784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772656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7857744" y="3986784"/>
            <a:ext cx="1121664" cy="566928"/>
          </a:xfrm>
          <a:prstGeom prst="rect">
            <a:avLst/>
          </a:prstGeom>
          <a:solidFill>
            <a:srgbClr val="141C2E"/>
          </a:solidFill>
          <a:ln w="9525">
            <a:solidFill>
              <a:srgbClr val="1A284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94320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182880" y="473659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support  ·  ⚠️ Partial / in development  ·  ❌ Not supported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Before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≠ pre-progress. The product is live and integrated with the top agent frameworks.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965960" cy="3401568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196596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179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Shipped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141732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45536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·  AutoGen  ·  MCP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for popular agent frameworks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1353312"/>
            <a:ext cx="1965960" cy="3401568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353312"/>
            <a:ext cx="19659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5179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Rate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88920" y="2999232"/>
            <a:ext cx="141732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145536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policy bypasses recorded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testing to date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353312"/>
            <a:ext cx="1965960" cy="3401568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53312"/>
            <a:ext cx="196596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5179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Live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75488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month)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2999232"/>
            <a:ext cx="141732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145536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3-person team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execution speed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12280" y="1353312"/>
            <a:ext cx="1965960" cy="3401568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353312"/>
            <a:ext cx="19659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5179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90372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Leads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086600" y="2999232"/>
            <a:ext cx="141732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145536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conversations with CISOs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VP Engs in fintech and logistics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0A1A10"/>
          </a:solidFill>
          <a:ln w="9525">
            <a:solidFill>
              <a:srgbClr val="1A3A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5 signed LOIs before seed round  ·  EU AI Act enforcement window: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SaaS + Platform Fees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697480" cy="292608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2697480" cy="45720"/>
          </a:xfrm>
          <a:prstGeom prst="rect">
            <a:avLst/>
          </a:prstGeom>
          <a:solidFill>
            <a:srgbClr val="2D5BB8"/>
          </a:solidFill>
          <a:ln w="12700">
            <a:solidFill>
              <a:srgbClr val="2D5B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→  $199/mo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792224"/>
            <a:ext cx="2423160" cy="18288"/>
          </a:xfrm>
          <a:prstGeom prst="rect">
            <a:avLst/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39112"/>
            <a:ext cx="91440" cy="91440"/>
          </a:xfrm>
          <a:prstGeom prst="ellipse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3852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agents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" y="2487168"/>
            <a:ext cx="91440" cy="91440"/>
          </a:xfrm>
          <a:prstGeom prst="ellipse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865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tx/mo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" y="2935224"/>
            <a:ext cx="91440" cy="91440"/>
          </a:xfrm>
          <a:prstGeom prst="ellipse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policy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" y="3383280"/>
            <a:ext cx="91440" cy="91440"/>
          </a:xfrm>
          <a:prstGeom prst="ellipse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8269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audit log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46120" y="841248"/>
            <a:ext cx="2697480" cy="2926080"/>
          </a:xfrm>
          <a:prstGeom prst="rect">
            <a:avLst/>
          </a:prstGeom>
          <a:solidFill>
            <a:srgbClr val="162040"/>
          </a:solidFill>
          <a:ln w="9525">
            <a:solidFill>
              <a:srgbClr val="2D5B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841248"/>
            <a:ext cx="269748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978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8328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$999/mo + 0.008% per tx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83280" y="1792224"/>
            <a:ext cx="2423160" cy="18288"/>
          </a:xfrm>
          <a:prstGeom prst="rect">
            <a:avLst/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0712" y="2039112"/>
            <a:ext cx="91440" cy="91440"/>
          </a:xfrm>
          <a:prstGeom prst="ellipse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93852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agents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10712" y="2487168"/>
            <a:ext cx="91440" cy="91440"/>
          </a:xfrm>
          <a:prstGeom prst="ellipse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3865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policy + anomaly detection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10712" y="2935224"/>
            <a:ext cx="91440" cy="91440"/>
          </a:xfrm>
          <a:prstGeom prst="ellipse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83464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10712" y="3383280"/>
            <a:ext cx="91440" cy="91440"/>
          </a:xfrm>
          <a:prstGeom prst="ellipse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28269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audit log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6480" y="841248"/>
            <a:ext cx="2697480" cy="292608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841248"/>
            <a:ext cx="2697480" cy="45720"/>
          </a:xfrm>
          <a:prstGeom prst="rect">
            <a:avLst/>
          </a:prstGeom>
          <a:solidFill>
            <a:srgbClr val="2D5BB8"/>
          </a:solidFill>
          <a:ln w="12700">
            <a:solidFill>
              <a:srgbClr val="2D5B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978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6364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63640" y="1792224"/>
            <a:ext cx="2423160" cy="18288"/>
          </a:xfrm>
          <a:prstGeom prst="rect">
            <a:avLst/>
          </a:prstGeom>
          <a:solidFill>
            <a:srgbClr val="1E2A40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2039112"/>
            <a:ext cx="91440" cy="91440"/>
          </a:xfrm>
          <a:prstGeom prst="ellipse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93852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TEE hardware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91072" y="2487168"/>
            <a:ext cx="91440" cy="91440"/>
          </a:xfrm>
          <a:prstGeom prst="ellipse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23865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EU AI Act packages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91072" y="2935224"/>
            <a:ext cx="91440" cy="91440"/>
          </a:xfrm>
          <a:prstGeom prst="ellipse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283464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(Okta, Azure AD)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1072" y="3383280"/>
            <a:ext cx="91440" cy="91440"/>
          </a:xfrm>
          <a:prstGeom prst="ellipse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328269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5760" y="3767328"/>
            <a:ext cx="8412480" cy="1335024"/>
          </a:xfrm>
          <a:prstGeom prst="rect">
            <a:avLst/>
          </a:prstGeom>
          <a:solidFill>
            <a:srgbClr val="0D1628"/>
          </a:solidFill>
          <a:ln w="9525">
            <a:solidFill>
              <a:srgbClr val="2D5B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767328"/>
            <a:ext cx="45720" cy="1335024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83133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94360" y="41879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$999/mo = $12K ACV  ·  Enterprise ~$40K–$80K ACV  ·  Model: 5 enterprise accounts Y1 × $40K avg = ~$200K ARR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94360" y="4572000"/>
            <a:ext cx="795528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645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expansion: a $12K/yr Growth account becomes $30K/yr as the agent fleet grows 2–3× YoY. Zero new sales motion.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Three-Motion GTM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Dev-led adoption lands the account. Compliance pressure closes the enterprise deal. Usage expansion drives NRR.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315468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9748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0208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SDK-Led (Bottom-Up)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551176"/>
            <a:ext cx="242316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42616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developer reach via LangChain, AutoGen, and MCP communities: 200K+ active users. Free tier drives adoption into team stacks, zero cold sales needed.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97480" cy="315468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9748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90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20208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Pull (Top-Down)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429000" y="2551176"/>
            <a:ext cx="242316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642616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 (Aug 2026) is a mandatory procurement trigger. CISOs are already asking about agent financial controls; Tutelum is the answer.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2697480" cy="315468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32588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490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55080" y="20208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Expansion (Built-In NRR)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55080" y="2551176"/>
            <a:ext cx="242316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642616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scales automatically with agent fleet size. Every new agent an existing customer deploys generates incremental per-transaction revenue.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4553712"/>
            <a:ext cx="8412480" cy="493776"/>
          </a:xfrm>
          <a:prstGeom prst="rect">
            <a:avLst/>
          </a:prstGeom>
          <a:solidFill>
            <a:srgbClr val="0A0F1A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5371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 </a:t>
            </a:r>
            <a:pPr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SDK-led (Now)  →  </a:t>
            </a:r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pull (Q3 2026, EU AI Act enforcement)  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expansion (YR2+)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Engineers Who've Lived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560320" cy="320040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256032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pic>
        <p:nvPicPr>
          <p:cNvPr id="6" name="Image 0" descr="/Users/jchambard/Documents/Projects/tutelum-pitch-deck/Joh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996696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Chambard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 ·  Co-Founder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2551176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infrastructure and enterprise compliance tooling at NETSYNC; Saw how emerging regulations around agents creates a need for AI auditing.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82696"/>
            <a:ext cx="201168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55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Sci @ Purdue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611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@ Phillips66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886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linkedin.com/in/john-chambard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868680"/>
            <a:ext cx="2560320" cy="320040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868680"/>
            <a:ext cx="256032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69080" y="996696"/>
            <a:ext cx="822960" cy="822960"/>
          </a:xfrm>
          <a:prstGeom prst="ellipse">
            <a:avLst/>
          </a:prstGeom>
          <a:solidFill>
            <a:srgbClr val="0D3D3A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69080" y="9966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29184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Harsha Potta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29184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 ·  Co-Founder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10128" y="2551176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developer tooling at NETSYNC for platform tools; Knows exactly where governance gaps open up when developers get API access.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474720" y="3282696"/>
            <a:ext cx="201168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3355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Sci @ UT Austin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291840" y="3611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@ HPE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291840" y="3886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linkedin.com/in/sri-harsha-potta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35040" y="868680"/>
            <a:ext cx="2560320" cy="3200400"/>
          </a:xfrm>
          <a:prstGeom prst="rect">
            <a:avLst/>
          </a:prstGeom>
          <a:solidFill>
            <a:srgbClr val="1A2235"/>
          </a:solidFill>
          <a:ln w="9525">
            <a:solidFill>
              <a:srgbClr val="232E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868680"/>
            <a:ext cx="256032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pic>
        <p:nvPicPr>
          <p:cNvPr id="27" name="Image 1" descr="/Users/jchambard/Documents/Projects/tutelum-pitch-deck/Am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996696"/>
            <a:ext cx="822960" cy="8229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12648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 Nangia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612648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 ·  Co-Founder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144768" y="2551176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agent fleet deployments at NETSYNC; Saw the control gap firsthand: agents with access and nothing governing them.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309360" y="3282696"/>
            <a:ext cx="2011680" cy="18288"/>
          </a:xfrm>
          <a:prstGeom prst="rect">
            <a:avLst/>
          </a:prstGeom>
          <a:solidFill>
            <a:srgbClr val="5A6E8A"/>
          </a:solidFill>
          <a:ln w="12700">
            <a:solidFill>
              <a:srgbClr val="5A6E8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126480" y="3355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Sci @ Georgia Tech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126480" y="3611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@ LinkedIn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126480" y="3886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linkedin.com/in/amar-nangia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65760" y="4133088"/>
            <a:ext cx="8412480" cy="914400"/>
          </a:xfrm>
          <a:prstGeom prst="rect">
            <a:avLst/>
          </a:prstGeom>
          <a:solidFill>
            <a:srgbClr val="0A0F1A"/>
          </a:solidFill>
          <a:ln w="9525">
            <a:solidFill>
              <a:srgbClr val="1E305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417880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built together for six years: hackathons, UIL competitive programming, a school app used by thousands, and internships at NETSYNC. Tutelum started when we saw firsthand how easy it was to give agents powerful API access with almost no financial safeguards.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Accelerator Round  ·  SAFE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runway  ·  5 enterprise pilot LOIs  ·  EU AI Act compliance launch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697480" cy="1371600"/>
          </a:xfrm>
          <a:prstGeom prst="rect">
            <a:avLst/>
          </a:prstGeom>
          <a:solidFill>
            <a:srgbClr val="0D1628"/>
          </a:solidFill>
          <a:ln w="9525">
            <a:solidFill>
              <a:srgbClr val="2D5B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72768"/>
            <a:ext cx="2697480" cy="4572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07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SAFE to fund 12 months of engineering, 5 pilot LOIs, and SOC 2 certification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97480" cy="1371600"/>
          </a:xfrm>
          <a:prstGeom prst="rect">
            <a:avLst/>
          </a:prstGeom>
          <a:solidFill>
            <a:srgbClr val="0D1628"/>
          </a:solidFill>
          <a:ln w="9525">
            <a:solidFill>
              <a:srgbClr val="2D5B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72768"/>
            <a:ext cx="269748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007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&amp; Network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to enterprise prospects · EU regulatory advisors · dev community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572768"/>
            <a:ext cx="2697480" cy="1371600"/>
          </a:xfrm>
          <a:prstGeom prst="rect">
            <a:avLst/>
          </a:prstGeom>
          <a:solidFill>
            <a:srgbClr val="0D1628"/>
          </a:solidFill>
          <a:ln w="9525">
            <a:solidFill>
              <a:srgbClr val="2D5B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72768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7007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Value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companies as early customers · enterprise sales credibility · co-investor intros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3703320"/>
            <a:ext cx="6400800" cy="36576"/>
          </a:xfrm>
          <a:prstGeom prst="rect">
            <a:avLst/>
          </a:prstGeom>
          <a:solidFill>
            <a:srgbClr val="2D5BB8"/>
          </a:solidFill>
          <a:ln w="12700">
            <a:solidFill>
              <a:srgbClr val="2D5B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9928" y="3621024"/>
            <a:ext cx="201168" cy="201168"/>
          </a:xfrm>
          <a:prstGeom prst="ellipse">
            <a:avLst/>
          </a:prstGeom>
          <a:solidFill>
            <a:srgbClr val="4B8EF8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RAISE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LOIs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13048" y="3621024"/>
            <a:ext cx="201168" cy="20116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017520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paying pilots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16168" y="3621024"/>
            <a:ext cx="201168" cy="20116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20640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seed raise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market launch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19288" y="3621024"/>
            <a:ext cx="201168" cy="20116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4B8E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DEPLOYS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23760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accounts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per-tx revenue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352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A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" y="462686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8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45%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29968" y="4654296"/>
            <a:ext cx="3474720" cy="91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29968" y="4654296"/>
            <a:ext cx="1563624" cy="91440"/>
          </a:xfrm>
          <a:prstGeom prst="rect">
            <a:avLst/>
          </a:prstGeom>
          <a:solidFill>
            <a:srgbClr val="4B8EF8"/>
          </a:solidFill>
          <a:ln w="12700">
            <a:solidFill>
              <a:srgbClr val="4B8E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462686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hardening · EU AI Act modules · SSO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914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GTM  30%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029968" y="4818888"/>
            <a:ext cx="3474720" cy="91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9968" y="4818888"/>
            <a:ext cx="1042416" cy="91440"/>
          </a:xfrm>
          <a:prstGeom prst="rect">
            <a:avLst/>
          </a:prstGeom>
          <a:solidFill>
            <a:srgbClr val="7CB4F8"/>
          </a:solidFill>
          <a:ln w="12700">
            <a:solidFill>
              <a:srgbClr val="7CB4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32704" y="479145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· developer community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9560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 25%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029968" y="4983480"/>
            <a:ext cx="3474720" cy="91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29968" y="4983480"/>
            <a:ext cx="868680" cy="91440"/>
          </a:xfrm>
          <a:prstGeom prst="rect">
            <a:avLst/>
          </a:prstGeom>
          <a:solidFill>
            <a:srgbClr val="4A7ACC"/>
          </a:solidFill>
          <a:ln w="12700">
            <a:solidFill>
              <a:srgbClr val="4A7A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32704" y="495604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· EU AI Act prep · infra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Tutelum Pre-Seed Pitch Deck</dc:title>
  <dc:subject>PptxGenJS Presentation</dc:subject>
  <dc:creator>PptxGenJS</dc:creator>
  <cp:lastModifiedBy>PptxGenJS</cp:lastModifiedBy>
  <cp:revision>1</cp:revision>
  <dcterms:created xsi:type="dcterms:W3CDTF">2026-04-04T07:00:57Z</dcterms:created>
  <dcterms:modified xsi:type="dcterms:W3CDTF">2026-04-04T07:00:57Z</dcterms:modified>
</cp:coreProperties>
</file>