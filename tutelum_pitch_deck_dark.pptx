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chambard/Documents/Projects/tutelum-pitch-deck/Tutelu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91440"/>
            <a:ext cx="4114800" cy="4114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Financial Control Layer for Enterprise AI Agents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457200" y="37307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Tutelum lets enterprises deploy AI agents that spend money without losing control.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42062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 ·  2026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217920" y="4846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john@tutelum.ai  ·  tutelum.ai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4864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Spend Real Money. With No Control.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AI agents gain purchasing power, enterprises have no financial control layer.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3931920" cy="1920240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15568"/>
            <a:ext cx="45720" cy="1920240"/>
          </a:xfrm>
          <a:prstGeom prst="rect">
            <a:avLst/>
          </a:prstGeom>
          <a:solidFill>
            <a:srgbClr val="4B8EF8"/>
          </a:solidFill>
          <a:ln w="12700">
            <a:solidFill>
              <a:srgbClr val="4B8E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2801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Spending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66928" y="173736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 Engineering can't see what their agent fleet is spending: when, why, or to whom.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800600" y="1115568"/>
            <a:ext cx="3931920" cy="1920240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115568"/>
            <a:ext cx="45720" cy="1920240"/>
          </a:xfrm>
          <a:prstGeom prst="rect">
            <a:avLst/>
          </a:prstGeom>
          <a:solidFill>
            <a:srgbClr val="4B8EF8"/>
          </a:solidFill>
          <a:ln w="12700">
            <a:solidFill>
              <a:srgbClr val="4B8E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01768" y="12801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Uncontrolled Spending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001768" y="173736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agent can call any API, drain company funds in a single request: no limits, no rules.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3182112"/>
            <a:ext cx="3931920" cy="1920240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3182112"/>
            <a:ext cx="45720" cy="1920240"/>
          </a:xfrm>
          <a:prstGeom prst="rect">
            <a:avLst/>
          </a:prstGeom>
          <a:solidFill>
            <a:srgbClr val="4B8EF8"/>
          </a:solidFill>
          <a:ln w="12700">
            <a:solidFill>
              <a:srgbClr val="4B8E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346704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Risk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66928" y="3803904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can be manipulated by malicious content in web pages or APIs, redirecting payments without any human knowing.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800600" y="3182112"/>
            <a:ext cx="3931920" cy="1920240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0600" y="3182112"/>
            <a:ext cx="45720" cy="1920240"/>
          </a:xfrm>
          <a:prstGeom prst="rect">
            <a:avLst/>
          </a:prstGeom>
          <a:solidFill>
            <a:srgbClr val="4B8EF8"/>
          </a:solidFill>
          <a:ln w="12700">
            <a:solidFill>
              <a:srgbClr val="4B8E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01768" y="3346704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Cryptographic Record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001768" y="3803904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and Compliance have nothing for auditors; no signed record of any agent transaction.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4864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Converging Forces Create an Urgent Window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11480" y="914400"/>
            <a:ext cx="2651760" cy="3840480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914400"/>
            <a:ext cx="2651760" cy="45720"/>
          </a:xfrm>
          <a:prstGeom prst="rect">
            <a:avLst/>
          </a:prstGeom>
          <a:solidFill>
            <a:srgbClr val="4B8EF8"/>
          </a:solidFill>
          <a:ln w="12700">
            <a:solidFill>
              <a:srgbClr val="4B8E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789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119%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02920" y="20482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Explosion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77240" y="2487168"/>
            <a:ext cx="1920240" cy="18288"/>
          </a:xfrm>
          <a:prstGeom prst="rect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60604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in agent creation, H1 2025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17296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Market: $7.92B today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373989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$236B by 2034 at 45.8% CAGR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2920" y="44805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Salesforce Agentic Enterprise Index, Sept 2025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37560" y="914400"/>
            <a:ext cx="2651760" cy="3840480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37560" y="914400"/>
            <a:ext cx="26517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29000" y="10789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€35M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3429000" y="166420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$40M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429000" y="20482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Pressure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429000" y="24505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EU's binding AI risk law; mandatory compliance for high-risk AI systems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703320" y="2788920"/>
            <a:ext cx="1920240" cy="18288"/>
          </a:xfrm>
          <a:prstGeom prst="rect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0" y="295351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€35M EU AI Act maximum penalty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474720" y="352044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 Deadline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474720" y="401421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4 months away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429000" y="44805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EU AI Act, Official Journal 2024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3640" y="914400"/>
            <a:ext cx="2651760" cy="3840480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63640" y="914400"/>
            <a:ext cx="2651760" cy="45720"/>
          </a:xfrm>
          <a:prstGeom prst="rect">
            <a:avLst/>
          </a:prstGeom>
          <a:solidFill>
            <a:srgbClr val="4B8EF8"/>
          </a:solidFill>
          <a:ln w="12700">
            <a:solidFill>
              <a:srgbClr val="4B8E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55080" y="107899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10,780%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6355080" y="20482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Payment Rails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6629400" y="2487168"/>
            <a:ext cx="1920240" cy="18288"/>
          </a:xfrm>
          <a:prstGeom prst="rect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0" y="260604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x402 surge in one month (May 2025)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400800" y="317296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Coinbase launched x402: May 2025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400800" y="373989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~500K payments in one week, Oct 2025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355080" y="44805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Dune Analytics / Coinbase, Oct 2025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4864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Incidents. Real Losses. No Controls.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public incidents. The unreported ones are worse.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11480" y="1298448"/>
            <a:ext cx="2651760" cy="3566160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98448"/>
            <a:ext cx="265176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408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AGENT  · 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164592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$250K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502920" y="23408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value, irreversible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Lobstar Wilde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127248"/>
            <a:ext cx="2377440" cy="18288"/>
          </a:xfrm>
          <a:prstGeom prst="rect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310128"/>
            <a:ext cx="2377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trading agent misread a sarcastic post and transferred 5% of its token supply (~$250K paper value) to a user requesting $4. The transaction was irreversible.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4626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Reported 2026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337560" y="1298448"/>
            <a:ext cx="2651760" cy="3566160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37560" y="1298448"/>
            <a:ext cx="26517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1408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AGENT  ·  NOV 2024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29000" y="164592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$47K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3429000" y="23408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prompt injection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74720" y="2651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Freysa AI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474720" y="3127248"/>
            <a:ext cx="2377440" cy="18288"/>
          </a:xfrm>
          <a:prstGeom prst="rect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0" y="3310128"/>
            <a:ext cx="2377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Freysa's only rule: never transfer funds. After 481 failed attempts, a user's fake "admin terminal" override drained 13.19 ETH ($47K) from the prize pool.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429000" y="4626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@jarrodwatts · Nov 2024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263640" y="1298448"/>
            <a:ext cx="2651760" cy="3566160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3640" y="1298448"/>
            <a:ext cx="2651760" cy="45720"/>
          </a:xfrm>
          <a:prstGeom prst="rect">
            <a:avLst/>
          </a:prstGeom>
          <a:solidFill>
            <a:srgbClr val="6B7FCC"/>
          </a:solidFill>
          <a:ln w="12700">
            <a:solidFill>
              <a:srgbClr val="6B7F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0" y="14081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7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 ·  JAN 2025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55080" y="164592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7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6355080" y="23408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weaknesses in AP2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0" y="2651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AP2 Flaws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400800" y="3127248"/>
            <a:ext cx="2377440" cy="18288"/>
          </a:xfrm>
          <a:prstGeom prst="rect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0" y="3310128"/>
            <a:ext cx="2377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prompts reliably subvert Google's Agent Payments Protocol, manipulating purchases and extracting user data from Gemini agents.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355080" y="4626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arXiv:2601.22569 · Jan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4864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Layer. Every Stakeholder. Zero Bypass.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713232"/>
            <a:ext cx="1938528" cy="914400"/>
          </a:xfrm>
          <a:prstGeom prst="rect">
            <a:avLst/>
          </a:prstGeom>
          <a:solidFill>
            <a:srgbClr val="0A0F1A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86384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115568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+ MCP · Zero rewrites required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68880" y="713232"/>
            <a:ext cx="1938528" cy="914400"/>
          </a:xfrm>
          <a:prstGeom prst="rect">
            <a:avLst/>
          </a:prstGeom>
          <a:solidFill>
            <a:srgbClr val="0A0F1A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786384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 ENG / CTO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560320" y="1115568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· Spend limits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713232"/>
            <a:ext cx="1938528" cy="914400"/>
          </a:xfrm>
          <a:prstGeom prst="rect">
            <a:avLst/>
          </a:prstGeom>
          <a:solidFill>
            <a:srgbClr val="0A0F1A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786384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63440" y="1115568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· TEE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75120" y="713232"/>
            <a:ext cx="1938528" cy="914400"/>
          </a:xfrm>
          <a:prstGeom prst="rect">
            <a:avLst/>
          </a:prstGeom>
          <a:solidFill>
            <a:srgbClr val="0A0F1A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0" y="786384"/>
            <a:ext cx="1755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/ LEGAL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766560" y="1115568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Log · SOC 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12064" y="1984248"/>
            <a:ext cx="1463040" cy="1600200"/>
          </a:xfrm>
          <a:prstGeom prst="rect">
            <a:avLst/>
          </a:prstGeom>
          <a:solidFill>
            <a:srgbClr val="0A0F1A"/>
          </a:solidFill>
          <a:ln w="15240">
            <a:solidFill>
              <a:srgbClr val="5A6E8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2064" y="1984248"/>
            <a:ext cx="1463040" cy="45720"/>
          </a:xfrm>
          <a:prstGeom prst="rect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5216" y="2112264"/>
            <a:ext cx="13167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85216" y="260604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initiates pay()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984248" y="2656332"/>
            <a:ext cx="182880" cy="256032"/>
          </a:xfrm>
          <a:prstGeom prst="rightArrow">
            <a:avLst/>
          </a:prstGeom>
          <a:solidFill>
            <a:srgbClr val="4B8EF8"/>
          </a:solidFill>
          <a:ln w="6350">
            <a:solidFill>
              <a:srgbClr val="4B8EF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76272" y="1984248"/>
            <a:ext cx="1463040" cy="1600200"/>
          </a:xfrm>
          <a:prstGeom prst="rect">
            <a:avLst/>
          </a:prstGeom>
          <a:solidFill>
            <a:srgbClr val="162040"/>
          </a:solidFill>
          <a:ln w="15240">
            <a:solidFill>
              <a:srgbClr val="2D5B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76272" y="1984248"/>
            <a:ext cx="1463040" cy="45720"/>
          </a:xfrm>
          <a:prstGeom prst="rect">
            <a:avLst/>
          </a:prstGeom>
          <a:solidFill>
            <a:srgbClr val="2D5BB8"/>
          </a:solidFill>
          <a:ln w="12700">
            <a:solidFill>
              <a:srgbClr val="2D5B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49424" y="2112264"/>
            <a:ext cx="13167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2249424" y="260604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enforced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48456" y="2656332"/>
            <a:ext cx="182880" cy="256032"/>
          </a:xfrm>
          <a:prstGeom prst="rightArrow">
            <a:avLst/>
          </a:prstGeom>
          <a:solidFill>
            <a:srgbClr val="4B8EF8"/>
          </a:solidFill>
          <a:ln w="6350">
            <a:solidFill>
              <a:srgbClr val="4B8E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0480" y="1984248"/>
            <a:ext cx="1463040" cy="1600200"/>
          </a:xfrm>
          <a:prstGeom prst="rect">
            <a:avLst/>
          </a:prstGeom>
          <a:solidFill>
            <a:srgbClr val="14102A"/>
          </a:solidFill>
          <a:ln w="15240">
            <a:solidFill>
              <a:srgbClr val="6B7F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0480" y="1984248"/>
            <a:ext cx="1463040" cy="45720"/>
          </a:xfrm>
          <a:prstGeom prst="rect">
            <a:avLst/>
          </a:prstGeom>
          <a:solidFill>
            <a:srgbClr val="6B7FCC"/>
          </a:solidFill>
          <a:ln w="12700">
            <a:solidFill>
              <a:srgbClr val="6B7F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13632" y="2112264"/>
            <a:ext cx="13167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 Layer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3913632" y="260604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limits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crypto-verified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312664" y="2656332"/>
            <a:ext cx="182880" cy="256032"/>
          </a:xfrm>
          <a:prstGeom prst="rightArrow">
            <a:avLst/>
          </a:prstGeom>
          <a:solidFill>
            <a:srgbClr val="4B8EF8"/>
          </a:solidFill>
          <a:ln w="6350">
            <a:solidFill>
              <a:srgbClr val="4B8EF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504688" y="1984248"/>
            <a:ext cx="1463040" cy="1600200"/>
          </a:xfrm>
          <a:prstGeom prst="rect">
            <a:avLst/>
          </a:prstGeom>
          <a:solidFill>
            <a:srgbClr val="162040"/>
          </a:solidFill>
          <a:ln w="15240">
            <a:solidFill>
              <a:srgbClr val="2D5BB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04688" y="1984248"/>
            <a:ext cx="1463040" cy="45720"/>
          </a:xfrm>
          <a:prstGeom prst="rect">
            <a:avLst/>
          </a:prstGeom>
          <a:solidFill>
            <a:srgbClr val="2D5BB8"/>
          </a:solidFill>
          <a:ln w="12700">
            <a:solidFill>
              <a:srgbClr val="2D5BB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77840" y="2112264"/>
            <a:ext cx="13167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Router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577840" y="260604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x402 · USDC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· ACH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976872" y="2656332"/>
            <a:ext cx="182880" cy="256032"/>
          </a:xfrm>
          <a:prstGeom prst="rightArrow">
            <a:avLst/>
          </a:prstGeom>
          <a:solidFill>
            <a:srgbClr val="4B8EF8"/>
          </a:solidFill>
          <a:ln w="6350">
            <a:solidFill>
              <a:srgbClr val="4B8EF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168896" y="1984248"/>
            <a:ext cx="1463040" cy="1600200"/>
          </a:xfrm>
          <a:prstGeom prst="rect">
            <a:avLst/>
          </a:prstGeom>
          <a:solidFill>
            <a:srgbClr val="0A1A10"/>
          </a:solidFill>
          <a:ln w="15240">
            <a:solidFill>
              <a:srgbClr val="1A3A2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68896" y="1984248"/>
            <a:ext cx="1463040" cy="45720"/>
          </a:xfrm>
          <a:prstGeom prst="rect">
            <a:avLst/>
          </a:prstGeom>
          <a:solidFill>
            <a:srgbClr val="1A3A22"/>
          </a:solidFill>
          <a:ln w="12700">
            <a:solidFill>
              <a:srgbClr val="1A3A2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42048" y="2112264"/>
            <a:ext cx="13167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+ Logged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7242048" y="260604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receipt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record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3931920"/>
            <a:ext cx="8412480" cy="1005840"/>
          </a:xfrm>
          <a:prstGeom prst="rect">
            <a:avLst/>
          </a:prstGeom>
          <a:solidFill>
            <a:srgbClr val="0A0F1A"/>
          </a:solidFill>
          <a:ln w="9525">
            <a:solidFill>
              <a:srgbClr val="1E30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393192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CISO: Can an agent spend outside policy if Tutelum's servers are breached?  </a:t>
            </a:r>
            <a:pPr indent="0" marL="0">
              <a:buNone/>
            </a:pPr>
            <a:r>
              <a:rPr lang="en-US" sz="1800" b="1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</a:t>
            </a:r>
            <a:pPr indent="0" marL="0">
              <a:buNone/>
            </a:pPr>
            <a:r>
              <a:rPr lang="en-US" sz="18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Spend limits are enforced in hardware by Turnkey's secure enclave; cryptographically verifiable, independent of our application layer.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4864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$236B Market With No Governance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877824"/>
            <a:ext cx="2606040" cy="2103120"/>
          </a:xfrm>
          <a:prstGeom prst="rect">
            <a:avLst/>
          </a:prstGeom>
          <a:solidFill>
            <a:srgbClr val="162040"/>
          </a:solidFill>
          <a:ln w="9525">
            <a:solidFill>
              <a:srgbClr val="2D5BB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877824"/>
            <a:ext cx="2606040" cy="45720"/>
          </a:xfrm>
          <a:prstGeom prst="rect">
            <a:avLst/>
          </a:prstGeom>
          <a:solidFill>
            <a:srgbClr val="4B8EF8"/>
          </a:solidFill>
          <a:ln w="12700">
            <a:solidFill>
              <a:srgbClr val="4B8E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02412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3533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$236B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548640" y="2029968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AI Agents market by 2034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5603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45.82% CAGR · Precedence Research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91840" y="877824"/>
            <a:ext cx="2606040" cy="2103120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877824"/>
            <a:ext cx="2606040" cy="45720"/>
          </a:xfrm>
          <a:prstGeom prst="rect">
            <a:avLst/>
          </a:prstGeom>
          <a:solidFill>
            <a:srgbClr val="2D5BB8"/>
          </a:solidFill>
          <a:ln w="12700">
            <a:solidFill>
              <a:srgbClr val="2D5B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02412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383280" y="13533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$18B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3383280" y="2029968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agentic AI with financial capability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83280" y="25603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 enterprises × 200 agents × $20K/yr = ~$17.6B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877824"/>
            <a:ext cx="2606040" cy="2103120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0" y="877824"/>
            <a:ext cx="2606040" cy="45720"/>
          </a:xfrm>
          <a:prstGeom prst="rect">
            <a:avLst/>
          </a:prstGeom>
          <a:solidFill>
            <a:srgbClr val="2D5BB8"/>
          </a:solidFill>
          <a:ln w="12700">
            <a:solidFill>
              <a:srgbClr val="2D5B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63640" y="102412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217920" y="13533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$850M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6217920" y="2029968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Reachable via dev-led enterprise sales (3 yrs)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17920" y="256032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0.3% SAM · 5 accts Y1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3090672"/>
            <a:ext cx="8412480" cy="1005840"/>
          </a:xfrm>
          <a:prstGeom prst="rect">
            <a:avLst/>
          </a:prstGeom>
          <a:solidFill>
            <a:srgbClr val="0D1628"/>
          </a:solidFill>
          <a:ln w="9525">
            <a:solidFill>
              <a:srgbClr val="2D5BB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3090672"/>
            <a:ext cx="45720" cy="1005840"/>
          </a:xfrm>
          <a:prstGeom prst="rect">
            <a:avLst/>
          </a:prstGeom>
          <a:solidFill>
            <a:srgbClr val="4B8EF8"/>
          </a:solidFill>
          <a:ln w="12700">
            <a:solidFill>
              <a:srgbClr val="4B8E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14553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 Validation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349300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~400K AI agents with purchasing power today · avg 200 agents/fleet · governance $20K–$80K/yr per fleet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Near-term SAM: $6B–$20B · 5 enterprise pilot accounts in Year 1 at avg $40K ACV = ~$200K ARR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57200" y="4187952"/>
            <a:ext cx="1984248" cy="914400"/>
          </a:xfrm>
          <a:prstGeom prst="rect">
            <a:avLst/>
          </a:prstGeom>
          <a:solidFill>
            <a:srgbClr val="0A0F1A"/>
          </a:solidFill>
          <a:ln w="9525">
            <a:solidFill>
              <a:srgbClr val="1E30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4224528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400K+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30352" y="4626864"/>
            <a:ext cx="1837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with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purchasing power today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30352" y="4974336"/>
            <a:ext cx="1837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Coinbase / x402, Q1 2026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624328" y="4187952"/>
            <a:ext cx="1984248" cy="914400"/>
          </a:xfrm>
          <a:prstGeom prst="rect">
            <a:avLst/>
          </a:prstGeom>
          <a:solidFill>
            <a:srgbClr val="0A0F1A"/>
          </a:solidFill>
          <a:ln w="9525">
            <a:solidFill>
              <a:srgbClr val="1E30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97480" y="4224528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140M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2697480" y="4626864"/>
            <a:ext cx="1837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payments in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months (2025)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697480" y="4974336"/>
            <a:ext cx="1837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Dune Analytics / x402, 2025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91456" y="4187952"/>
            <a:ext cx="1984248" cy="914400"/>
          </a:xfrm>
          <a:prstGeom prst="rect">
            <a:avLst/>
          </a:prstGeom>
          <a:solidFill>
            <a:srgbClr val="0A0F1A"/>
          </a:solidFill>
          <a:ln w="9525">
            <a:solidFill>
              <a:srgbClr val="1E30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64608" y="4224528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4864608" y="4626864"/>
            <a:ext cx="1837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enterprises using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≥1 function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864608" y="4974336"/>
            <a:ext cx="1837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McKinsey, 2025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958584" y="4187952"/>
            <a:ext cx="1984248" cy="914400"/>
          </a:xfrm>
          <a:prstGeom prst="rect">
            <a:avLst/>
          </a:prstGeom>
          <a:solidFill>
            <a:srgbClr val="0A0F1A"/>
          </a:solidFill>
          <a:ln w="9525">
            <a:solidFill>
              <a:srgbClr val="1E30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031736" y="4224528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€35M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7031736" y="4626864"/>
            <a:ext cx="1837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 max penalty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2026 enforce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031736" y="4974336"/>
            <a:ext cx="1837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EU Official Journal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4864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182880" y="109728"/>
            <a:ext cx="8778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Alternative Enables Spending. None Enforce Governance.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49424" y="621792"/>
            <a:ext cx="1121664" cy="3931920"/>
          </a:xfrm>
          <a:prstGeom prst="rect">
            <a:avLst/>
          </a:prstGeom>
          <a:solidFill>
            <a:srgbClr val="0E2244"/>
          </a:solidFill>
          <a:ln w="19050">
            <a:solidFill>
              <a:srgbClr val="4B8E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49424" y="621792"/>
            <a:ext cx="1121664" cy="45720"/>
          </a:xfrm>
          <a:prstGeom prst="rect">
            <a:avLst/>
          </a:prstGeom>
          <a:solidFill>
            <a:srgbClr val="4B8EF8"/>
          </a:solidFill>
          <a:ln w="12700">
            <a:solidFill>
              <a:srgbClr val="4B8E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4592" y="621792"/>
            <a:ext cx="2084832" cy="530352"/>
          </a:xfrm>
          <a:prstGeom prst="rect">
            <a:avLst/>
          </a:prstGeom>
          <a:solidFill>
            <a:srgbClr val="0A0F1A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9424" y="621792"/>
            <a:ext cx="1121664" cy="530352"/>
          </a:xfrm>
          <a:prstGeom prst="rect">
            <a:avLst/>
          </a:prstGeom>
          <a:solidFill>
            <a:srgbClr val="0E2244"/>
          </a:solidFill>
          <a:ln w="19050">
            <a:solidFill>
              <a:srgbClr val="4B8E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621792"/>
            <a:ext cx="1048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Tutelum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371088" y="621792"/>
            <a:ext cx="1121664" cy="530352"/>
          </a:xfrm>
          <a:prstGeom prst="rect">
            <a:avLst/>
          </a:prstGeom>
          <a:solidFill>
            <a:srgbClr val="0A0F1A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07664" y="621792"/>
            <a:ext cx="1048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Skyfire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92752" y="621792"/>
            <a:ext cx="1121664" cy="530352"/>
          </a:xfrm>
          <a:prstGeom prst="rect">
            <a:avLst/>
          </a:prstGeom>
          <a:solidFill>
            <a:srgbClr val="0A0F1A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9328" y="621792"/>
            <a:ext cx="1048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Payman AI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14416" y="621792"/>
            <a:ext cx="1121664" cy="530352"/>
          </a:xfrm>
          <a:prstGeom prst="rect">
            <a:avLst/>
          </a:prstGeom>
          <a:solidFill>
            <a:srgbClr val="0A0F1A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50992" y="621792"/>
            <a:ext cx="1048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AnChain.AI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736080" y="621792"/>
            <a:ext cx="1121664" cy="530352"/>
          </a:xfrm>
          <a:prstGeom prst="rect">
            <a:avLst/>
          </a:prstGeom>
          <a:solidFill>
            <a:srgbClr val="0A0F1A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72656" y="621792"/>
            <a:ext cx="1048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 Agent Pay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857744" y="621792"/>
            <a:ext cx="1121664" cy="530352"/>
          </a:xfrm>
          <a:prstGeom prst="rect">
            <a:avLst/>
          </a:prstGeom>
          <a:solidFill>
            <a:srgbClr val="0A0F1A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94320" y="621792"/>
            <a:ext cx="1048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 / Brex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64592" y="1152144"/>
            <a:ext cx="2084832" cy="566928"/>
          </a:xfrm>
          <a:prstGeom prst="rect">
            <a:avLst/>
          </a:prstGeom>
          <a:solidFill>
            <a:srgbClr val="1A2235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2608" y="115214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 / Hardware-Attested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249424" y="1152144"/>
            <a:ext cx="1121664" cy="566928"/>
          </a:xfrm>
          <a:prstGeom prst="rect">
            <a:avLst/>
          </a:prstGeom>
          <a:solidFill>
            <a:srgbClr val="0E2244"/>
          </a:solidFill>
          <a:ln w="19050">
            <a:solidFill>
              <a:srgbClr val="4B8E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86000" y="115214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3371088" y="1152144"/>
            <a:ext cx="1121664" cy="566928"/>
          </a:xfrm>
          <a:prstGeom prst="rect">
            <a:avLst/>
          </a:prstGeom>
          <a:solidFill>
            <a:srgbClr val="1A2235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07664" y="115214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492752" y="1152144"/>
            <a:ext cx="1121664" cy="566928"/>
          </a:xfrm>
          <a:prstGeom prst="rect">
            <a:avLst/>
          </a:prstGeom>
          <a:solidFill>
            <a:srgbClr val="1A2235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29328" y="115214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614416" y="1152144"/>
            <a:ext cx="1121664" cy="566928"/>
          </a:xfrm>
          <a:prstGeom prst="rect">
            <a:avLst/>
          </a:prstGeom>
          <a:solidFill>
            <a:srgbClr val="1A2235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50992" y="115214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736080" y="1152144"/>
            <a:ext cx="1121664" cy="566928"/>
          </a:xfrm>
          <a:prstGeom prst="rect">
            <a:avLst/>
          </a:prstGeom>
          <a:solidFill>
            <a:srgbClr val="1A2235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72656" y="115214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857744" y="1152144"/>
            <a:ext cx="1121664" cy="566928"/>
          </a:xfrm>
          <a:prstGeom prst="rect">
            <a:avLst/>
          </a:prstGeom>
          <a:solidFill>
            <a:srgbClr val="1A2235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94320" y="115214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64592" y="1719072"/>
            <a:ext cx="2084832" cy="566928"/>
          </a:xfrm>
          <a:prstGeom prst="rect">
            <a:avLst/>
          </a:prstGeom>
          <a:solidFill>
            <a:srgbClr val="141C2E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2608" y="171907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Defense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Payment Layer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249424" y="1719072"/>
            <a:ext cx="1121664" cy="566928"/>
          </a:xfrm>
          <a:prstGeom prst="rect">
            <a:avLst/>
          </a:prstGeom>
          <a:solidFill>
            <a:srgbClr val="0E2244"/>
          </a:solidFill>
          <a:ln w="19050">
            <a:solidFill>
              <a:srgbClr val="4B8EF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286000" y="1719072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3371088" y="1719072"/>
            <a:ext cx="1121664" cy="566928"/>
          </a:xfrm>
          <a:prstGeom prst="rect">
            <a:avLst/>
          </a:prstGeom>
          <a:solidFill>
            <a:srgbClr val="141C2E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07664" y="1719072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492752" y="1719072"/>
            <a:ext cx="1121664" cy="566928"/>
          </a:xfrm>
          <a:prstGeom prst="rect">
            <a:avLst/>
          </a:prstGeom>
          <a:solidFill>
            <a:srgbClr val="141C2E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29328" y="1719072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614416" y="1719072"/>
            <a:ext cx="1121664" cy="566928"/>
          </a:xfrm>
          <a:prstGeom prst="rect">
            <a:avLst/>
          </a:prstGeom>
          <a:solidFill>
            <a:srgbClr val="141C2E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50992" y="1719072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736080" y="1719072"/>
            <a:ext cx="1121664" cy="566928"/>
          </a:xfrm>
          <a:prstGeom prst="rect">
            <a:avLst/>
          </a:prstGeom>
          <a:solidFill>
            <a:srgbClr val="141C2E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772656" y="1719072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857744" y="1719072"/>
            <a:ext cx="1121664" cy="566928"/>
          </a:xfrm>
          <a:prstGeom prst="rect">
            <a:avLst/>
          </a:prstGeom>
          <a:solidFill>
            <a:srgbClr val="141C2E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894320" y="1719072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164592" y="2286000"/>
            <a:ext cx="2084832" cy="566928"/>
          </a:xfrm>
          <a:prstGeom prst="rect">
            <a:avLst/>
          </a:prstGeom>
          <a:solidFill>
            <a:srgbClr val="1A2235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92608" y="22860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Conditional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2249424" y="2286000"/>
            <a:ext cx="1121664" cy="566928"/>
          </a:xfrm>
          <a:prstGeom prst="rect">
            <a:avLst/>
          </a:prstGeom>
          <a:solidFill>
            <a:srgbClr val="0E2244"/>
          </a:solidFill>
          <a:ln w="19050">
            <a:solidFill>
              <a:srgbClr val="4B8EF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286000" y="2286000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3371088" y="2286000"/>
            <a:ext cx="1121664" cy="566928"/>
          </a:xfrm>
          <a:prstGeom prst="rect">
            <a:avLst/>
          </a:prstGeom>
          <a:solidFill>
            <a:srgbClr val="1A2235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407664" y="2286000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4492752" y="2286000"/>
            <a:ext cx="1121664" cy="566928"/>
          </a:xfrm>
          <a:prstGeom prst="rect">
            <a:avLst/>
          </a:prstGeom>
          <a:solidFill>
            <a:srgbClr val="1A2235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29328" y="2286000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5614416" y="2286000"/>
            <a:ext cx="1121664" cy="566928"/>
          </a:xfrm>
          <a:prstGeom prst="rect">
            <a:avLst/>
          </a:prstGeom>
          <a:solidFill>
            <a:srgbClr val="1A2235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50992" y="2286000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736080" y="2286000"/>
            <a:ext cx="1121664" cy="566928"/>
          </a:xfrm>
          <a:prstGeom prst="rect">
            <a:avLst/>
          </a:prstGeom>
          <a:solidFill>
            <a:srgbClr val="1A2235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772656" y="2286000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7857744" y="2286000"/>
            <a:ext cx="1121664" cy="566928"/>
          </a:xfrm>
          <a:prstGeom prst="rect">
            <a:avLst/>
          </a:prstGeom>
          <a:solidFill>
            <a:srgbClr val="1A2235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4320" y="2286000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164592" y="2852928"/>
            <a:ext cx="2084832" cy="566928"/>
          </a:xfrm>
          <a:prstGeom prst="rect">
            <a:avLst/>
          </a:prstGeom>
          <a:solidFill>
            <a:srgbClr val="141C2E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92608" y="285292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x402 + Traditional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Rails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2249424" y="2852928"/>
            <a:ext cx="1121664" cy="566928"/>
          </a:xfrm>
          <a:prstGeom prst="rect">
            <a:avLst/>
          </a:prstGeom>
          <a:solidFill>
            <a:srgbClr val="0E2244"/>
          </a:solidFill>
          <a:ln w="19050">
            <a:solidFill>
              <a:srgbClr val="4B8EF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286000" y="2852928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2000" dirty="0"/>
          </a:p>
        </p:txBody>
      </p:sp>
      <p:sp>
        <p:nvSpPr>
          <p:cNvPr id="65" name="Shape 63"/>
          <p:cNvSpPr/>
          <p:nvPr/>
        </p:nvSpPr>
        <p:spPr>
          <a:xfrm>
            <a:off x="3371088" y="2852928"/>
            <a:ext cx="1121664" cy="566928"/>
          </a:xfrm>
          <a:prstGeom prst="rect">
            <a:avLst/>
          </a:prstGeom>
          <a:solidFill>
            <a:srgbClr val="141C2E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407664" y="2852928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4492752" y="2852928"/>
            <a:ext cx="1121664" cy="566928"/>
          </a:xfrm>
          <a:prstGeom prst="rect">
            <a:avLst/>
          </a:prstGeom>
          <a:solidFill>
            <a:srgbClr val="141C2E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29328" y="2852928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5614416" y="2852928"/>
            <a:ext cx="1121664" cy="566928"/>
          </a:xfrm>
          <a:prstGeom prst="rect">
            <a:avLst/>
          </a:prstGeom>
          <a:solidFill>
            <a:srgbClr val="141C2E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650992" y="2852928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6736080" y="2852928"/>
            <a:ext cx="1121664" cy="566928"/>
          </a:xfrm>
          <a:prstGeom prst="rect">
            <a:avLst/>
          </a:prstGeom>
          <a:solidFill>
            <a:srgbClr val="141C2E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772656" y="2852928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7857744" y="2852928"/>
            <a:ext cx="1121664" cy="566928"/>
          </a:xfrm>
          <a:prstGeom prst="rect">
            <a:avLst/>
          </a:prstGeom>
          <a:solidFill>
            <a:srgbClr val="141C2E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894320" y="2852928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164592" y="3419856"/>
            <a:ext cx="2084832" cy="566928"/>
          </a:xfrm>
          <a:prstGeom prst="rect">
            <a:avLst/>
          </a:prstGeom>
          <a:solidFill>
            <a:srgbClr val="1A2235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92608" y="341985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Agent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77" name="Shape 75"/>
          <p:cNvSpPr/>
          <p:nvPr/>
        </p:nvSpPr>
        <p:spPr>
          <a:xfrm>
            <a:off x="2249424" y="3419856"/>
            <a:ext cx="1121664" cy="566928"/>
          </a:xfrm>
          <a:prstGeom prst="rect">
            <a:avLst/>
          </a:prstGeom>
          <a:solidFill>
            <a:srgbClr val="0E2244"/>
          </a:solidFill>
          <a:ln w="19050">
            <a:solidFill>
              <a:srgbClr val="4B8EF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286000" y="3419856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79" name="Shape 77"/>
          <p:cNvSpPr/>
          <p:nvPr/>
        </p:nvSpPr>
        <p:spPr>
          <a:xfrm>
            <a:off x="3371088" y="3419856"/>
            <a:ext cx="1121664" cy="566928"/>
          </a:xfrm>
          <a:prstGeom prst="rect">
            <a:avLst/>
          </a:prstGeom>
          <a:solidFill>
            <a:srgbClr val="1A2235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407664" y="3419856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81" name="Shape 79"/>
          <p:cNvSpPr/>
          <p:nvPr/>
        </p:nvSpPr>
        <p:spPr>
          <a:xfrm>
            <a:off x="4492752" y="3419856"/>
            <a:ext cx="1121664" cy="566928"/>
          </a:xfrm>
          <a:prstGeom prst="rect">
            <a:avLst/>
          </a:prstGeom>
          <a:solidFill>
            <a:srgbClr val="1A2235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529328" y="3419856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5614416" y="3419856"/>
            <a:ext cx="1121664" cy="566928"/>
          </a:xfrm>
          <a:prstGeom prst="rect">
            <a:avLst/>
          </a:prstGeom>
          <a:solidFill>
            <a:srgbClr val="1A2235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650992" y="3419856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85" name="Shape 83"/>
          <p:cNvSpPr/>
          <p:nvPr/>
        </p:nvSpPr>
        <p:spPr>
          <a:xfrm>
            <a:off x="6736080" y="3419856"/>
            <a:ext cx="1121664" cy="566928"/>
          </a:xfrm>
          <a:prstGeom prst="rect">
            <a:avLst/>
          </a:prstGeom>
          <a:solidFill>
            <a:srgbClr val="1A2235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772656" y="3419856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87" name="Shape 85"/>
          <p:cNvSpPr/>
          <p:nvPr/>
        </p:nvSpPr>
        <p:spPr>
          <a:xfrm>
            <a:off x="7857744" y="3419856"/>
            <a:ext cx="1121664" cy="566928"/>
          </a:xfrm>
          <a:prstGeom prst="rect">
            <a:avLst/>
          </a:prstGeom>
          <a:solidFill>
            <a:srgbClr val="1A2235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894320" y="3419856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89" name="Shape 87"/>
          <p:cNvSpPr/>
          <p:nvPr/>
        </p:nvSpPr>
        <p:spPr>
          <a:xfrm>
            <a:off x="164592" y="3986784"/>
            <a:ext cx="2084832" cy="566928"/>
          </a:xfrm>
          <a:prstGeom prst="rect">
            <a:avLst/>
          </a:prstGeom>
          <a:solidFill>
            <a:srgbClr val="141C2E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92608" y="398678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Transaction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</a:t>
            </a:r>
            <a:endParaRPr lang="en-US" sz="1400" dirty="0"/>
          </a:p>
        </p:txBody>
      </p:sp>
      <p:sp>
        <p:nvSpPr>
          <p:cNvPr id="91" name="Shape 89"/>
          <p:cNvSpPr/>
          <p:nvPr/>
        </p:nvSpPr>
        <p:spPr>
          <a:xfrm>
            <a:off x="2249424" y="3986784"/>
            <a:ext cx="1121664" cy="566928"/>
          </a:xfrm>
          <a:prstGeom prst="rect">
            <a:avLst/>
          </a:prstGeom>
          <a:solidFill>
            <a:srgbClr val="0E2244"/>
          </a:solidFill>
          <a:ln w="19050">
            <a:solidFill>
              <a:srgbClr val="4B8EF8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286000" y="398678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93" name="Shape 91"/>
          <p:cNvSpPr/>
          <p:nvPr/>
        </p:nvSpPr>
        <p:spPr>
          <a:xfrm>
            <a:off x="3371088" y="3986784"/>
            <a:ext cx="1121664" cy="566928"/>
          </a:xfrm>
          <a:prstGeom prst="rect">
            <a:avLst/>
          </a:prstGeom>
          <a:solidFill>
            <a:srgbClr val="141C2E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407664" y="398678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95" name="Shape 93"/>
          <p:cNvSpPr/>
          <p:nvPr/>
        </p:nvSpPr>
        <p:spPr>
          <a:xfrm>
            <a:off x="4492752" y="3986784"/>
            <a:ext cx="1121664" cy="566928"/>
          </a:xfrm>
          <a:prstGeom prst="rect">
            <a:avLst/>
          </a:prstGeom>
          <a:solidFill>
            <a:srgbClr val="141C2E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529328" y="398678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97" name="Shape 95"/>
          <p:cNvSpPr/>
          <p:nvPr/>
        </p:nvSpPr>
        <p:spPr>
          <a:xfrm>
            <a:off x="5614416" y="3986784"/>
            <a:ext cx="1121664" cy="566928"/>
          </a:xfrm>
          <a:prstGeom prst="rect">
            <a:avLst/>
          </a:prstGeom>
          <a:solidFill>
            <a:srgbClr val="141C2E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650992" y="398678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99" name="Shape 97"/>
          <p:cNvSpPr/>
          <p:nvPr/>
        </p:nvSpPr>
        <p:spPr>
          <a:xfrm>
            <a:off x="6736080" y="3986784"/>
            <a:ext cx="1121664" cy="566928"/>
          </a:xfrm>
          <a:prstGeom prst="rect">
            <a:avLst/>
          </a:prstGeom>
          <a:solidFill>
            <a:srgbClr val="141C2E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772656" y="398678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600" dirty="0"/>
          </a:p>
        </p:txBody>
      </p:sp>
      <p:sp>
        <p:nvSpPr>
          <p:cNvPr id="101" name="Shape 99"/>
          <p:cNvSpPr/>
          <p:nvPr/>
        </p:nvSpPr>
        <p:spPr>
          <a:xfrm>
            <a:off x="7857744" y="3986784"/>
            <a:ext cx="1121664" cy="566928"/>
          </a:xfrm>
          <a:prstGeom prst="rect">
            <a:avLst/>
          </a:prstGeom>
          <a:solidFill>
            <a:srgbClr val="141C2E"/>
          </a:solidFill>
          <a:ln w="9525">
            <a:solidFill>
              <a:srgbClr val="1A284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94320" y="3986784"/>
            <a:ext cx="1048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600" dirty="0"/>
          </a:p>
        </p:txBody>
      </p:sp>
      <p:sp>
        <p:nvSpPr>
          <p:cNvPr id="103" name="Text 101"/>
          <p:cNvSpPr/>
          <p:nvPr/>
        </p:nvSpPr>
        <p:spPr>
          <a:xfrm>
            <a:off x="182880" y="4736592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Full support  ·  ⚠️ Partial / in development  ·  ❌ Not supported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4864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 Before Revenue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8229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Pre-revenue ≠ pre-progress. The product is live and integrated with the top agent frameworks.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1353312"/>
            <a:ext cx="1965960" cy="3401568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353312"/>
            <a:ext cx="1965960" cy="45720"/>
          </a:xfrm>
          <a:prstGeom prst="rect">
            <a:avLst/>
          </a:prstGeom>
          <a:solidFill>
            <a:srgbClr val="4B8EF8"/>
          </a:solidFill>
          <a:ln w="12700">
            <a:solidFill>
              <a:srgbClr val="4B8E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17904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57200" y="2231136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 Shipped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999232"/>
            <a:ext cx="1417320" cy="18288"/>
          </a:xfrm>
          <a:prstGeom prst="rect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145536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 ·  AutoGen  ·  MCP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for popular agent frameworks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514600" y="1353312"/>
            <a:ext cx="1965960" cy="3401568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14600" y="1353312"/>
            <a:ext cx="1965960" cy="4572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06040" y="1517904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606040" y="2231136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Enforcement Rate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788920" y="2999232"/>
            <a:ext cx="1417320" cy="18288"/>
          </a:xfrm>
          <a:prstGeom prst="rect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06040" y="3145536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policy bypasses recorded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testing to date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663440" y="1353312"/>
            <a:ext cx="1965960" cy="3401568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1353312"/>
            <a:ext cx="196596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1517904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→ Live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4754880" y="2231136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 month)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937760" y="2999232"/>
            <a:ext cx="1417320" cy="18288"/>
          </a:xfrm>
          <a:prstGeom prst="rect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3145536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 3-person team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execution speed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812280" y="1353312"/>
            <a:ext cx="1965960" cy="3401568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12280" y="1353312"/>
            <a:ext cx="196596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03720" y="1517904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6903720" y="2231136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Leads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7086600" y="2999232"/>
            <a:ext cx="1417320" cy="18288"/>
          </a:xfrm>
          <a:prstGeom prst="rect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03720" y="3145536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conversations with CISOs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VP Engs in fintech and logistics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solidFill>
            <a:srgbClr val="0A1A10"/>
          </a:solidFill>
          <a:ln w="9525">
            <a:solidFill>
              <a:srgbClr val="1A3A2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47548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5 signed LOIs before seed round  ·  EU AI Act enforcement window: August 2026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4864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Usage-Based SaaS + Platform Fees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841248"/>
            <a:ext cx="2697480" cy="2926080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841248"/>
            <a:ext cx="2697480" cy="45720"/>
          </a:xfrm>
          <a:prstGeom prst="rect">
            <a:avLst/>
          </a:prstGeom>
          <a:solidFill>
            <a:srgbClr val="2D5BB8"/>
          </a:solidFill>
          <a:ln w="12700">
            <a:solidFill>
              <a:srgbClr val="2D5B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7840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02920" y="138988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 →  $199/mo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792224"/>
            <a:ext cx="2423160" cy="18288"/>
          </a:xfrm>
          <a:prstGeom prst="rect">
            <a:avLst/>
          </a:prstGeom>
          <a:solidFill>
            <a:srgbClr val="1E2A40"/>
          </a:solidFill>
          <a:ln w="12700">
            <a:solidFill>
              <a:srgbClr val="1E2A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39112"/>
            <a:ext cx="91440" cy="91440"/>
          </a:xfrm>
          <a:prstGeom prst="ellipse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938528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10 agents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30352" y="2487168"/>
            <a:ext cx="91440" cy="91440"/>
          </a:xfrm>
          <a:prstGeom prst="ellipse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386584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 tx/mo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30352" y="2935224"/>
            <a:ext cx="91440" cy="91440"/>
          </a:xfrm>
          <a:prstGeom prst="ellipse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834640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policy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30352" y="3383280"/>
            <a:ext cx="91440" cy="91440"/>
          </a:xfrm>
          <a:prstGeom prst="ellipse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282696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audit log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246120" y="841248"/>
            <a:ext cx="2697480" cy="2926080"/>
          </a:xfrm>
          <a:prstGeom prst="rect">
            <a:avLst/>
          </a:prstGeom>
          <a:solidFill>
            <a:srgbClr val="162040"/>
          </a:solidFill>
          <a:ln w="9525">
            <a:solidFill>
              <a:srgbClr val="2D5B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46120" y="841248"/>
            <a:ext cx="2697480" cy="45720"/>
          </a:xfrm>
          <a:prstGeom prst="rect">
            <a:avLst/>
          </a:prstGeom>
          <a:solidFill>
            <a:srgbClr val="4B8EF8"/>
          </a:solidFill>
          <a:ln w="12700">
            <a:solidFill>
              <a:srgbClr val="4B8E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3280" y="97840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383280" y="138988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$999/mo + 0.008% per tx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383280" y="1792224"/>
            <a:ext cx="2423160" cy="18288"/>
          </a:xfrm>
          <a:prstGeom prst="rect">
            <a:avLst/>
          </a:prstGeom>
          <a:solidFill>
            <a:srgbClr val="1E2A40"/>
          </a:solidFill>
          <a:ln w="12700">
            <a:solidFill>
              <a:srgbClr val="1E2A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10712" y="2039112"/>
            <a:ext cx="91440" cy="91440"/>
          </a:xfrm>
          <a:prstGeom prst="ellipse">
            <a:avLst/>
          </a:prstGeom>
          <a:solidFill>
            <a:srgbClr val="4B8EF8"/>
          </a:solidFill>
          <a:ln w="12700">
            <a:solidFill>
              <a:srgbClr val="4B8E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66160" y="1938528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agents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410712" y="2487168"/>
            <a:ext cx="91440" cy="91440"/>
          </a:xfrm>
          <a:prstGeom prst="ellipse">
            <a:avLst/>
          </a:prstGeom>
          <a:solidFill>
            <a:srgbClr val="4B8EF8"/>
          </a:solidFill>
          <a:ln w="12700">
            <a:solidFill>
              <a:srgbClr val="4B8EF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66160" y="2386584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policy + anomaly detection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410712" y="2935224"/>
            <a:ext cx="91440" cy="91440"/>
          </a:xfrm>
          <a:prstGeom prst="ellipse">
            <a:avLst/>
          </a:prstGeom>
          <a:solidFill>
            <a:srgbClr val="4B8EF8"/>
          </a:solidFill>
          <a:ln w="12700">
            <a:solidFill>
              <a:srgbClr val="4B8E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2834640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410712" y="3383280"/>
            <a:ext cx="91440" cy="91440"/>
          </a:xfrm>
          <a:prstGeom prst="ellipse">
            <a:avLst/>
          </a:prstGeom>
          <a:solidFill>
            <a:srgbClr val="4B8EF8"/>
          </a:solidFill>
          <a:ln w="12700">
            <a:solidFill>
              <a:srgbClr val="4B8E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66160" y="3282696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audit log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126480" y="841248"/>
            <a:ext cx="2697480" cy="2926080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841248"/>
            <a:ext cx="2697480" cy="45720"/>
          </a:xfrm>
          <a:prstGeom prst="rect">
            <a:avLst/>
          </a:prstGeom>
          <a:solidFill>
            <a:srgbClr val="2D5BB8"/>
          </a:solidFill>
          <a:ln w="12700">
            <a:solidFill>
              <a:srgbClr val="2D5BB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63640" y="97840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263640" y="138988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263640" y="1792224"/>
            <a:ext cx="2423160" cy="18288"/>
          </a:xfrm>
          <a:prstGeom prst="rect">
            <a:avLst/>
          </a:prstGeom>
          <a:solidFill>
            <a:srgbClr val="1E2A40"/>
          </a:solidFill>
          <a:ln w="12700">
            <a:solidFill>
              <a:srgbClr val="1E2A4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072" y="2039112"/>
            <a:ext cx="91440" cy="91440"/>
          </a:xfrm>
          <a:prstGeom prst="ellipse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46520" y="1938528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TEE hardware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291072" y="2487168"/>
            <a:ext cx="91440" cy="91440"/>
          </a:xfrm>
          <a:prstGeom prst="ellipse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46520" y="2386584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/ EU AI Act packages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291072" y="2935224"/>
            <a:ext cx="91440" cy="91440"/>
          </a:xfrm>
          <a:prstGeom prst="ellipse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46520" y="2834640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 (Okta, Azure AD)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291072" y="3383280"/>
            <a:ext cx="91440" cy="91440"/>
          </a:xfrm>
          <a:prstGeom prst="ellipse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46520" y="3282696"/>
            <a:ext cx="2221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support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365760" y="3767328"/>
            <a:ext cx="8412480" cy="1335024"/>
          </a:xfrm>
          <a:prstGeom prst="rect">
            <a:avLst/>
          </a:prstGeom>
          <a:solidFill>
            <a:srgbClr val="0D1628"/>
          </a:solidFill>
          <a:ln w="9525">
            <a:solidFill>
              <a:srgbClr val="2D5BB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65760" y="3767328"/>
            <a:ext cx="45720" cy="1335024"/>
          </a:xfrm>
          <a:prstGeom prst="rect">
            <a:avLst/>
          </a:prstGeom>
          <a:solidFill>
            <a:srgbClr val="4B8EF8"/>
          </a:solidFill>
          <a:ln w="12700">
            <a:solidFill>
              <a:srgbClr val="4B8EF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" y="3831336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594360" y="4187952"/>
            <a:ext cx="7955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$999/mo = $12K ACV  ·  Enterprise ~$40K–$80K ACV  ·  Model: 5 enterprise accounts Y1 × $40K avg = ~$200K ARR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594360" y="4572000"/>
            <a:ext cx="7955280" cy="18288"/>
          </a:xfrm>
          <a:prstGeom prst="rect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4360" y="4645152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NRR expansion: a $12K/yr Growth account becomes $30K/yr as the agent fleet grows 2–3× YoY. Zero new sales motion.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4864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Three-Motion GTM Strategy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804672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Dev-led adoption lands the account. Compliance pressure closes the enterprise deal. Usage expansion drives NRR.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2697480" cy="3154680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325880"/>
            <a:ext cx="2697480" cy="45720"/>
          </a:xfrm>
          <a:prstGeom prst="rect">
            <a:avLst/>
          </a:prstGeom>
          <a:solidFill>
            <a:srgbClr val="4B8EF8"/>
          </a:solidFill>
          <a:ln w="12700">
            <a:solidFill>
              <a:srgbClr val="4B8E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9047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02920" y="2020824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SDK-Led (Bottom-Up)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02920" y="2551176"/>
            <a:ext cx="2423160" cy="18288"/>
          </a:xfrm>
          <a:prstGeom prst="rect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642616"/>
            <a:ext cx="24231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developer reach via LangChain, AutoGen, and MCP communities: 200K+ active users. Free tier drives adoption into team stacks, zero cold sales needed.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291840" y="1325880"/>
            <a:ext cx="2697480" cy="3154680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91840" y="1325880"/>
            <a:ext cx="269748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49047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29000" y="2020824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Pull (Top-Down)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429000" y="2551176"/>
            <a:ext cx="2423160" cy="18288"/>
          </a:xfrm>
          <a:prstGeom prst="rect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2642616"/>
            <a:ext cx="24231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 enforcement (Aug 2026) is a mandatory procurement trigger. CISOs are already asking about agent financial controls; Tutelum is the answer.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17920" y="1325880"/>
            <a:ext cx="2697480" cy="3154680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0" y="1325880"/>
            <a:ext cx="269748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149047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355080" y="2020824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Expansion (Built-In NRR)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355080" y="2551176"/>
            <a:ext cx="2423160" cy="18288"/>
          </a:xfrm>
          <a:prstGeom prst="rect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55080" y="2642616"/>
            <a:ext cx="24231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scales automatically with agent fleet size. Every new agent an existing customer deploys generates incremental per-transaction revenue.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65760" y="4553712"/>
            <a:ext cx="8412480" cy="493776"/>
          </a:xfrm>
          <a:prstGeom prst="rect">
            <a:avLst/>
          </a:prstGeom>
          <a:solidFill>
            <a:srgbClr val="0A0F1A"/>
          </a:solidFill>
          <a:ln w="9525">
            <a:solidFill>
              <a:srgbClr val="1E30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4553712"/>
            <a:ext cx="8138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Activation:  </a:t>
            </a:r>
            <a:pPr indent="0" marL="0">
              <a:buNone/>
            </a:pPr>
            <a:r>
              <a:rPr lang="en-US" sz="13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SDK-led (Now)  →  </a:t>
            </a:r>
            <a:pPr indent="0" marL="0">
              <a:buNone/>
            </a:pPr>
            <a:r>
              <a:rPr lang="en-US" sz="1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pull (Q3 2026, EU AI Act enforcement)  →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expansion (YR2+)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040" y="486460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Engineers Who've Lived the Problem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560320" cy="3200400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868680"/>
            <a:ext cx="2560320" cy="45720"/>
          </a:xfrm>
          <a:prstGeom prst="rect">
            <a:avLst/>
          </a:prstGeom>
          <a:solidFill>
            <a:srgbClr val="4B8EF8"/>
          </a:solidFill>
          <a:ln w="12700">
            <a:solidFill>
              <a:srgbClr val="4B8EF8"/>
            </a:solidFill>
            <a:prstDash val="solid"/>
          </a:ln>
        </p:spPr>
      </p:sp>
      <p:pic>
        <p:nvPicPr>
          <p:cNvPr id="6" name="Image 0" descr="/Users/jchambard/Documents/Projects/tutelum-pitch-deck/Joh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996696"/>
            <a:ext cx="822960" cy="822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18745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Chambard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57200" y="22585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 ·  Co-Founder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2551176"/>
            <a:ext cx="2340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infrastructure and enterprise compliance tooling at NETSYNC; Saw how emerging regulations around agents creates a need for AI auditing.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0080" y="3282696"/>
            <a:ext cx="2011680" cy="18288"/>
          </a:xfrm>
          <a:prstGeom prst="rect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3355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 Sci @ Purdue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3611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IT @ Phillips66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388620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linkedin.com/in/john-chambard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0" y="868680"/>
            <a:ext cx="2560320" cy="3200400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00400" y="868680"/>
            <a:ext cx="2560320" cy="45720"/>
          </a:xfrm>
          <a:prstGeom prst="rect">
            <a:avLst/>
          </a:prstGeom>
          <a:solidFill>
            <a:srgbClr val="4B8EF8"/>
          </a:solidFill>
          <a:ln w="12700">
            <a:solidFill>
              <a:srgbClr val="4B8EF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69080" y="996696"/>
            <a:ext cx="822960" cy="822960"/>
          </a:xfrm>
          <a:prstGeom prst="ellipse">
            <a:avLst/>
          </a:prstGeom>
          <a:solidFill>
            <a:srgbClr val="0D3D3A"/>
          </a:solidFill>
          <a:ln w="19050">
            <a:solidFill>
              <a:srgbClr val="4B8EF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069080" y="99669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3291840" y="18745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Harsha Potta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3291840" y="22585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 ·  Co-Founder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310128" y="2551176"/>
            <a:ext cx="2340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developer tooling at NETSYNC for platform tools; Knows exactly where governance gaps open up when developers get API access.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3474720" y="3282696"/>
            <a:ext cx="2011680" cy="18288"/>
          </a:xfrm>
          <a:prstGeom prst="rect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291840" y="3355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 Sci @ UT Austin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3291840" y="3611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 @ HPE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291840" y="388620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linkedin.com/in/sri-harsha-potta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035040" y="868680"/>
            <a:ext cx="2560320" cy="3200400"/>
          </a:xfrm>
          <a:prstGeom prst="rect">
            <a:avLst/>
          </a:prstGeom>
          <a:solidFill>
            <a:srgbClr val="1A2235"/>
          </a:solidFill>
          <a:ln w="9525">
            <a:solidFill>
              <a:srgbClr val="232E4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035040" y="868680"/>
            <a:ext cx="2560320" cy="45720"/>
          </a:xfrm>
          <a:prstGeom prst="rect">
            <a:avLst/>
          </a:prstGeom>
          <a:solidFill>
            <a:srgbClr val="4B8EF8"/>
          </a:solidFill>
          <a:ln w="12700">
            <a:solidFill>
              <a:srgbClr val="4B8EF8"/>
            </a:solidFill>
            <a:prstDash val="solid"/>
          </a:ln>
        </p:spPr>
      </p:sp>
      <p:pic>
        <p:nvPicPr>
          <p:cNvPr id="27" name="Image 1" descr="/Users/jchambard/Documents/Projects/tutelum-pitch-deck/Am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996696"/>
            <a:ext cx="822960" cy="82296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6126480" y="18745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Amar Nangia</a:t>
            </a: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6126480" y="22585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 ·  Co-Founder</a:t>
            </a:r>
            <a:endParaRPr lang="en-US" sz="1400" dirty="0"/>
          </a:p>
        </p:txBody>
      </p:sp>
      <p:sp>
        <p:nvSpPr>
          <p:cNvPr id="30" name="Text 26"/>
          <p:cNvSpPr/>
          <p:nvPr/>
        </p:nvSpPr>
        <p:spPr>
          <a:xfrm>
            <a:off x="6144768" y="2551176"/>
            <a:ext cx="23408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on agent fleet deployments at NETSYNC; Saw the control gap firsthand: agents with access and nothing governing them.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6309360" y="3282696"/>
            <a:ext cx="2011680" cy="18288"/>
          </a:xfrm>
          <a:prstGeom prst="rect">
            <a:avLst/>
          </a:prstGeom>
          <a:solidFill>
            <a:srgbClr val="5A6E8A"/>
          </a:solidFill>
          <a:ln w="12700">
            <a:solidFill>
              <a:srgbClr val="5A6E8A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126480" y="3355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 Sci @ Georgia Tech</a:t>
            </a:r>
            <a:endParaRPr lang="en-US" sz="1300" dirty="0"/>
          </a:p>
        </p:txBody>
      </p:sp>
      <p:sp>
        <p:nvSpPr>
          <p:cNvPr id="33" name="Text 29"/>
          <p:cNvSpPr/>
          <p:nvPr/>
        </p:nvSpPr>
        <p:spPr>
          <a:xfrm>
            <a:off x="6126480" y="3611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 @ LinkedIn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6126480" y="388620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linkedin.com/in/amar-nangia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365760" y="4133088"/>
            <a:ext cx="8412480" cy="914400"/>
          </a:xfrm>
          <a:prstGeom prst="rect">
            <a:avLst/>
          </a:prstGeom>
          <a:solidFill>
            <a:srgbClr val="0A0F1A"/>
          </a:solidFill>
          <a:ln w="9525">
            <a:solidFill>
              <a:srgbClr val="1E3050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594360" y="4178808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built together for six years: hackathons, UIL competitive programming, a school app used by thousands, and internships at NETSYNC. Tutelum started when we saw firsthand how easy it was to give agents powerful API access with almost no financial safeguards.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$150K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 ·  Accelerator Round  ·  SAFE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704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months runway  ·  5 enterprise pilot LOIs  ·  EU AI Act compliance launch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1572768"/>
            <a:ext cx="2697480" cy="1371600"/>
          </a:xfrm>
          <a:prstGeom prst="rect">
            <a:avLst/>
          </a:prstGeom>
          <a:solidFill>
            <a:srgbClr val="0D1628"/>
          </a:solidFill>
          <a:ln w="9525">
            <a:solidFill>
              <a:srgbClr val="2D5B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572768"/>
            <a:ext cx="2697480" cy="45720"/>
          </a:xfrm>
          <a:prstGeom prst="rect">
            <a:avLst/>
          </a:prstGeom>
          <a:solidFill>
            <a:srgbClr val="4B8EF8"/>
          </a:solidFill>
          <a:ln w="12700">
            <a:solidFill>
              <a:srgbClr val="4B8E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00784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2084832"/>
            <a:ext cx="2423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Pre-seed SAFE to fund 12 months of engineering, 5 pilot LOIs, and SOC 2 certification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91840" y="1572768"/>
            <a:ext cx="2697480" cy="1371600"/>
          </a:xfrm>
          <a:prstGeom prst="rect">
            <a:avLst/>
          </a:prstGeom>
          <a:solidFill>
            <a:srgbClr val="0D1628"/>
          </a:solidFill>
          <a:ln w="9525">
            <a:solidFill>
              <a:srgbClr val="2D5B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91840" y="1572768"/>
            <a:ext cx="2697480" cy="45720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1700784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Mentors &amp; Network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29000" y="2084832"/>
            <a:ext cx="2423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Intros to enterprise prospects · EU regulatory advisors · dev community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1572768"/>
            <a:ext cx="2697480" cy="1371600"/>
          </a:xfrm>
          <a:prstGeom prst="rect">
            <a:avLst/>
          </a:prstGeom>
          <a:solidFill>
            <a:srgbClr val="0D1628"/>
          </a:solidFill>
          <a:ln w="9525">
            <a:solidFill>
              <a:srgbClr val="2D5B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572768"/>
            <a:ext cx="269748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1700784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Accelerator Value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084832"/>
            <a:ext cx="2423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companies as early customers · enterprise sales credibility · co-investor intros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14400" y="3703320"/>
            <a:ext cx="6400800" cy="36576"/>
          </a:xfrm>
          <a:prstGeom prst="rect">
            <a:avLst/>
          </a:prstGeom>
          <a:solidFill>
            <a:srgbClr val="2D5BB8"/>
          </a:solidFill>
          <a:ln w="12700">
            <a:solidFill>
              <a:srgbClr val="2D5B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09928" y="3621024"/>
            <a:ext cx="201168" cy="201168"/>
          </a:xfrm>
          <a:prstGeom prst="ellipse">
            <a:avLst/>
          </a:prstGeom>
          <a:solidFill>
            <a:srgbClr val="4B8EF8"/>
          </a:solidFill>
          <a:ln w="19050">
            <a:solidFill>
              <a:srgbClr val="4B8E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0906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RAISE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14400" y="331012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14400" y="385876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pilot LOIs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live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813048" y="3621024"/>
            <a:ext cx="201168" cy="201168"/>
          </a:xfrm>
          <a:prstGeom prst="ellipse">
            <a:avLst/>
          </a:prstGeom>
          <a:solidFill>
            <a:srgbClr val="000000"/>
          </a:solidFill>
          <a:ln w="19050">
            <a:solidFill>
              <a:srgbClr val="4B8E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017520" y="30906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017520" y="331012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$200K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3017520" y="385876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paying pilots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ARR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16168" y="3621024"/>
            <a:ext cx="201168" cy="201168"/>
          </a:xfrm>
          <a:prstGeom prst="ellipse">
            <a:avLst/>
          </a:prstGeom>
          <a:solidFill>
            <a:srgbClr val="000000"/>
          </a:solidFill>
          <a:ln w="19050">
            <a:solidFill>
              <a:srgbClr val="4B8E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0640" y="30906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0640" y="331012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$1.5M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120640" y="385876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seed raise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market launch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019288" y="3621024"/>
            <a:ext cx="201168" cy="201168"/>
          </a:xfrm>
          <a:prstGeom prst="ellipse">
            <a:avLst/>
          </a:prstGeom>
          <a:solidFill>
            <a:srgbClr val="000000"/>
          </a:solidFill>
          <a:ln w="19050">
            <a:solidFill>
              <a:srgbClr val="4B8EF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23760" y="309067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DEPLOYS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223760" y="331012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$3.5M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7223760" y="3858768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200+ accounts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per-tx revenue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435254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AB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Allocation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457200" y="4626864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8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 45%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029968" y="4654296"/>
            <a:ext cx="3474720" cy="914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29968" y="4654296"/>
            <a:ext cx="1563624" cy="91440"/>
          </a:xfrm>
          <a:prstGeom prst="rect">
            <a:avLst/>
          </a:prstGeom>
          <a:solidFill>
            <a:srgbClr val="4B8EF8"/>
          </a:solidFill>
          <a:ln w="12700">
            <a:solidFill>
              <a:srgbClr val="4B8EF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32704" y="4626864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 hardening · EU AI Act modules · SSO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4791456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B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 GTM  30%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029968" y="4818888"/>
            <a:ext cx="3474720" cy="914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029968" y="4818888"/>
            <a:ext cx="1042416" cy="91440"/>
          </a:xfrm>
          <a:prstGeom prst="rect">
            <a:avLst/>
          </a:prstGeom>
          <a:solidFill>
            <a:srgbClr val="7CB4F8"/>
          </a:solidFill>
          <a:ln w="12700">
            <a:solidFill>
              <a:srgbClr val="7CB4F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32704" y="4791456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sales · developer community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57200" y="4956048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7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 25%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029968" y="4983480"/>
            <a:ext cx="3474720" cy="914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029968" y="4983480"/>
            <a:ext cx="868680" cy="91440"/>
          </a:xfrm>
          <a:prstGeom prst="rect">
            <a:avLst/>
          </a:prstGeom>
          <a:solidFill>
            <a:srgbClr val="4A7ACC"/>
          </a:solidFill>
          <a:ln w="12700">
            <a:solidFill>
              <a:srgbClr val="4A7A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632704" y="4956048"/>
            <a:ext cx="2962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· EU AI Act prep · infra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Tutelum Pre-Seed Pitch Deck</dc:title>
  <dc:subject>PptxGenJS Presentation</dc:subject>
  <dc:creator>PptxGenJS</dc:creator>
  <cp:lastModifiedBy>PptxGenJS</cp:lastModifiedBy>
  <cp:revision>1</cp:revision>
  <dcterms:created xsi:type="dcterms:W3CDTF">2026-04-04T06:04:17Z</dcterms:created>
  <dcterms:modified xsi:type="dcterms:W3CDTF">2026-04-04T06:04:17Z</dcterms:modified>
</cp:coreProperties>
</file>