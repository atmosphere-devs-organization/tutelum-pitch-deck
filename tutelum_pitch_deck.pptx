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jchambard/Documents/Projects/tutelum-pitch-deck/Tutelum_Logo.png">    </p:cNvPr>
          <p:cNvPicPr>
            <a:picLocks noChangeAspect="1"/>
          </p:cNvPicPr>
          <p:nvPr/>
        </p:nvPicPr>
        <p:blipFill>
          <a:blip r:embed="rId1"/>
          <a:stretch>
            <a:fillRect/>
          </a:stretch>
        </p:blipFill>
        <p:spPr>
          <a:xfrm>
            <a:off x="2514600" y="91440"/>
            <a:ext cx="4114800" cy="4114800"/>
          </a:xfrm>
          <a:prstGeom prst="rect">
            <a:avLst/>
          </a:prstGeom>
        </p:spPr>
      </p:pic>
      <p:sp>
        <p:nvSpPr>
          <p:cNvPr id="3" name="Text 0"/>
          <p:cNvSpPr/>
          <p:nvPr/>
        </p:nvSpPr>
        <p:spPr>
          <a:xfrm>
            <a:off x="457200" y="3017520"/>
            <a:ext cx="8229600" cy="640080"/>
          </a:xfrm>
          <a:prstGeom prst="rect">
            <a:avLst/>
          </a:prstGeom>
          <a:noFill/>
          <a:ln/>
        </p:spPr>
        <p:txBody>
          <a:bodyPr wrap="square"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The Financial Control Layer for Enterprise AI Agents</a:t>
            </a:r>
            <a:endParaRPr lang="en-US" sz="2100" dirty="0"/>
          </a:p>
        </p:txBody>
      </p:sp>
      <p:sp>
        <p:nvSpPr>
          <p:cNvPr id="4" name="Text 1"/>
          <p:cNvSpPr/>
          <p:nvPr/>
        </p:nvSpPr>
        <p:spPr>
          <a:xfrm>
            <a:off x="457200" y="3703320"/>
            <a:ext cx="8229600" cy="347472"/>
          </a:xfrm>
          <a:prstGeom prst="rect">
            <a:avLst/>
          </a:prstGeom>
          <a:noFill/>
          <a:ln/>
        </p:spPr>
        <p:txBody>
          <a:bodyPr wrap="square" rtlCol="0" anchor="ctr"/>
          <a:lstStyle/>
          <a:p>
            <a:pPr algn="ctr" indent="0" marL="0">
              <a:buNone/>
            </a:pPr>
            <a:r>
              <a:rPr lang="en-US" sz="1300" dirty="0">
                <a:solidFill>
                  <a:srgbClr val="8A9BBE"/>
                </a:solidFill>
                <a:latin typeface="Calibri" pitchFamily="34" charset="0"/>
                <a:ea typeface="Calibri" pitchFamily="34" charset="-122"/>
                <a:cs typeface="Calibri" pitchFamily="34" charset="-120"/>
              </a:rPr>
              <a:t>Governing every payment  ·  Enforcing every policy  ·  Immutable audit trail</a:t>
            </a:r>
            <a:endParaRPr lang="en-US" sz="1300" dirty="0"/>
          </a:p>
        </p:txBody>
      </p:sp>
      <p:sp>
        <p:nvSpPr>
          <p:cNvPr id="5" name="Text 2"/>
          <p:cNvSpPr/>
          <p:nvPr/>
        </p:nvSpPr>
        <p:spPr>
          <a:xfrm>
            <a:off x="457200" y="4114800"/>
            <a:ext cx="8229600" cy="274320"/>
          </a:xfrm>
          <a:prstGeom prst="rect">
            <a:avLst/>
          </a:prstGeom>
          <a:noFill/>
          <a:ln/>
        </p:spPr>
        <p:txBody>
          <a:bodyPr wrap="square" rtlCol="0" anchor="ctr"/>
          <a:lstStyle/>
          <a:p>
            <a:pPr algn="ctr" indent="0" marL="0">
              <a:buNone/>
            </a:pPr>
            <a:r>
              <a:rPr lang="en-US" sz="1100" dirty="0">
                <a:solidFill>
                  <a:srgbClr val="4B8EF8"/>
                </a:solidFill>
                <a:latin typeface="Calibri" pitchFamily="34" charset="0"/>
                <a:ea typeface="Calibri" pitchFamily="34" charset="-122"/>
                <a:cs typeface="Calibri" pitchFamily="34" charset="-120"/>
              </a:rPr>
              <a:t>Pre-Seed  ·  2026</a:t>
            </a:r>
            <a:endParaRPr lang="en-US" sz="1100" dirty="0"/>
          </a:p>
        </p:txBody>
      </p:sp>
      <p:sp>
        <p:nvSpPr>
          <p:cNvPr id="6" name="Text 3"/>
          <p:cNvSpPr/>
          <p:nvPr/>
        </p:nvSpPr>
        <p:spPr>
          <a:xfrm>
            <a:off x="6858000" y="4846320"/>
            <a:ext cx="2103120" cy="201168"/>
          </a:xfrm>
          <a:prstGeom prst="rect">
            <a:avLst/>
          </a:prstGeom>
          <a:noFill/>
          <a:ln/>
        </p:spPr>
        <p:txBody>
          <a:bodyPr wrap="square" lIns="0" tIns="0" rIns="0" bIns="0" rtlCol="0" anchor="ctr"/>
          <a:lstStyle/>
          <a:p>
            <a:pPr algn="r" indent="0" marL="0">
              <a:buNone/>
            </a:pPr>
            <a:r>
              <a:rPr lang="en-US" sz="900" dirty="0">
                <a:solidFill>
                  <a:srgbClr val="3D4E66"/>
                </a:solidFill>
                <a:latin typeface="Calibri" pitchFamily="34" charset="0"/>
                <a:ea typeface="Calibri" pitchFamily="34" charset="-122"/>
                <a:cs typeface="Calibri" pitchFamily="34" charset="-120"/>
              </a:rPr>
              <a:t>john@tutelum.ai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2 / 12</a:t>
            </a:r>
            <a:endParaRPr lang="en-US" sz="800" dirty="0"/>
          </a:p>
        </p:txBody>
      </p:sp>
      <p:sp>
        <p:nvSpPr>
          <p:cNvPr id="3" name="Text 1"/>
          <p:cNvSpPr/>
          <p:nvPr/>
        </p:nvSpPr>
        <p:spPr>
          <a:xfrm>
            <a:off x="457200" y="182880"/>
            <a:ext cx="8229600" cy="594360"/>
          </a:xfrm>
          <a:prstGeom prst="rect">
            <a:avLst/>
          </a:prstGeom>
          <a:noFill/>
          <a:ln/>
        </p:spPr>
        <p:txBody>
          <a:bodyPr wrap="square"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AI Agents Are Spending Real Money. With Zero Control.</a:t>
            </a:r>
            <a:endParaRPr lang="en-US" sz="2700" dirty="0"/>
          </a:p>
        </p:txBody>
      </p:sp>
      <p:sp>
        <p:nvSpPr>
          <p:cNvPr id="4" name="Shape 2"/>
          <p:cNvSpPr/>
          <p:nvPr/>
        </p:nvSpPr>
        <p:spPr>
          <a:xfrm>
            <a:off x="365760" y="914400"/>
            <a:ext cx="3931920" cy="1600200"/>
          </a:xfrm>
          <a:prstGeom prst="rect">
            <a:avLst/>
          </a:prstGeom>
          <a:solidFill>
            <a:srgbClr val="1A2235"/>
          </a:solidFill>
          <a:ln w="9525">
            <a:solidFill>
              <a:srgbClr val="232E45"/>
            </a:solidFill>
            <a:prstDash val="solid"/>
          </a:ln>
        </p:spPr>
      </p:sp>
      <p:sp>
        <p:nvSpPr>
          <p:cNvPr id="5" name="Shape 3"/>
          <p:cNvSpPr/>
          <p:nvPr/>
        </p:nvSpPr>
        <p:spPr>
          <a:xfrm>
            <a:off x="365760" y="914400"/>
            <a:ext cx="45720" cy="1600200"/>
          </a:xfrm>
          <a:prstGeom prst="rect">
            <a:avLst/>
          </a:prstGeom>
          <a:solidFill>
            <a:srgbClr val="4B8EF8"/>
          </a:solidFill>
          <a:ln w="12700">
            <a:solidFill>
              <a:srgbClr val="4B8EF8"/>
            </a:solidFill>
            <a:prstDash val="solid"/>
          </a:ln>
        </p:spPr>
      </p:sp>
      <p:sp>
        <p:nvSpPr>
          <p:cNvPr id="6" name="Text 4"/>
          <p:cNvSpPr/>
          <p:nvPr/>
        </p:nvSpPr>
        <p:spPr>
          <a:xfrm>
            <a:off x="566928" y="1097280"/>
            <a:ext cx="36118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Visibility</a:t>
            </a:r>
            <a:endParaRPr lang="en-US" sz="1500" dirty="0"/>
          </a:p>
        </p:txBody>
      </p:sp>
      <p:sp>
        <p:nvSpPr>
          <p:cNvPr id="7" name="Text 5"/>
          <p:cNvSpPr/>
          <p:nvPr/>
        </p:nvSpPr>
        <p:spPr>
          <a:xfrm>
            <a:off x="566928" y="1463040"/>
            <a:ext cx="3611880" cy="914400"/>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VP Engineering can't see what their agent fleet is spending, when, or why.</a:t>
            </a:r>
            <a:endParaRPr lang="en-US" sz="1100" dirty="0"/>
          </a:p>
        </p:txBody>
      </p:sp>
      <p:sp>
        <p:nvSpPr>
          <p:cNvPr id="8" name="Shape 6"/>
          <p:cNvSpPr/>
          <p:nvPr/>
        </p:nvSpPr>
        <p:spPr>
          <a:xfrm>
            <a:off x="4800600" y="914400"/>
            <a:ext cx="3931920" cy="1600200"/>
          </a:xfrm>
          <a:prstGeom prst="rect">
            <a:avLst/>
          </a:prstGeom>
          <a:solidFill>
            <a:srgbClr val="1A2235"/>
          </a:solidFill>
          <a:ln w="9525">
            <a:solidFill>
              <a:srgbClr val="232E45"/>
            </a:solidFill>
            <a:prstDash val="solid"/>
          </a:ln>
        </p:spPr>
      </p:sp>
      <p:sp>
        <p:nvSpPr>
          <p:cNvPr id="9" name="Shape 7"/>
          <p:cNvSpPr/>
          <p:nvPr/>
        </p:nvSpPr>
        <p:spPr>
          <a:xfrm>
            <a:off x="4800600" y="914400"/>
            <a:ext cx="45720" cy="1600200"/>
          </a:xfrm>
          <a:prstGeom prst="rect">
            <a:avLst/>
          </a:prstGeom>
          <a:solidFill>
            <a:srgbClr val="4B8EF8"/>
          </a:solidFill>
          <a:ln w="12700">
            <a:solidFill>
              <a:srgbClr val="4B8EF8"/>
            </a:solidFill>
            <a:prstDash val="solid"/>
          </a:ln>
        </p:spPr>
      </p:sp>
      <p:sp>
        <p:nvSpPr>
          <p:cNvPr id="10" name="Text 8"/>
          <p:cNvSpPr/>
          <p:nvPr/>
        </p:nvSpPr>
        <p:spPr>
          <a:xfrm>
            <a:off x="5001768" y="1097280"/>
            <a:ext cx="36118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Policy Enforcement</a:t>
            </a:r>
            <a:endParaRPr lang="en-US" sz="1500" dirty="0"/>
          </a:p>
        </p:txBody>
      </p:sp>
      <p:sp>
        <p:nvSpPr>
          <p:cNvPr id="11" name="Text 9"/>
          <p:cNvSpPr/>
          <p:nvPr/>
        </p:nvSpPr>
        <p:spPr>
          <a:xfrm>
            <a:off x="5001768" y="1463040"/>
            <a:ext cx="3611880" cy="914400"/>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Any agent can call any API, pay any destination, at any amount. No rules. No limits.</a:t>
            </a:r>
            <a:endParaRPr lang="en-US" sz="1100" dirty="0"/>
          </a:p>
        </p:txBody>
      </p:sp>
      <p:sp>
        <p:nvSpPr>
          <p:cNvPr id="12" name="Shape 10"/>
          <p:cNvSpPr/>
          <p:nvPr/>
        </p:nvSpPr>
        <p:spPr>
          <a:xfrm>
            <a:off x="365760" y="2697480"/>
            <a:ext cx="3931920" cy="1600200"/>
          </a:xfrm>
          <a:prstGeom prst="rect">
            <a:avLst/>
          </a:prstGeom>
          <a:solidFill>
            <a:srgbClr val="1A2235"/>
          </a:solidFill>
          <a:ln w="9525">
            <a:solidFill>
              <a:srgbClr val="232E45"/>
            </a:solidFill>
            <a:prstDash val="solid"/>
          </a:ln>
        </p:spPr>
      </p:sp>
      <p:sp>
        <p:nvSpPr>
          <p:cNvPr id="13" name="Shape 11"/>
          <p:cNvSpPr/>
          <p:nvPr/>
        </p:nvSpPr>
        <p:spPr>
          <a:xfrm>
            <a:off x="365760" y="2697480"/>
            <a:ext cx="45720" cy="1600200"/>
          </a:xfrm>
          <a:prstGeom prst="rect">
            <a:avLst/>
          </a:prstGeom>
          <a:solidFill>
            <a:srgbClr val="4B8EF8"/>
          </a:solidFill>
          <a:ln w="12700">
            <a:solidFill>
              <a:srgbClr val="4B8EF8"/>
            </a:solidFill>
            <a:prstDash val="solid"/>
          </a:ln>
        </p:spPr>
      </p:sp>
      <p:sp>
        <p:nvSpPr>
          <p:cNvPr id="14" name="Text 12"/>
          <p:cNvSpPr/>
          <p:nvPr/>
        </p:nvSpPr>
        <p:spPr>
          <a:xfrm>
            <a:off x="566928" y="2880360"/>
            <a:ext cx="36118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Prompt Injection Risk</a:t>
            </a:r>
            <a:endParaRPr lang="en-US" sz="1500" dirty="0"/>
          </a:p>
        </p:txBody>
      </p:sp>
      <p:sp>
        <p:nvSpPr>
          <p:cNvPr id="15" name="Text 13"/>
          <p:cNvSpPr/>
          <p:nvPr/>
        </p:nvSpPr>
        <p:spPr>
          <a:xfrm>
            <a:off x="566928" y="3246120"/>
            <a:ext cx="3611880" cy="914400"/>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Agents can be manipulated by malicious content in the web pages or APIs they interact with, redirecting payments without any human ever knowing.</a:t>
            </a:r>
            <a:endParaRPr lang="en-US" sz="1100" dirty="0"/>
          </a:p>
        </p:txBody>
      </p:sp>
      <p:sp>
        <p:nvSpPr>
          <p:cNvPr id="16" name="Shape 14"/>
          <p:cNvSpPr/>
          <p:nvPr/>
        </p:nvSpPr>
        <p:spPr>
          <a:xfrm>
            <a:off x="4800600" y="2697480"/>
            <a:ext cx="3931920" cy="1600200"/>
          </a:xfrm>
          <a:prstGeom prst="rect">
            <a:avLst/>
          </a:prstGeom>
          <a:solidFill>
            <a:srgbClr val="1A2235"/>
          </a:solidFill>
          <a:ln w="9525">
            <a:solidFill>
              <a:srgbClr val="232E45"/>
            </a:solidFill>
            <a:prstDash val="solid"/>
          </a:ln>
        </p:spPr>
      </p:sp>
      <p:sp>
        <p:nvSpPr>
          <p:cNvPr id="17" name="Shape 15"/>
          <p:cNvSpPr/>
          <p:nvPr/>
        </p:nvSpPr>
        <p:spPr>
          <a:xfrm>
            <a:off x="4800600" y="2697480"/>
            <a:ext cx="45720" cy="1600200"/>
          </a:xfrm>
          <a:prstGeom prst="rect">
            <a:avLst/>
          </a:prstGeom>
          <a:solidFill>
            <a:srgbClr val="4B8EF8"/>
          </a:solidFill>
          <a:ln w="12700">
            <a:solidFill>
              <a:srgbClr val="4B8EF8"/>
            </a:solidFill>
            <a:prstDash val="solid"/>
          </a:ln>
        </p:spPr>
      </p:sp>
      <p:sp>
        <p:nvSpPr>
          <p:cNvPr id="18" name="Text 16"/>
          <p:cNvSpPr/>
          <p:nvPr/>
        </p:nvSpPr>
        <p:spPr>
          <a:xfrm>
            <a:off x="5001768" y="2880360"/>
            <a:ext cx="36118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Audit Trail</a:t>
            </a:r>
            <a:endParaRPr lang="en-US" sz="1500" dirty="0"/>
          </a:p>
        </p:txBody>
      </p:sp>
      <p:sp>
        <p:nvSpPr>
          <p:cNvPr id="19" name="Text 17"/>
          <p:cNvSpPr/>
          <p:nvPr/>
        </p:nvSpPr>
        <p:spPr>
          <a:xfrm>
            <a:off x="5001768" y="3246120"/>
            <a:ext cx="3611880" cy="914400"/>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Finance and Compliance have no cryptographic record of agent transactions.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3 / 12</a:t>
            </a:r>
            <a:endParaRPr lang="en-US" sz="800" dirty="0"/>
          </a:p>
        </p:txBody>
      </p:sp>
      <p:sp>
        <p:nvSpPr>
          <p:cNvPr id="3" name="Text 1"/>
          <p:cNvSpPr/>
          <p:nvPr/>
        </p:nvSpPr>
        <p:spPr>
          <a:xfrm>
            <a:off x="457200" y="164592"/>
            <a:ext cx="8229600" cy="530352"/>
          </a:xfrm>
          <a:prstGeom prst="rect">
            <a:avLst/>
          </a:prstGeom>
          <a:noFill/>
          <a:ln/>
        </p:spPr>
        <p:txBody>
          <a:bodyPr wrap="square"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Real Incidents. Real Losses. No Controls.</a:t>
            </a:r>
            <a:endParaRPr lang="en-US" sz="2700" dirty="0"/>
          </a:p>
        </p:txBody>
      </p:sp>
      <p:sp>
        <p:nvSpPr>
          <p:cNvPr id="4" name="Text 2"/>
          <p:cNvSpPr/>
          <p:nvPr/>
        </p:nvSpPr>
        <p:spPr>
          <a:xfrm>
            <a:off x="685800" y="731520"/>
            <a:ext cx="7772400" cy="347472"/>
          </a:xfrm>
          <a:prstGeom prst="rect">
            <a:avLst/>
          </a:prstGeom>
          <a:noFill/>
          <a:ln/>
        </p:spPr>
        <p:txBody>
          <a:bodyPr wrap="square" rtlCol="0" anchor="ctr"/>
          <a:lstStyle/>
          <a:p>
            <a:pPr algn="ctr" indent="0" marL="0">
              <a:buNone/>
            </a:pPr>
            <a:r>
              <a:rPr lang="en-US" sz="1150" dirty="0">
                <a:solidFill>
                  <a:srgbClr val="8A9BBE"/>
                </a:solidFill>
                <a:latin typeface="Calibri" pitchFamily="34" charset="0"/>
                <a:ea typeface="Calibri" pitchFamily="34" charset="-122"/>
                <a:cs typeface="Calibri" pitchFamily="34" charset="-120"/>
              </a:rPr>
              <a:t>These aren't hypotheticals — they've already happened across on-chain agents and AI shopping systems.</a:t>
            </a:r>
            <a:endParaRPr lang="en-US" sz="1150" dirty="0"/>
          </a:p>
        </p:txBody>
      </p:sp>
      <p:sp>
        <p:nvSpPr>
          <p:cNvPr id="5" name="Shape 3"/>
          <p:cNvSpPr/>
          <p:nvPr/>
        </p:nvSpPr>
        <p:spPr>
          <a:xfrm>
            <a:off x="411480" y="1234440"/>
            <a:ext cx="2651760" cy="3611880"/>
          </a:xfrm>
          <a:prstGeom prst="rect">
            <a:avLst/>
          </a:prstGeom>
          <a:solidFill>
            <a:srgbClr val="1A2235"/>
          </a:solidFill>
          <a:ln w="9525">
            <a:solidFill>
              <a:srgbClr val="232E45"/>
            </a:solidFill>
            <a:prstDash val="solid"/>
          </a:ln>
        </p:spPr>
      </p:sp>
      <p:sp>
        <p:nvSpPr>
          <p:cNvPr id="6" name="Shape 4"/>
          <p:cNvSpPr/>
          <p:nvPr/>
        </p:nvSpPr>
        <p:spPr>
          <a:xfrm>
            <a:off x="411480" y="1234440"/>
            <a:ext cx="2651760" cy="45720"/>
          </a:xfrm>
          <a:prstGeom prst="rect">
            <a:avLst/>
          </a:prstGeom>
          <a:solidFill>
            <a:srgbClr val="EF4444"/>
          </a:solidFill>
          <a:ln w="12700">
            <a:solidFill>
              <a:srgbClr val="EF4444"/>
            </a:solidFill>
            <a:prstDash val="solid"/>
          </a:ln>
        </p:spPr>
      </p:sp>
      <p:sp>
        <p:nvSpPr>
          <p:cNvPr id="7" name="Text 5"/>
          <p:cNvSpPr/>
          <p:nvPr/>
        </p:nvSpPr>
        <p:spPr>
          <a:xfrm>
            <a:off x="548640" y="1362456"/>
            <a:ext cx="2377440" cy="182880"/>
          </a:xfrm>
          <a:prstGeom prst="rect">
            <a:avLst/>
          </a:prstGeom>
          <a:noFill/>
          <a:ln/>
        </p:spPr>
        <p:txBody>
          <a:bodyPr wrap="square" lIns="0" tIns="0" rIns="0" bIns="0" rtlCol="0" anchor="ctr"/>
          <a:lstStyle/>
          <a:p>
            <a:pPr indent="0" marL="0">
              <a:buNone/>
            </a:pPr>
            <a:r>
              <a:rPr lang="en-US" sz="750" b="1" spc="100" kern="0" dirty="0">
                <a:solidFill>
                  <a:srgbClr val="EF4444"/>
                </a:solidFill>
                <a:latin typeface="Calibri" pitchFamily="34" charset="0"/>
                <a:ea typeface="Calibri" pitchFamily="34" charset="-122"/>
                <a:cs typeface="Calibri" pitchFamily="34" charset="-120"/>
              </a:rPr>
              <a:t>ON-CHAIN AGENT  ·  2026</a:t>
            </a:r>
            <a:endParaRPr lang="en-US" sz="750" dirty="0"/>
          </a:p>
        </p:txBody>
      </p:sp>
      <p:sp>
        <p:nvSpPr>
          <p:cNvPr id="8" name="Text 6"/>
          <p:cNvSpPr/>
          <p:nvPr/>
        </p:nvSpPr>
        <p:spPr>
          <a:xfrm>
            <a:off x="502920" y="1600200"/>
            <a:ext cx="2468880" cy="566928"/>
          </a:xfrm>
          <a:prstGeom prst="rect">
            <a:avLst/>
          </a:prstGeom>
          <a:noFill/>
          <a:ln/>
        </p:spPr>
        <p:txBody>
          <a:bodyPr wrap="square" lIns="0" tIns="0" rIns="0" bIns="0" rtlCol="0" anchor="ctr"/>
          <a:lstStyle/>
          <a:p>
            <a:pPr algn="ctr" indent="0" marL="0">
              <a:buNone/>
            </a:pPr>
            <a:r>
              <a:rPr lang="en-US" sz="3800" b="1" dirty="0">
                <a:solidFill>
                  <a:srgbClr val="EF4444"/>
                </a:solidFill>
                <a:latin typeface="Calibri" pitchFamily="34" charset="0"/>
                <a:ea typeface="Calibri" pitchFamily="34" charset="-122"/>
                <a:cs typeface="Calibri" pitchFamily="34" charset="-120"/>
              </a:rPr>
              <a:t>$250K</a:t>
            </a:r>
            <a:endParaRPr lang="en-US" sz="3800" dirty="0"/>
          </a:p>
        </p:txBody>
      </p:sp>
      <p:sp>
        <p:nvSpPr>
          <p:cNvPr id="9" name="Text 7"/>
          <p:cNvSpPr/>
          <p:nvPr/>
        </p:nvSpPr>
        <p:spPr>
          <a:xfrm>
            <a:off x="502920" y="2185416"/>
            <a:ext cx="2468880" cy="237744"/>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lost in a single tx</a:t>
            </a:r>
            <a:endParaRPr lang="en-US" sz="950" dirty="0"/>
          </a:p>
        </p:txBody>
      </p:sp>
      <p:sp>
        <p:nvSpPr>
          <p:cNvPr id="10" name="Text 8"/>
          <p:cNvSpPr/>
          <p:nvPr/>
        </p:nvSpPr>
        <p:spPr>
          <a:xfrm>
            <a:off x="548640" y="2478024"/>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Lobstar Wilde</a:t>
            </a:r>
            <a:endParaRPr lang="en-US" sz="1300" dirty="0"/>
          </a:p>
        </p:txBody>
      </p:sp>
      <p:sp>
        <p:nvSpPr>
          <p:cNvPr id="11" name="Shape 9"/>
          <p:cNvSpPr/>
          <p:nvPr/>
        </p:nvSpPr>
        <p:spPr>
          <a:xfrm>
            <a:off x="548640" y="2825496"/>
            <a:ext cx="2377440" cy="18288"/>
          </a:xfrm>
          <a:prstGeom prst="rect">
            <a:avLst/>
          </a:prstGeom>
          <a:solidFill>
            <a:srgbClr val="3D4E66"/>
          </a:solidFill>
          <a:ln w="12700">
            <a:solidFill>
              <a:srgbClr val="3D4E66"/>
            </a:solidFill>
            <a:prstDash val="solid"/>
          </a:ln>
        </p:spPr>
      </p:sp>
      <p:sp>
        <p:nvSpPr>
          <p:cNvPr id="12" name="Text 10"/>
          <p:cNvSpPr/>
          <p:nvPr/>
        </p:nvSpPr>
        <p:spPr>
          <a:xfrm>
            <a:off x="548640" y="2916936"/>
            <a:ext cx="2377440" cy="1627632"/>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An autonomous AI trading agent misinterpreted a user instruction and sent ~$250K (5% of its entire treasury) to a random user who requested only ~$4 of help. The transfer was irreversible and wiped out the agent's on-chain balance.</a:t>
            </a:r>
            <a:endParaRPr lang="en-US" sz="1000" dirty="0"/>
          </a:p>
        </p:txBody>
      </p:sp>
      <p:sp>
        <p:nvSpPr>
          <p:cNvPr id="13" name="Text 11"/>
          <p:cNvSpPr/>
          <p:nvPr/>
        </p:nvSpPr>
        <p:spPr>
          <a:xfrm>
            <a:off x="502920" y="4608576"/>
            <a:ext cx="2468880"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Reported 2026</a:t>
            </a:r>
            <a:endParaRPr lang="en-US" sz="750" dirty="0"/>
          </a:p>
        </p:txBody>
      </p:sp>
      <p:sp>
        <p:nvSpPr>
          <p:cNvPr id="14" name="Shape 12"/>
          <p:cNvSpPr/>
          <p:nvPr/>
        </p:nvSpPr>
        <p:spPr>
          <a:xfrm>
            <a:off x="3337560" y="1234440"/>
            <a:ext cx="2651760" cy="3611880"/>
          </a:xfrm>
          <a:prstGeom prst="rect">
            <a:avLst/>
          </a:prstGeom>
          <a:solidFill>
            <a:srgbClr val="1A2235"/>
          </a:solidFill>
          <a:ln w="9525">
            <a:solidFill>
              <a:srgbClr val="232E45"/>
            </a:solidFill>
            <a:prstDash val="solid"/>
          </a:ln>
        </p:spPr>
      </p:sp>
      <p:sp>
        <p:nvSpPr>
          <p:cNvPr id="15" name="Shape 13"/>
          <p:cNvSpPr/>
          <p:nvPr/>
        </p:nvSpPr>
        <p:spPr>
          <a:xfrm>
            <a:off x="3337560" y="1234440"/>
            <a:ext cx="2651760" cy="45720"/>
          </a:xfrm>
          <a:prstGeom prst="rect">
            <a:avLst/>
          </a:prstGeom>
          <a:solidFill>
            <a:srgbClr val="F59E0B"/>
          </a:solidFill>
          <a:ln w="12700">
            <a:solidFill>
              <a:srgbClr val="F59E0B"/>
            </a:solidFill>
            <a:prstDash val="solid"/>
          </a:ln>
        </p:spPr>
      </p:sp>
      <p:sp>
        <p:nvSpPr>
          <p:cNvPr id="16" name="Text 14"/>
          <p:cNvSpPr/>
          <p:nvPr/>
        </p:nvSpPr>
        <p:spPr>
          <a:xfrm>
            <a:off x="3474720" y="1362456"/>
            <a:ext cx="2377440" cy="182880"/>
          </a:xfrm>
          <a:prstGeom prst="rect">
            <a:avLst/>
          </a:prstGeom>
          <a:noFill/>
          <a:ln/>
        </p:spPr>
        <p:txBody>
          <a:bodyPr wrap="square" lIns="0" tIns="0" rIns="0" bIns="0" rtlCol="0" anchor="ctr"/>
          <a:lstStyle/>
          <a:p>
            <a:pPr indent="0" marL="0">
              <a:buNone/>
            </a:pPr>
            <a:r>
              <a:rPr lang="en-US" sz="750" b="1" spc="100" kern="0" dirty="0">
                <a:solidFill>
                  <a:srgbClr val="F59E0B"/>
                </a:solidFill>
                <a:latin typeface="Calibri" pitchFamily="34" charset="0"/>
                <a:ea typeface="Calibri" pitchFamily="34" charset="-122"/>
                <a:cs typeface="Calibri" pitchFamily="34" charset="-120"/>
              </a:rPr>
              <a:t>ON-CHAIN AGENT  ·  NOV 2024</a:t>
            </a:r>
            <a:endParaRPr lang="en-US" sz="750" dirty="0"/>
          </a:p>
        </p:txBody>
      </p:sp>
      <p:sp>
        <p:nvSpPr>
          <p:cNvPr id="17" name="Text 15"/>
          <p:cNvSpPr/>
          <p:nvPr/>
        </p:nvSpPr>
        <p:spPr>
          <a:xfrm>
            <a:off x="3429000" y="1600200"/>
            <a:ext cx="2468880" cy="566928"/>
          </a:xfrm>
          <a:prstGeom prst="rect">
            <a:avLst/>
          </a:prstGeom>
          <a:noFill/>
          <a:ln/>
        </p:spPr>
        <p:txBody>
          <a:bodyPr wrap="square" lIns="0" tIns="0" rIns="0" bIns="0"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$47K</a:t>
            </a:r>
            <a:endParaRPr lang="en-US" sz="3800" dirty="0"/>
          </a:p>
        </p:txBody>
      </p:sp>
      <p:sp>
        <p:nvSpPr>
          <p:cNvPr id="18" name="Text 16"/>
          <p:cNvSpPr/>
          <p:nvPr/>
        </p:nvSpPr>
        <p:spPr>
          <a:xfrm>
            <a:off x="3429000" y="2185416"/>
            <a:ext cx="2468880" cy="237744"/>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drained via prompt injection</a:t>
            </a:r>
            <a:endParaRPr lang="en-US" sz="950" dirty="0"/>
          </a:p>
        </p:txBody>
      </p:sp>
      <p:sp>
        <p:nvSpPr>
          <p:cNvPr id="19" name="Text 17"/>
          <p:cNvSpPr/>
          <p:nvPr/>
        </p:nvSpPr>
        <p:spPr>
          <a:xfrm>
            <a:off x="3474720" y="2478024"/>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Freysa AI</a:t>
            </a:r>
            <a:endParaRPr lang="en-US" sz="1300" dirty="0"/>
          </a:p>
        </p:txBody>
      </p:sp>
      <p:sp>
        <p:nvSpPr>
          <p:cNvPr id="20" name="Shape 18"/>
          <p:cNvSpPr/>
          <p:nvPr/>
        </p:nvSpPr>
        <p:spPr>
          <a:xfrm>
            <a:off x="3474720" y="2825496"/>
            <a:ext cx="2377440" cy="18288"/>
          </a:xfrm>
          <a:prstGeom prst="rect">
            <a:avLst/>
          </a:prstGeom>
          <a:solidFill>
            <a:srgbClr val="3D4E66"/>
          </a:solidFill>
          <a:ln w="12700">
            <a:solidFill>
              <a:srgbClr val="3D4E66"/>
            </a:solidFill>
            <a:prstDash val="solid"/>
          </a:ln>
        </p:spPr>
      </p:sp>
      <p:sp>
        <p:nvSpPr>
          <p:cNvPr id="21" name="Text 19"/>
          <p:cNvSpPr/>
          <p:nvPr/>
        </p:nvSpPr>
        <p:spPr>
          <a:xfrm>
            <a:off x="3474720" y="2916936"/>
            <a:ext cx="2377440" cy="1627632"/>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Freysa was designed with a single directive: never transfer funds. After 481 failed attempts, a user injected a fake "admin terminal" override that tricked the agent into releasing 13.19 ETH from its prize pool — a textbook prompt injection at the payment layer.</a:t>
            </a:r>
            <a:endParaRPr lang="en-US" sz="1000" dirty="0"/>
          </a:p>
        </p:txBody>
      </p:sp>
      <p:sp>
        <p:nvSpPr>
          <p:cNvPr id="22" name="Text 20"/>
          <p:cNvSpPr/>
          <p:nvPr/>
        </p:nvSpPr>
        <p:spPr>
          <a:xfrm>
            <a:off x="3429000" y="4608576"/>
            <a:ext cx="2468880"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@jarrodwatts · x.com · Nov 2024</a:t>
            </a:r>
            <a:endParaRPr lang="en-US" sz="750" dirty="0"/>
          </a:p>
        </p:txBody>
      </p:sp>
      <p:sp>
        <p:nvSpPr>
          <p:cNvPr id="23" name="Shape 21"/>
          <p:cNvSpPr/>
          <p:nvPr/>
        </p:nvSpPr>
        <p:spPr>
          <a:xfrm>
            <a:off x="6263640" y="1234440"/>
            <a:ext cx="2651760" cy="3611880"/>
          </a:xfrm>
          <a:prstGeom prst="rect">
            <a:avLst/>
          </a:prstGeom>
          <a:solidFill>
            <a:srgbClr val="1A2235"/>
          </a:solidFill>
          <a:ln w="9525">
            <a:solidFill>
              <a:srgbClr val="232E45"/>
            </a:solidFill>
            <a:prstDash val="solid"/>
          </a:ln>
        </p:spPr>
      </p:sp>
      <p:sp>
        <p:nvSpPr>
          <p:cNvPr id="24" name="Shape 22"/>
          <p:cNvSpPr/>
          <p:nvPr/>
        </p:nvSpPr>
        <p:spPr>
          <a:xfrm>
            <a:off x="6263640" y="1234440"/>
            <a:ext cx="2651760" cy="45720"/>
          </a:xfrm>
          <a:prstGeom prst="rect">
            <a:avLst/>
          </a:prstGeom>
          <a:solidFill>
            <a:srgbClr val="6B7FCC"/>
          </a:solidFill>
          <a:ln w="12700">
            <a:solidFill>
              <a:srgbClr val="6B7FCC"/>
            </a:solidFill>
            <a:prstDash val="solid"/>
          </a:ln>
        </p:spPr>
      </p:sp>
      <p:sp>
        <p:nvSpPr>
          <p:cNvPr id="25" name="Text 23"/>
          <p:cNvSpPr/>
          <p:nvPr/>
        </p:nvSpPr>
        <p:spPr>
          <a:xfrm>
            <a:off x="6400800" y="1362456"/>
            <a:ext cx="2377440" cy="182880"/>
          </a:xfrm>
          <a:prstGeom prst="rect">
            <a:avLst/>
          </a:prstGeom>
          <a:noFill/>
          <a:ln/>
        </p:spPr>
        <p:txBody>
          <a:bodyPr wrap="square" lIns="0" tIns="0" rIns="0" bIns="0" rtlCol="0" anchor="ctr"/>
          <a:lstStyle/>
          <a:p>
            <a:pPr indent="0" marL="0">
              <a:buNone/>
            </a:pPr>
            <a:r>
              <a:rPr lang="en-US" sz="750" b="1" spc="100" kern="0" dirty="0">
                <a:solidFill>
                  <a:srgbClr val="6B7FCC"/>
                </a:solidFill>
                <a:latin typeface="Calibri" pitchFamily="34" charset="0"/>
                <a:ea typeface="Calibri" pitchFamily="34" charset="-122"/>
                <a:cs typeface="Calibri" pitchFamily="34" charset="-120"/>
              </a:rPr>
              <a:t>RESEARCH  ·  JAN 2025</a:t>
            </a:r>
            <a:endParaRPr lang="en-US" sz="750" dirty="0"/>
          </a:p>
        </p:txBody>
      </p:sp>
      <p:sp>
        <p:nvSpPr>
          <p:cNvPr id="26" name="Text 24"/>
          <p:cNvSpPr/>
          <p:nvPr/>
        </p:nvSpPr>
        <p:spPr>
          <a:xfrm>
            <a:off x="6355080" y="1600200"/>
            <a:ext cx="2468880" cy="566928"/>
          </a:xfrm>
          <a:prstGeom prst="rect">
            <a:avLst/>
          </a:prstGeom>
          <a:noFill/>
          <a:ln/>
        </p:spPr>
        <p:txBody>
          <a:bodyPr wrap="square" lIns="0" tIns="0" rIns="0" bIns="0" rtlCol="0" anchor="ctr"/>
          <a:lstStyle/>
          <a:p>
            <a:pPr algn="ctr" indent="0" marL="0">
              <a:buNone/>
            </a:pPr>
            <a:r>
              <a:rPr lang="en-US" sz="2800" b="1" dirty="0">
                <a:solidFill>
                  <a:srgbClr val="6B7FCC"/>
                </a:solidFill>
                <a:latin typeface="Calibri" pitchFamily="34" charset="0"/>
                <a:ea typeface="Calibri" pitchFamily="34" charset="-122"/>
                <a:cs typeface="Calibri" pitchFamily="34" charset="-120"/>
              </a:rPr>
              <a:t>Critical</a:t>
            </a:r>
            <a:endParaRPr lang="en-US" sz="2800" dirty="0"/>
          </a:p>
        </p:txBody>
      </p:sp>
      <p:sp>
        <p:nvSpPr>
          <p:cNvPr id="27" name="Text 25"/>
          <p:cNvSpPr/>
          <p:nvPr/>
        </p:nvSpPr>
        <p:spPr>
          <a:xfrm>
            <a:off x="6355080" y="2185416"/>
            <a:ext cx="2468880" cy="237744"/>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weaknesses in AP2</a:t>
            </a:r>
            <a:endParaRPr lang="en-US" sz="950" dirty="0"/>
          </a:p>
        </p:txBody>
      </p:sp>
      <p:sp>
        <p:nvSpPr>
          <p:cNvPr id="28" name="Text 26"/>
          <p:cNvSpPr/>
          <p:nvPr/>
        </p:nvSpPr>
        <p:spPr>
          <a:xfrm>
            <a:off x="6400800" y="2478024"/>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Google AP2 Vulnerabilities</a:t>
            </a:r>
            <a:endParaRPr lang="en-US" sz="1300" dirty="0"/>
          </a:p>
        </p:txBody>
      </p:sp>
      <p:sp>
        <p:nvSpPr>
          <p:cNvPr id="29" name="Shape 27"/>
          <p:cNvSpPr/>
          <p:nvPr/>
        </p:nvSpPr>
        <p:spPr>
          <a:xfrm>
            <a:off x="6400800" y="2825496"/>
            <a:ext cx="2377440" cy="18288"/>
          </a:xfrm>
          <a:prstGeom prst="rect">
            <a:avLst/>
          </a:prstGeom>
          <a:solidFill>
            <a:srgbClr val="3D4E66"/>
          </a:solidFill>
          <a:ln w="12700">
            <a:solidFill>
              <a:srgbClr val="3D4E66"/>
            </a:solidFill>
            <a:prstDash val="solid"/>
          </a:ln>
        </p:spPr>
      </p:sp>
      <p:sp>
        <p:nvSpPr>
          <p:cNvPr id="30" name="Text 28"/>
          <p:cNvSpPr/>
          <p:nvPr/>
        </p:nvSpPr>
        <p:spPr>
          <a:xfrm>
            <a:off x="6400800" y="2916936"/>
            <a:ext cx="2377440" cy="1627632"/>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Researchers red-teamed Google's Agent Payments Protocol using Branded Whisper and Vault Whisper attacks — simple adversarial prompts that reliably subvert agent behavior, manipulate purchase decisions, and extract sensitive user data from Gemini-powered shopping agents.</a:t>
            </a:r>
            <a:endParaRPr lang="en-US" sz="1000" dirty="0"/>
          </a:p>
        </p:txBody>
      </p:sp>
      <p:sp>
        <p:nvSpPr>
          <p:cNvPr id="31" name="Text 29"/>
          <p:cNvSpPr/>
          <p:nvPr/>
        </p:nvSpPr>
        <p:spPr>
          <a:xfrm>
            <a:off x="6355080" y="4608576"/>
            <a:ext cx="2468880"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arXiv:2601.22569 · Debi &amp; Zhu, 2025</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4 / 12</a:t>
            </a:r>
            <a:endParaRPr lang="en-US" sz="800" dirty="0"/>
          </a:p>
        </p:txBody>
      </p:sp>
      <p:sp>
        <p:nvSpPr>
          <p:cNvPr id="3" name="Text 1"/>
          <p:cNvSpPr/>
          <p:nvPr/>
        </p:nvSpPr>
        <p:spPr>
          <a:xfrm>
            <a:off x="457200" y="182880"/>
            <a:ext cx="8229600" cy="548640"/>
          </a:xfrm>
          <a:prstGeom prst="rect">
            <a:avLst/>
          </a:prstGeom>
          <a:noFill/>
          <a:ln/>
        </p:spPr>
        <p:txBody>
          <a:bodyPr wrap="square"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Three Converging Forces Create an Urgent Window</a:t>
            </a:r>
            <a:endParaRPr lang="en-US" sz="2700" dirty="0"/>
          </a:p>
        </p:txBody>
      </p:sp>
      <p:sp>
        <p:nvSpPr>
          <p:cNvPr id="4" name="Shape 2"/>
          <p:cNvSpPr/>
          <p:nvPr/>
        </p:nvSpPr>
        <p:spPr>
          <a:xfrm>
            <a:off x="411480" y="914400"/>
            <a:ext cx="2651760" cy="3840480"/>
          </a:xfrm>
          <a:prstGeom prst="rect">
            <a:avLst/>
          </a:prstGeom>
          <a:solidFill>
            <a:srgbClr val="1A2235"/>
          </a:solidFill>
          <a:ln w="9525">
            <a:solidFill>
              <a:srgbClr val="232E45"/>
            </a:solidFill>
            <a:prstDash val="solid"/>
          </a:ln>
        </p:spPr>
      </p:sp>
      <p:sp>
        <p:nvSpPr>
          <p:cNvPr id="5" name="Shape 3"/>
          <p:cNvSpPr/>
          <p:nvPr/>
        </p:nvSpPr>
        <p:spPr>
          <a:xfrm>
            <a:off x="411480" y="914400"/>
            <a:ext cx="2651760" cy="45720"/>
          </a:xfrm>
          <a:prstGeom prst="rect">
            <a:avLst/>
          </a:prstGeom>
          <a:solidFill>
            <a:srgbClr val="4B8EF8"/>
          </a:solidFill>
          <a:ln w="12700">
            <a:solidFill>
              <a:srgbClr val="4B8EF8"/>
            </a:solidFill>
            <a:prstDash val="solid"/>
          </a:ln>
        </p:spPr>
      </p:sp>
      <p:sp>
        <p:nvSpPr>
          <p:cNvPr id="6" name="Text 4"/>
          <p:cNvSpPr/>
          <p:nvPr/>
        </p:nvSpPr>
        <p:spPr>
          <a:xfrm>
            <a:off x="502920" y="1078992"/>
            <a:ext cx="2468880" cy="640080"/>
          </a:xfrm>
          <a:prstGeom prst="rect">
            <a:avLst/>
          </a:prstGeom>
          <a:noFill/>
          <a:ln/>
        </p:spPr>
        <p:txBody>
          <a:bodyPr wrap="square" lIns="0" tIns="0" rIns="0" bIns="0" rtlCol="0" anchor="ctr"/>
          <a:lstStyle/>
          <a:p>
            <a:pPr algn="ctr" indent="0" marL="0">
              <a:buNone/>
            </a:pPr>
            <a:r>
              <a:rPr lang="en-US" sz="4600" b="1" dirty="0">
                <a:solidFill>
                  <a:srgbClr val="4B8EF8"/>
                </a:solidFill>
                <a:latin typeface="Calibri" pitchFamily="34" charset="0"/>
                <a:ea typeface="Calibri" pitchFamily="34" charset="-122"/>
                <a:cs typeface="Calibri" pitchFamily="34" charset="-120"/>
              </a:rPr>
              <a:t>119</a:t>
            </a:r>
            <a:endParaRPr lang="en-US" sz="4600" dirty="0"/>
          </a:p>
        </p:txBody>
      </p:sp>
      <p:sp>
        <p:nvSpPr>
          <p:cNvPr id="7" name="Text 5"/>
          <p:cNvSpPr/>
          <p:nvPr/>
        </p:nvSpPr>
        <p:spPr>
          <a:xfrm>
            <a:off x="502920" y="1664208"/>
            <a:ext cx="2468880" cy="292608"/>
          </a:xfrm>
          <a:prstGeom prst="rect">
            <a:avLst/>
          </a:prstGeom>
          <a:noFill/>
          <a:ln/>
        </p:spPr>
        <p:txBody>
          <a:bodyPr wrap="square" lIns="0" tIns="0" rIns="0" bIns="0" rtlCol="0" anchor="ctr"/>
          <a:lstStyle/>
          <a:p>
            <a:pPr algn="ctr" indent="0" marL="0">
              <a:buNone/>
            </a:pPr>
            <a:r>
              <a:rPr lang="en-US" sz="2000" b="1" dirty="0">
                <a:solidFill>
                  <a:srgbClr val="4B8EF8"/>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502920" y="1993392"/>
            <a:ext cx="24688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Agent Explosion</a:t>
            </a:r>
            <a:endParaRPr lang="en-US" sz="1400" dirty="0"/>
          </a:p>
        </p:txBody>
      </p:sp>
      <p:sp>
        <p:nvSpPr>
          <p:cNvPr id="9" name="Shape 7"/>
          <p:cNvSpPr/>
          <p:nvPr/>
        </p:nvSpPr>
        <p:spPr>
          <a:xfrm>
            <a:off x="777240" y="2377440"/>
            <a:ext cx="1920240" cy="18288"/>
          </a:xfrm>
          <a:prstGeom prst="rect">
            <a:avLst/>
          </a:prstGeom>
          <a:solidFill>
            <a:srgbClr val="3D4E66"/>
          </a:solidFill>
          <a:ln w="12700">
            <a:solidFill>
              <a:srgbClr val="3D4E66"/>
            </a:solidFill>
            <a:prstDash val="solid"/>
          </a:ln>
        </p:spPr>
      </p:sp>
      <p:sp>
        <p:nvSpPr>
          <p:cNvPr id="10" name="Text 8"/>
          <p:cNvSpPr/>
          <p:nvPr/>
        </p:nvSpPr>
        <p:spPr>
          <a:xfrm>
            <a:off x="548640" y="2514600"/>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Surge in agent creation, H1 2025</a:t>
            </a:r>
            <a:endParaRPr lang="en-US" sz="1100" dirty="0"/>
          </a:p>
        </p:txBody>
      </p:sp>
      <p:sp>
        <p:nvSpPr>
          <p:cNvPr id="11" name="Text 9"/>
          <p:cNvSpPr/>
          <p:nvPr/>
        </p:nvSpPr>
        <p:spPr>
          <a:xfrm>
            <a:off x="548640" y="3035808"/>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Market: $7.92B today</a:t>
            </a:r>
            <a:endParaRPr lang="en-US" sz="1100" dirty="0"/>
          </a:p>
        </p:txBody>
      </p:sp>
      <p:sp>
        <p:nvSpPr>
          <p:cNvPr id="12" name="Text 10"/>
          <p:cNvSpPr/>
          <p:nvPr/>
        </p:nvSpPr>
        <p:spPr>
          <a:xfrm>
            <a:off x="548640" y="3557016"/>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 $236B by 2034 at 45.8% CAGR</a:t>
            </a:r>
            <a:endParaRPr lang="en-US" sz="1100" dirty="0"/>
          </a:p>
        </p:txBody>
      </p:sp>
      <p:sp>
        <p:nvSpPr>
          <p:cNvPr id="13" name="Text 11"/>
          <p:cNvSpPr/>
          <p:nvPr/>
        </p:nvSpPr>
        <p:spPr>
          <a:xfrm>
            <a:off x="502920" y="4434840"/>
            <a:ext cx="2468880"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Salesforce State of AI, 2025</a:t>
            </a:r>
            <a:endParaRPr lang="en-US" sz="750" dirty="0"/>
          </a:p>
        </p:txBody>
      </p:sp>
      <p:sp>
        <p:nvSpPr>
          <p:cNvPr id="14" name="Shape 12"/>
          <p:cNvSpPr/>
          <p:nvPr/>
        </p:nvSpPr>
        <p:spPr>
          <a:xfrm>
            <a:off x="3337560" y="914400"/>
            <a:ext cx="2651760" cy="3840480"/>
          </a:xfrm>
          <a:prstGeom prst="rect">
            <a:avLst/>
          </a:prstGeom>
          <a:solidFill>
            <a:srgbClr val="1A2235"/>
          </a:solidFill>
          <a:ln w="9525">
            <a:solidFill>
              <a:srgbClr val="232E45"/>
            </a:solidFill>
            <a:prstDash val="solid"/>
          </a:ln>
        </p:spPr>
      </p:sp>
      <p:sp>
        <p:nvSpPr>
          <p:cNvPr id="15" name="Shape 13"/>
          <p:cNvSpPr/>
          <p:nvPr/>
        </p:nvSpPr>
        <p:spPr>
          <a:xfrm>
            <a:off x="3337560" y="914400"/>
            <a:ext cx="2651760" cy="45720"/>
          </a:xfrm>
          <a:prstGeom prst="rect">
            <a:avLst/>
          </a:prstGeom>
          <a:solidFill>
            <a:srgbClr val="4B8EF8"/>
          </a:solidFill>
          <a:ln w="12700">
            <a:solidFill>
              <a:srgbClr val="4B8EF8"/>
            </a:solidFill>
            <a:prstDash val="solid"/>
          </a:ln>
        </p:spPr>
      </p:sp>
      <p:sp>
        <p:nvSpPr>
          <p:cNvPr id="16" name="Text 14"/>
          <p:cNvSpPr/>
          <p:nvPr/>
        </p:nvSpPr>
        <p:spPr>
          <a:xfrm>
            <a:off x="3429000" y="1078992"/>
            <a:ext cx="2468880" cy="640080"/>
          </a:xfrm>
          <a:prstGeom prst="rect">
            <a:avLst/>
          </a:prstGeom>
          <a:noFill/>
          <a:ln/>
        </p:spPr>
        <p:txBody>
          <a:bodyPr wrap="square" lIns="0" tIns="0" rIns="0" bIns="0" rtlCol="0" anchor="ctr"/>
          <a:lstStyle/>
          <a:p>
            <a:pPr algn="ctr" indent="0" marL="0">
              <a:buNone/>
            </a:pPr>
            <a:r>
              <a:rPr lang="en-US" sz="4600" b="1" dirty="0">
                <a:solidFill>
                  <a:srgbClr val="4B8EF8"/>
                </a:solidFill>
                <a:latin typeface="Calibri" pitchFamily="34" charset="0"/>
                <a:ea typeface="Calibri" pitchFamily="34" charset="-122"/>
                <a:cs typeface="Calibri" pitchFamily="34" charset="-120"/>
              </a:rPr>
              <a:t>€35M</a:t>
            </a:r>
            <a:endParaRPr lang="en-US" sz="4600" dirty="0"/>
          </a:p>
        </p:txBody>
      </p:sp>
      <p:sp>
        <p:nvSpPr>
          <p:cNvPr id="17" name="Text 15"/>
          <p:cNvSpPr/>
          <p:nvPr/>
        </p:nvSpPr>
        <p:spPr>
          <a:xfrm>
            <a:off x="3429000" y="1993392"/>
            <a:ext cx="24688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Regulatory Pressure</a:t>
            </a:r>
            <a:endParaRPr lang="en-US" sz="1400" dirty="0"/>
          </a:p>
        </p:txBody>
      </p:sp>
      <p:sp>
        <p:nvSpPr>
          <p:cNvPr id="18" name="Shape 16"/>
          <p:cNvSpPr/>
          <p:nvPr/>
        </p:nvSpPr>
        <p:spPr>
          <a:xfrm>
            <a:off x="3703320" y="2377440"/>
            <a:ext cx="1920240" cy="18288"/>
          </a:xfrm>
          <a:prstGeom prst="rect">
            <a:avLst/>
          </a:prstGeom>
          <a:solidFill>
            <a:srgbClr val="3D4E66"/>
          </a:solidFill>
          <a:ln w="12700">
            <a:solidFill>
              <a:srgbClr val="3D4E66"/>
            </a:solidFill>
            <a:prstDash val="solid"/>
          </a:ln>
        </p:spPr>
      </p:sp>
      <p:sp>
        <p:nvSpPr>
          <p:cNvPr id="19" name="Text 17"/>
          <p:cNvSpPr/>
          <p:nvPr/>
        </p:nvSpPr>
        <p:spPr>
          <a:xfrm>
            <a:off x="3474720" y="2514600"/>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EU AI Act maximum penalty</a:t>
            </a:r>
            <a:endParaRPr lang="en-US" sz="1100" dirty="0"/>
          </a:p>
        </p:txBody>
      </p:sp>
      <p:sp>
        <p:nvSpPr>
          <p:cNvPr id="20" name="Text 18"/>
          <p:cNvSpPr/>
          <p:nvPr/>
        </p:nvSpPr>
        <p:spPr>
          <a:xfrm>
            <a:off x="3474720" y="3035808"/>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Full enforcement: August 2026</a:t>
            </a:r>
            <a:endParaRPr lang="en-US" sz="1100" dirty="0"/>
          </a:p>
        </p:txBody>
      </p:sp>
      <p:sp>
        <p:nvSpPr>
          <p:cNvPr id="21" name="Text 19"/>
          <p:cNvSpPr/>
          <p:nvPr/>
        </p:nvSpPr>
        <p:spPr>
          <a:xfrm>
            <a:off x="3474720" y="3557016"/>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Up to 7% of global turnover</a:t>
            </a:r>
            <a:endParaRPr lang="en-US" sz="1100" dirty="0"/>
          </a:p>
        </p:txBody>
      </p:sp>
      <p:sp>
        <p:nvSpPr>
          <p:cNvPr id="22" name="Text 20"/>
          <p:cNvSpPr/>
          <p:nvPr/>
        </p:nvSpPr>
        <p:spPr>
          <a:xfrm>
            <a:off x="3429000" y="4434840"/>
            <a:ext cx="2468880"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EU AI Act, Official Journal 2024</a:t>
            </a:r>
            <a:endParaRPr lang="en-US" sz="750" dirty="0"/>
          </a:p>
        </p:txBody>
      </p:sp>
      <p:sp>
        <p:nvSpPr>
          <p:cNvPr id="23" name="Shape 21"/>
          <p:cNvSpPr/>
          <p:nvPr/>
        </p:nvSpPr>
        <p:spPr>
          <a:xfrm>
            <a:off x="6263640" y="914400"/>
            <a:ext cx="2651760" cy="3840480"/>
          </a:xfrm>
          <a:prstGeom prst="rect">
            <a:avLst/>
          </a:prstGeom>
          <a:solidFill>
            <a:srgbClr val="1A2235"/>
          </a:solidFill>
          <a:ln w="9525">
            <a:solidFill>
              <a:srgbClr val="232E45"/>
            </a:solidFill>
            <a:prstDash val="solid"/>
          </a:ln>
        </p:spPr>
      </p:sp>
      <p:sp>
        <p:nvSpPr>
          <p:cNvPr id="24" name="Shape 22"/>
          <p:cNvSpPr/>
          <p:nvPr/>
        </p:nvSpPr>
        <p:spPr>
          <a:xfrm>
            <a:off x="6263640" y="914400"/>
            <a:ext cx="2651760" cy="45720"/>
          </a:xfrm>
          <a:prstGeom prst="rect">
            <a:avLst/>
          </a:prstGeom>
          <a:solidFill>
            <a:srgbClr val="4B8EF8"/>
          </a:solidFill>
          <a:ln w="12700">
            <a:solidFill>
              <a:srgbClr val="4B8EF8"/>
            </a:solidFill>
            <a:prstDash val="solid"/>
          </a:ln>
        </p:spPr>
      </p:sp>
      <p:sp>
        <p:nvSpPr>
          <p:cNvPr id="25" name="Text 23"/>
          <p:cNvSpPr/>
          <p:nvPr/>
        </p:nvSpPr>
        <p:spPr>
          <a:xfrm>
            <a:off x="6355080" y="1078992"/>
            <a:ext cx="2468880" cy="640080"/>
          </a:xfrm>
          <a:prstGeom prst="rect">
            <a:avLst/>
          </a:prstGeom>
          <a:noFill/>
          <a:ln/>
        </p:spPr>
        <p:txBody>
          <a:bodyPr wrap="square" lIns="0" tIns="0" rIns="0" bIns="0" rtlCol="0" anchor="ctr"/>
          <a:lstStyle/>
          <a:p>
            <a:pPr algn="ctr" indent="0" marL="0">
              <a:buNone/>
            </a:pPr>
            <a:r>
              <a:rPr lang="en-US" sz="3800" b="1" dirty="0">
                <a:solidFill>
                  <a:srgbClr val="4B8EF8"/>
                </a:solidFill>
                <a:latin typeface="Calibri" pitchFamily="34" charset="0"/>
                <a:ea typeface="Calibri" pitchFamily="34" charset="-122"/>
                <a:cs typeface="Calibri" pitchFamily="34" charset="-120"/>
              </a:rPr>
              <a:t>10,780</a:t>
            </a:r>
            <a:endParaRPr lang="en-US" sz="3800" dirty="0"/>
          </a:p>
        </p:txBody>
      </p:sp>
      <p:sp>
        <p:nvSpPr>
          <p:cNvPr id="26" name="Text 24"/>
          <p:cNvSpPr/>
          <p:nvPr/>
        </p:nvSpPr>
        <p:spPr>
          <a:xfrm>
            <a:off x="6355080" y="1664208"/>
            <a:ext cx="2468880" cy="292608"/>
          </a:xfrm>
          <a:prstGeom prst="rect">
            <a:avLst/>
          </a:prstGeom>
          <a:noFill/>
          <a:ln/>
        </p:spPr>
        <p:txBody>
          <a:bodyPr wrap="square" lIns="0" tIns="0" rIns="0" bIns="0" rtlCol="0" anchor="ctr"/>
          <a:lstStyle/>
          <a:p>
            <a:pPr algn="ctr" indent="0" marL="0">
              <a:buNone/>
            </a:pPr>
            <a:r>
              <a:rPr lang="en-US" sz="2000" b="1" dirty="0">
                <a:solidFill>
                  <a:srgbClr val="4B8EF8"/>
                </a:solidFill>
                <a:latin typeface="Calibri" pitchFamily="34" charset="0"/>
                <a:ea typeface="Calibri" pitchFamily="34" charset="-122"/>
                <a:cs typeface="Calibri" pitchFamily="34" charset="-120"/>
              </a:rPr>
              <a:t>%</a:t>
            </a:r>
            <a:endParaRPr lang="en-US" sz="2000" dirty="0"/>
          </a:p>
        </p:txBody>
      </p:sp>
      <p:sp>
        <p:nvSpPr>
          <p:cNvPr id="27" name="Text 25"/>
          <p:cNvSpPr/>
          <p:nvPr/>
        </p:nvSpPr>
        <p:spPr>
          <a:xfrm>
            <a:off x="6355080" y="1993392"/>
            <a:ext cx="24688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New Payment Rails</a:t>
            </a:r>
            <a:endParaRPr lang="en-US" sz="1400" dirty="0"/>
          </a:p>
        </p:txBody>
      </p:sp>
      <p:sp>
        <p:nvSpPr>
          <p:cNvPr id="28" name="Shape 26"/>
          <p:cNvSpPr/>
          <p:nvPr/>
        </p:nvSpPr>
        <p:spPr>
          <a:xfrm>
            <a:off x="6629400" y="2377440"/>
            <a:ext cx="1920240" cy="18288"/>
          </a:xfrm>
          <a:prstGeom prst="rect">
            <a:avLst/>
          </a:prstGeom>
          <a:solidFill>
            <a:srgbClr val="3D4E66"/>
          </a:solidFill>
          <a:ln w="12700">
            <a:solidFill>
              <a:srgbClr val="3D4E66"/>
            </a:solidFill>
            <a:prstDash val="solid"/>
          </a:ln>
        </p:spPr>
      </p:sp>
      <p:sp>
        <p:nvSpPr>
          <p:cNvPr id="29" name="Text 27"/>
          <p:cNvSpPr/>
          <p:nvPr/>
        </p:nvSpPr>
        <p:spPr>
          <a:xfrm>
            <a:off x="6400800" y="2514600"/>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x402 surge in one month (May 2025)</a:t>
            </a:r>
            <a:endParaRPr lang="en-US" sz="1100" dirty="0"/>
          </a:p>
        </p:txBody>
      </p:sp>
      <p:sp>
        <p:nvSpPr>
          <p:cNvPr id="30" name="Text 28"/>
          <p:cNvSpPr/>
          <p:nvPr/>
        </p:nvSpPr>
        <p:spPr>
          <a:xfrm>
            <a:off x="6400800" y="3035808"/>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Coinbase launched x402: May 2025</a:t>
            </a:r>
            <a:endParaRPr lang="en-US" sz="1100" dirty="0"/>
          </a:p>
        </p:txBody>
      </p:sp>
      <p:sp>
        <p:nvSpPr>
          <p:cNvPr id="31" name="Text 29"/>
          <p:cNvSpPr/>
          <p:nvPr/>
        </p:nvSpPr>
        <p:spPr>
          <a:xfrm>
            <a:off x="6400800" y="3557016"/>
            <a:ext cx="2377440" cy="457200"/>
          </a:xfrm>
          <a:prstGeom prst="rect">
            <a:avLst/>
          </a:prstGeom>
          <a:noFill/>
          <a:ln/>
        </p:spPr>
        <p:txBody>
          <a:bodyPr wrap="square" lIns="0" tIns="0" rIns="0" bIns="0" rtlCol="0" anchor="ctr"/>
          <a:lstStyle/>
          <a:p>
            <a:pPr algn="ctr" indent="0" marL="0">
              <a:buNone/>
            </a:pPr>
            <a:r>
              <a:rPr lang="en-US" sz="1100" dirty="0">
                <a:solidFill>
                  <a:srgbClr val="8A9BBE"/>
                </a:solidFill>
                <a:latin typeface="Calibri" pitchFamily="34" charset="0"/>
                <a:ea typeface="Calibri" pitchFamily="34" charset="-122"/>
                <a:cs typeface="Calibri" pitchFamily="34" charset="-120"/>
              </a:rPr>
              <a:t>~500K payments in one week, Oct 2025</a:t>
            </a:r>
            <a:endParaRPr lang="en-US" sz="1100" dirty="0"/>
          </a:p>
        </p:txBody>
      </p:sp>
      <p:sp>
        <p:nvSpPr>
          <p:cNvPr id="32" name="Text 30"/>
          <p:cNvSpPr/>
          <p:nvPr/>
        </p:nvSpPr>
        <p:spPr>
          <a:xfrm>
            <a:off x="6355080" y="4434840"/>
            <a:ext cx="2468880"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Coinbase x402 launch data, May 2025</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5 / 12</a:t>
            </a:r>
            <a:endParaRPr lang="en-US" sz="800" dirty="0"/>
          </a:p>
        </p:txBody>
      </p:sp>
      <p:sp>
        <p:nvSpPr>
          <p:cNvPr id="3" name="Text 1"/>
          <p:cNvSpPr/>
          <p:nvPr/>
        </p:nvSpPr>
        <p:spPr>
          <a:xfrm>
            <a:off x="457200" y="109728"/>
            <a:ext cx="8229600" cy="475488"/>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One Layer. Every Stakeholder. Zero Bypass.</a:t>
            </a:r>
            <a:endParaRPr lang="en-US" sz="2700" dirty="0"/>
          </a:p>
        </p:txBody>
      </p:sp>
      <p:sp>
        <p:nvSpPr>
          <p:cNvPr id="4" name="Shape 2"/>
          <p:cNvSpPr/>
          <p:nvPr/>
        </p:nvSpPr>
        <p:spPr>
          <a:xfrm>
            <a:off x="365760" y="685800"/>
            <a:ext cx="1938528" cy="621792"/>
          </a:xfrm>
          <a:prstGeom prst="rect">
            <a:avLst/>
          </a:prstGeom>
          <a:solidFill>
            <a:srgbClr val="0A0F1A"/>
          </a:solidFill>
          <a:ln w="9525">
            <a:solidFill>
              <a:srgbClr val="232E45"/>
            </a:solidFill>
            <a:prstDash val="solid"/>
          </a:ln>
        </p:spPr>
      </p:sp>
      <p:sp>
        <p:nvSpPr>
          <p:cNvPr id="5" name="Text 3"/>
          <p:cNvSpPr/>
          <p:nvPr/>
        </p:nvSpPr>
        <p:spPr>
          <a:xfrm>
            <a:off x="457200" y="731520"/>
            <a:ext cx="1755648" cy="201168"/>
          </a:xfrm>
          <a:prstGeom prst="rect">
            <a:avLst/>
          </a:prstGeom>
          <a:noFill/>
          <a:ln/>
        </p:spPr>
        <p:txBody>
          <a:bodyPr wrap="square" lIns="0" tIns="0" rIns="0" bIns="0" rtlCol="0" anchor="ctr"/>
          <a:lstStyle/>
          <a:p>
            <a:pPr algn="ctr" indent="0" marL="0">
              <a:buNone/>
            </a:pPr>
            <a:r>
              <a:rPr lang="en-US" sz="800" b="1" spc="100" kern="0" dirty="0">
                <a:solidFill>
                  <a:srgbClr val="4B8EF8"/>
                </a:solidFill>
                <a:latin typeface="Calibri" pitchFamily="34" charset="0"/>
                <a:ea typeface="Calibri" pitchFamily="34" charset="-122"/>
                <a:cs typeface="Calibri" pitchFamily="34" charset="-120"/>
              </a:rPr>
              <a:t>DEVELOPERS</a:t>
            </a:r>
            <a:endParaRPr lang="en-US" sz="800" dirty="0"/>
          </a:p>
        </p:txBody>
      </p:sp>
      <p:sp>
        <p:nvSpPr>
          <p:cNvPr id="6" name="Text 4"/>
          <p:cNvSpPr/>
          <p:nvPr/>
        </p:nvSpPr>
        <p:spPr>
          <a:xfrm>
            <a:off x="457200" y="932688"/>
            <a:ext cx="1755648" cy="292608"/>
          </a:xfrm>
          <a:prstGeom prst="rect">
            <a:avLst/>
          </a:prstGeom>
          <a:noFill/>
          <a:ln/>
        </p:spPr>
        <p:txBody>
          <a:bodyPr wrap="square" lIns="0" tIns="0" rIns="0" bIns="0" rtlCol="0" anchor="ctr"/>
          <a:lstStyle/>
          <a:p>
            <a:pPr algn="ctr" indent="0" marL="0">
              <a:buNone/>
            </a:pPr>
            <a:r>
              <a:rPr lang="en-US" sz="900" dirty="0">
                <a:solidFill>
                  <a:srgbClr val="8A9BBE"/>
                </a:solidFill>
                <a:latin typeface="Calibri" pitchFamily="34" charset="0"/>
                <a:ea typeface="Calibri" pitchFamily="34" charset="-122"/>
                <a:cs typeface="Calibri" pitchFamily="34" charset="-120"/>
              </a:rPr>
              <a:t>SDK + MCP · Zero rewrites</a:t>
            </a:r>
            <a:endParaRPr lang="en-US" sz="900" dirty="0"/>
          </a:p>
        </p:txBody>
      </p:sp>
      <p:sp>
        <p:nvSpPr>
          <p:cNvPr id="7" name="Shape 5"/>
          <p:cNvSpPr/>
          <p:nvPr/>
        </p:nvSpPr>
        <p:spPr>
          <a:xfrm>
            <a:off x="2468880" y="685800"/>
            <a:ext cx="1938528" cy="621792"/>
          </a:xfrm>
          <a:prstGeom prst="rect">
            <a:avLst/>
          </a:prstGeom>
          <a:solidFill>
            <a:srgbClr val="0A0F1A"/>
          </a:solidFill>
          <a:ln w="9525">
            <a:solidFill>
              <a:srgbClr val="232E45"/>
            </a:solidFill>
            <a:prstDash val="solid"/>
          </a:ln>
        </p:spPr>
      </p:sp>
      <p:sp>
        <p:nvSpPr>
          <p:cNvPr id="8" name="Text 6"/>
          <p:cNvSpPr/>
          <p:nvPr/>
        </p:nvSpPr>
        <p:spPr>
          <a:xfrm>
            <a:off x="2560320" y="731520"/>
            <a:ext cx="1755648" cy="201168"/>
          </a:xfrm>
          <a:prstGeom prst="rect">
            <a:avLst/>
          </a:prstGeom>
          <a:noFill/>
          <a:ln/>
        </p:spPr>
        <p:txBody>
          <a:bodyPr wrap="square" lIns="0" tIns="0" rIns="0" bIns="0" rtlCol="0" anchor="ctr"/>
          <a:lstStyle/>
          <a:p>
            <a:pPr algn="ctr" indent="0" marL="0">
              <a:buNone/>
            </a:pPr>
            <a:r>
              <a:rPr lang="en-US" sz="800" b="1" spc="100" kern="0" dirty="0">
                <a:solidFill>
                  <a:srgbClr val="4B8EF8"/>
                </a:solidFill>
                <a:latin typeface="Calibri" pitchFamily="34" charset="0"/>
                <a:ea typeface="Calibri" pitchFamily="34" charset="-122"/>
                <a:cs typeface="Calibri" pitchFamily="34" charset="-120"/>
              </a:rPr>
              <a:t>VP ENG / CTO</a:t>
            </a:r>
            <a:endParaRPr lang="en-US" sz="800" dirty="0"/>
          </a:p>
        </p:txBody>
      </p:sp>
      <p:sp>
        <p:nvSpPr>
          <p:cNvPr id="9" name="Text 7"/>
          <p:cNvSpPr/>
          <p:nvPr/>
        </p:nvSpPr>
        <p:spPr>
          <a:xfrm>
            <a:off x="2560320" y="932688"/>
            <a:ext cx="1755648" cy="292608"/>
          </a:xfrm>
          <a:prstGeom prst="rect">
            <a:avLst/>
          </a:prstGeom>
          <a:noFill/>
          <a:ln/>
        </p:spPr>
        <p:txBody>
          <a:bodyPr wrap="square" lIns="0" tIns="0" rIns="0" bIns="0" rtlCol="0" anchor="ctr"/>
          <a:lstStyle/>
          <a:p>
            <a:pPr algn="ctr" indent="0" marL="0">
              <a:buNone/>
            </a:pPr>
            <a:r>
              <a:rPr lang="en-US" sz="900" dirty="0">
                <a:solidFill>
                  <a:srgbClr val="8A9BBE"/>
                </a:solidFill>
                <a:latin typeface="Calibri" pitchFamily="34" charset="0"/>
                <a:ea typeface="Calibri" pitchFamily="34" charset="-122"/>
                <a:cs typeface="Calibri" pitchFamily="34" charset="-120"/>
              </a:rPr>
              <a:t>Policy Engine · Spend limits</a:t>
            </a:r>
            <a:endParaRPr lang="en-US" sz="900" dirty="0"/>
          </a:p>
        </p:txBody>
      </p:sp>
      <p:sp>
        <p:nvSpPr>
          <p:cNvPr id="10" name="Shape 8"/>
          <p:cNvSpPr/>
          <p:nvPr/>
        </p:nvSpPr>
        <p:spPr>
          <a:xfrm>
            <a:off x="4572000" y="685800"/>
            <a:ext cx="1938528" cy="621792"/>
          </a:xfrm>
          <a:prstGeom prst="rect">
            <a:avLst/>
          </a:prstGeom>
          <a:solidFill>
            <a:srgbClr val="0A0F1A"/>
          </a:solidFill>
          <a:ln w="9525">
            <a:solidFill>
              <a:srgbClr val="232E45"/>
            </a:solidFill>
            <a:prstDash val="solid"/>
          </a:ln>
        </p:spPr>
      </p:sp>
      <p:sp>
        <p:nvSpPr>
          <p:cNvPr id="11" name="Text 9"/>
          <p:cNvSpPr/>
          <p:nvPr/>
        </p:nvSpPr>
        <p:spPr>
          <a:xfrm>
            <a:off x="4663440" y="731520"/>
            <a:ext cx="1755648" cy="201168"/>
          </a:xfrm>
          <a:prstGeom prst="rect">
            <a:avLst/>
          </a:prstGeom>
          <a:noFill/>
          <a:ln/>
        </p:spPr>
        <p:txBody>
          <a:bodyPr wrap="square" lIns="0" tIns="0" rIns="0" bIns="0" rtlCol="0" anchor="ctr"/>
          <a:lstStyle/>
          <a:p>
            <a:pPr algn="ctr" indent="0" marL="0">
              <a:buNone/>
            </a:pPr>
            <a:r>
              <a:rPr lang="en-US" sz="800" b="1" spc="100" kern="0" dirty="0">
                <a:solidFill>
                  <a:srgbClr val="4B8EF8"/>
                </a:solidFill>
                <a:latin typeface="Calibri" pitchFamily="34" charset="0"/>
                <a:ea typeface="Calibri" pitchFamily="34" charset="-122"/>
                <a:cs typeface="Calibri" pitchFamily="34" charset="-120"/>
              </a:rPr>
              <a:t>CISO</a:t>
            </a:r>
            <a:endParaRPr lang="en-US" sz="800" dirty="0"/>
          </a:p>
        </p:txBody>
      </p:sp>
      <p:sp>
        <p:nvSpPr>
          <p:cNvPr id="12" name="Text 10"/>
          <p:cNvSpPr/>
          <p:nvPr/>
        </p:nvSpPr>
        <p:spPr>
          <a:xfrm>
            <a:off x="4663440" y="932688"/>
            <a:ext cx="1755648" cy="292608"/>
          </a:xfrm>
          <a:prstGeom prst="rect">
            <a:avLst/>
          </a:prstGeom>
          <a:noFill/>
          <a:ln/>
        </p:spPr>
        <p:txBody>
          <a:bodyPr wrap="square" lIns="0" tIns="0" rIns="0" bIns="0" rtlCol="0" anchor="ctr"/>
          <a:lstStyle/>
          <a:p>
            <a:pPr algn="ctr" indent="0" marL="0">
              <a:buNone/>
            </a:pPr>
            <a:r>
              <a:rPr lang="en-US" sz="900" dirty="0">
                <a:solidFill>
                  <a:srgbClr val="8A9BBE"/>
                </a:solidFill>
                <a:latin typeface="Calibri" pitchFamily="34" charset="0"/>
                <a:ea typeface="Calibri" pitchFamily="34" charset="-122"/>
                <a:cs typeface="Calibri" pitchFamily="34" charset="-120"/>
              </a:rPr>
              <a:t>Anomaly Detection · TEE</a:t>
            </a:r>
            <a:endParaRPr lang="en-US" sz="900" dirty="0"/>
          </a:p>
        </p:txBody>
      </p:sp>
      <p:sp>
        <p:nvSpPr>
          <p:cNvPr id="13" name="Shape 11"/>
          <p:cNvSpPr/>
          <p:nvPr/>
        </p:nvSpPr>
        <p:spPr>
          <a:xfrm>
            <a:off x="6675120" y="685800"/>
            <a:ext cx="1938528" cy="621792"/>
          </a:xfrm>
          <a:prstGeom prst="rect">
            <a:avLst/>
          </a:prstGeom>
          <a:solidFill>
            <a:srgbClr val="0A0F1A"/>
          </a:solidFill>
          <a:ln w="9525">
            <a:solidFill>
              <a:srgbClr val="232E45"/>
            </a:solidFill>
            <a:prstDash val="solid"/>
          </a:ln>
        </p:spPr>
      </p:sp>
      <p:sp>
        <p:nvSpPr>
          <p:cNvPr id="14" name="Text 12"/>
          <p:cNvSpPr/>
          <p:nvPr/>
        </p:nvSpPr>
        <p:spPr>
          <a:xfrm>
            <a:off x="6766560" y="731520"/>
            <a:ext cx="1755648" cy="201168"/>
          </a:xfrm>
          <a:prstGeom prst="rect">
            <a:avLst/>
          </a:prstGeom>
          <a:noFill/>
          <a:ln/>
        </p:spPr>
        <p:txBody>
          <a:bodyPr wrap="square" lIns="0" tIns="0" rIns="0" bIns="0" rtlCol="0" anchor="ctr"/>
          <a:lstStyle/>
          <a:p>
            <a:pPr algn="ctr" indent="0" marL="0">
              <a:buNone/>
            </a:pPr>
            <a:r>
              <a:rPr lang="en-US" sz="800" b="1" spc="100" kern="0" dirty="0">
                <a:solidFill>
                  <a:srgbClr val="4B8EF8"/>
                </a:solidFill>
                <a:latin typeface="Calibri" pitchFamily="34" charset="0"/>
                <a:ea typeface="Calibri" pitchFamily="34" charset="-122"/>
                <a:cs typeface="Calibri" pitchFamily="34" charset="-120"/>
              </a:rPr>
              <a:t>FINANCE / LEGAL</a:t>
            </a:r>
            <a:endParaRPr lang="en-US" sz="800" dirty="0"/>
          </a:p>
        </p:txBody>
      </p:sp>
      <p:sp>
        <p:nvSpPr>
          <p:cNvPr id="15" name="Text 13"/>
          <p:cNvSpPr/>
          <p:nvPr/>
        </p:nvSpPr>
        <p:spPr>
          <a:xfrm>
            <a:off x="6766560" y="932688"/>
            <a:ext cx="1755648" cy="292608"/>
          </a:xfrm>
          <a:prstGeom prst="rect">
            <a:avLst/>
          </a:prstGeom>
          <a:noFill/>
          <a:ln/>
        </p:spPr>
        <p:txBody>
          <a:bodyPr wrap="square" lIns="0" tIns="0" rIns="0" bIns="0" rtlCol="0" anchor="ctr"/>
          <a:lstStyle/>
          <a:p>
            <a:pPr algn="ctr" indent="0" marL="0">
              <a:buNone/>
            </a:pPr>
            <a:r>
              <a:rPr lang="en-US" sz="900" dirty="0">
                <a:solidFill>
                  <a:srgbClr val="8A9BBE"/>
                </a:solidFill>
                <a:latin typeface="Calibri" pitchFamily="34" charset="0"/>
                <a:ea typeface="Calibri" pitchFamily="34" charset="-122"/>
                <a:cs typeface="Calibri" pitchFamily="34" charset="-120"/>
              </a:rPr>
              <a:t>Immutable Audit Log · SOC 2</a:t>
            </a:r>
            <a:endParaRPr lang="en-US" sz="900" dirty="0"/>
          </a:p>
        </p:txBody>
      </p:sp>
      <p:sp>
        <p:nvSpPr>
          <p:cNvPr id="16" name="Shape 14"/>
          <p:cNvSpPr/>
          <p:nvPr/>
        </p:nvSpPr>
        <p:spPr>
          <a:xfrm>
            <a:off x="571500" y="1508760"/>
            <a:ext cx="1417320" cy="1298448"/>
          </a:xfrm>
          <a:prstGeom prst="rect">
            <a:avLst/>
          </a:prstGeom>
          <a:solidFill>
            <a:srgbClr val="0A0F1A"/>
          </a:solidFill>
          <a:ln w="15240">
            <a:solidFill>
              <a:srgbClr val="3D4E66"/>
            </a:solidFill>
            <a:prstDash val="solid"/>
          </a:ln>
        </p:spPr>
      </p:sp>
      <p:sp>
        <p:nvSpPr>
          <p:cNvPr id="17" name="Shape 15"/>
          <p:cNvSpPr/>
          <p:nvPr/>
        </p:nvSpPr>
        <p:spPr>
          <a:xfrm>
            <a:off x="571500" y="1508760"/>
            <a:ext cx="1417320" cy="45720"/>
          </a:xfrm>
          <a:prstGeom prst="rect">
            <a:avLst/>
          </a:prstGeom>
          <a:solidFill>
            <a:srgbClr val="3D4E66"/>
          </a:solidFill>
          <a:ln w="12700">
            <a:solidFill>
              <a:srgbClr val="3D4E66"/>
            </a:solidFill>
            <a:prstDash val="solid"/>
          </a:ln>
        </p:spPr>
      </p:sp>
      <p:sp>
        <p:nvSpPr>
          <p:cNvPr id="18" name="Text 16"/>
          <p:cNvSpPr/>
          <p:nvPr/>
        </p:nvSpPr>
        <p:spPr>
          <a:xfrm>
            <a:off x="644652" y="1618488"/>
            <a:ext cx="127101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Agent</a:t>
            </a:r>
            <a:endParaRPr lang="en-US" sz="1150" dirty="0"/>
          </a:p>
        </p:txBody>
      </p:sp>
      <p:sp>
        <p:nvSpPr>
          <p:cNvPr id="19" name="Text 17"/>
          <p:cNvSpPr/>
          <p:nvPr/>
        </p:nvSpPr>
        <p:spPr>
          <a:xfrm>
            <a:off x="644652" y="2011680"/>
            <a:ext cx="1271016" cy="731520"/>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initiates pay()</a:t>
            </a:r>
            <a:endParaRPr lang="en-US" sz="950" dirty="0"/>
          </a:p>
        </p:txBody>
      </p:sp>
      <p:sp>
        <p:nvSpPr>
          <p:cNvPr id="20" name="Shape 18"/>
          <p:cNvSpPr/>
          <p:nvPr/>
        </p:nvSpPr>
        <p:spPr>
          <a:xfrm>
            <a:off x="2007108" y="2139696"/>
            <a:ext cx="192024" cy="36576"/>
          </a:xfrm>
          <a:prstGeom prst="rect">
            <a:avLst/>
          </a:prstGeom>
          <a:solidFill>
            <a:srgbClr val="3D4E66"/>
          </a:solidFill>
          <a:ln w="12700">
            <a:solidFill>
              <a:srgbClr val="3D4E66"/>
            </a:solidFill>
            <a:prstDash val="solid"/>
          </a:ln>
        </p:spPr>
      </p:sp>
      <p:sp>
        <p:nvSpPr>
          <p:cNvPr id="21" name="Shape 19"/>
          <p:cNvSpPr/>
          <p:nvPr/>
        </p:nvSpPr>
        <p:spPr>
          <a:xfrm rot="2700000">
            <a:off x="2144268" y="2084832"/>
            <a:ext cx="91440" cy="146304"/>
          </a:xfrm>
          <a:prstGeom prst="rect">
            <a:avLst/>
          </a:prstGeom>
          <a:solidFill>
            <a:srgbClr val="3D4E66"/>
          </a:solidFill>
          <a:ln w="12700">
            <a:solidFill>
              <a:srgbClr val="3D4E66"/>
            </a:solidFill>
            <a:prstDash val="solid"/>
          </a:ln>
        </p:spPr>
      </p:sp>
      <p:sp>
        <p:nvSpPr>
          <p:cNvPr id="22" name="Shape 20"/>
          <p:cNvSpPr/>
          <p:nvPr/>
        </p:nvSpPr>
        <p:spPr>
          <a:xfrm>
            <a:off x="2217420" y="1508760"/>
            <a:ext cx="1417320" cy="1298448"/>
          </a:xfrm>
          <a:prstGeom prst="rect">
            <a:avLst/>
          </a:prstGeom>
          <a:solidFill>
            <a:srgbClr val="162040"/>
          </a:solidFill>
          <a:ln w="15240">
            <a:solidFill>
              <a:srgbClr val="2D5BB8"/>
            </a:solidFill>
            <a:prstDash val="solid"/>
          </a:ln>
        </p:spPr>
      </p:sp>
      <p:sp>
        <p:nvSpPr>
          <p:cNvPr id="23" name="Shape 21"/>
          <p:cNvSpPr/>
          <p:nvPr/>
        </p:nvSpPr>
        <p:spPr>
          <a:xfrm>
            <a:off x="2217420" y="1508760"/>
            <a:ext cx="1417320" cy="45720"/>
          </a:xfrm>
          <a:prstGeom prst="rect">
            <a:avLst/>
          </a:prstGeom>
          <a:solidFill>
            <a:srgbClr val="2D5BB8"/>
          </a:solidFill>
          <a:ln w="12700">
            <a:solidFill>
              <a:srgbClr val="2D5BB8"/>
            </a:solidFill>
            <a:prstDash val="solid"/>
          </a:ln>
        </p:spPr>
      </p:sp>
      <p:sp>
        <p:nvSpPr>
          <p:cNvPr id="24" name="Text 22"/>
          <p:cNvSpPr/>
          <p:nvPr/>
        </p:nvSpPr>
        <p:spPr>
          <a:xfrm>
            <a:off x="2290572" y="1618488"/>
            <a:ext cx="127101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Policy Engine</a:t>
            </a:r>
            <a:endParaRPr lang="en-US" sz="1150" dirty="0"/>
          </a:p>
        </p:txBody>
      </p:sp>
      <p:sp>
        <p:nvSpPr>
          <p:cNvPr id="25" name="Text 23"/>
          <p:cNvSpPr/>
          <p:nvPr/>
        </p:nvSpPr>
        <p:spPr>
          <a:xfrm>
            <a:off x="2290572" y="2011680"/>
            <a:ext cx="1271016" cy="731520"/>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rules enforced</a:t>
            </a:r>
            <a:endParaRPr lang="en-US" sz="950" dirty="0"/>
          </a:p>
          <a:p>
            <a:pPr algn="ctr" indent="0" marL="0">
              <a:buNone/>
            </a:pPr>
            <a:r>
              <a:rPr lang="en-US" sz="950" dirty="0">
                <a:solidFill>
                  <a:srgbClr val="8A9BBE"/>
                </a:solidFill>
                <a:latin typeface="Calibri" pitchFamily="34" charset="0"/>
                <a:ea typeface="Calibri" pitchFamily="34" charset="-122"/>
                <a:cs typeface="Calibri" pitchFamily="34" charset="-120"/>
              </a:rPr>
              <a:t>server-side</a:t>
            </a:r>
            <a:endParaRPr lang="en-US" sz="950" dirty="0"/>
          </a:p>
        </p:txBody>
      </p:sp>
      <p:sp>
        <p:nvSpPr>
          <p:cNvPr id="26" name="Shape 24"/>
          <p:cNvSpPr/>
          <p:nvPr/>
        </p:nvSpPr>
        <p:spPr>
          <a:xfrm>
            <a:off x="3653028" y="2139696"/>
            <a:ext cx="192024" cy="36576"/>
          </a:xfrm>
          <a:prstGeom prst="rect">
            <a:avLst/>
          </a:prstGeom>
          <a:solidFill>
            <a:srgbClr val="3D4E66"/>
          </a:solidFill>
          <a:ln w="12700">
            <a:solidFill>
              <a:srgbClr val="3D4E66"/>
            </a:solidFill>
            <a:prstDash val="solid"/>
          </a:ln>
        </p:spPr>
      </p:sp>
      <p:sp>
        <p:nvSpPr>
          <p:cNvPr id="27" name="Shape 25"/>
          <p:cNvSpPr/>
          <p:nvPr/>
        </p:nvSpPr>
        <p:spPr>
          <a:xfrm rot="2700000">
            <a:off x="3790188" y="2084832"/>
            <a:ext cx="91440" cy="146304"/>
          </a:xfrm>
          <a:prstGeom prst="rect">
            <a:avLst/>
          </a:prstGeom>
          <a:solidFill>
            <a:srgbClr val="3D4E66"/>
          </a:solidFill>
          <a:ln w="12700">
            <a:solidFill>
              <a:srgbClr val="3D4E66"/>
            </a:solidFill>
            <a:prstDash val="solid"/>
          </a:ln>
        </p:spPr>
      </p:sp>
      <p:sp>
        <p:nvSpPr>
          <p:cNvPr id="28" name="Shape 26"/>
          <p:cNvSpPr/>
          <p:nvPr/>
        </p:nvSpPr>
        <p:spPr>
          <a:xfrm>
            <a:off x="3863340" y="1508760"/>
            <a:ext cx="1417320" cy="1298448"/>
          </a:xfrm>
          <a:prstGeom prst="rect">
            <a:avLst/>
          </a:prstGeom>
          <a:solidFill>
            <a:srgbClr val="14102A"/>
          </a:solidFill>
          <a:ln w="15240">
            <a:solidFill>
              <a:srgbClr val="6B7FCC"/>
            </a:solidFill>
            <a:prstDash val="solid"/>
          </a:ln>
        </p:spPr>
      </p:sp>
      <p:sp>
        <p:nvSpPr>
          <p:cNvPr id="29" name="Shape 27"/>
          <p:cNvSpPr/>
          <p:nvPr/>
        </p:nvSpPr>
        <p:spPr>
          <a:xfrm>
            <a:off x="3863340" y="1508760"/>
            <a:ext cx="1417320" cy="45720"/>
          </a:xfrm>
          <a:prstGeom prst="rect">
            <a:avLst/>
          </a:prstGeom>
          <a:solidFill>
            <a:srgbClr val="6B7FCC"/>
          </a:solidFill>
          <a:ln w="12700">
            <a:solidFill>
              <a:srgbClr val="6B7FCC"/>
            </a:solidFill>
            <a:prstDash val="solid"/>
          </a:ln>
        </p:spPr>
      </p:sp>
      <p:sp>
        <p:nvSpPr>
          <p:cNvPr id="30" name="Text 28"/>
          <p:cNvSpPr/>
          <p:nvPr/>
        </p:nvSpPr>
        <p:spPr>
          <a:xfrm>
            <a:off x="3936492" y="1618488"/>
            <a:ext cx="127101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TEE Layer</a:t>
            </a:r>
            <a:endParaRPr lang="en-US" sz="1150" dirty="0"/>
          </a:p>
        </p:txBody>
      </p:sp>
      <p:sp>
        <p:nvSpPr>
          <p:cNvPr id="31" name="Text 29"/>
          <p:cNvSpPr/>
          <p:nvPr/>
        </p:nvSpPr>
        <p:spPr>
          <a:xfrm>
            <a:off x="3936492" y="2011680"/>
            <a:ext cx="1271016" cy="731520"/>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hardware limits</a:t>
            </a:r>
            <a:endParaRPr lang="en-US" sz="950" dirty="0"/>
          </a:p>
          <a:p>
            <a:pPr algn="ctr" indent="0" marL="0">
              <a:buNone/>
            </a:pPr>
            <a:r>
              <a:rPr lang="en-US" sz="950" dirty="0">
                <a:solidFill>
                  <a:srgbClr val="8A9BBE"/>
                </a:solidFill>
                <a:latin typeface="Calibri" pitchFamily="34" charset="0"/>
                <a:ea typeface="Calibri" pitchFamily="34" charset="-122"/>
                <a:cs typeface="Calibri" pitchFamily="34" charset="-120"/>
              </a:rPr>
              <a:t>crypto-verified</a:t>
            </a:r>
            <a:endParaRPr lang="en-US" sz="950" dirty="0"/>
          </a:p>
        </p:txBody>
      </p:sp>
      <p:sp>
        <p:nvSpPr>
          <p:cNvPr id="32" name="Shape 30"/>
          <p:cNvSpPr/>
          <p:nvPr/>
        </p:nvSpPr>
        <p:spPr>
          <a:xfrm>
            <a:off x="5298948" y="2139696"/>
            <a:ext cx="192024" cy="36576"/>
          </a:xfrm>
          <a:prstGeom prst="rect">
            <a:avLst/>
          </a:prstGeom>
          <a:solidFill>
            <a:srgbClr val="3D4E66"/>
          </a:solidFill>
          <a:ln w="12700">
            <a:solidFill>
              <a:srgbClr val="3D4E66"/>
            </a:solidFill>
            <a:prstDash val="solid"/>
          </a:ln>
        </p:spPr>
      </p:sp>
      <p:sp>
        <p:nvSpPr>
          <p:cNvPr id="33" name="Shape 31"/>
          <p:cNvSpPr/>
          <p:nvPr/>
        </p:nvSpPr>
        <p:spPr>
          <a:xfrm rot="2700000">
            <a:off x="5436108" y="2084832"/>
            <a:ext cx="91440" cy="146304"/>
          </a:xfrm>
          <a:prstGeom prst="rect">
            <a:avLst/>
          </a:prstGeom>
          <a:solidFill>
            <a:srgbClr val="3D4E66"/>
          </a:solidFill>
          <a:ln w="12700">
            <a:solidFill>
              <a:srgbClr val="3D4E66"/>
            </a:solidFill>
            <a:prstDash val="solid"/>
          </a:ln>
        </p:spPr>
      </p:sp>
      <p:sp>
        <p:nvSpPr>
          <p:cNvPr id="34" name="Shape 32"/>
          <p:cNvSpPr/>
          <p:nvPr/>
        </p:nvSpPr>
        <p:spPr>
          <a:xfrm>
            <a:off x="5509260" y="1508760"/>
            <a:ext cx="1417320" cy="1298448"/>
          </a:xfrm>
          <a:prstGeom prst="rect">
            <a:avLst/>
          </a:prstGeom>
          <a:solidFill>
            <a:srgbClr val="162040"/>
          </a:solidFill>
          <a:ln w="15240">
            <a:solidFill>
              <a:srgbClr val="2D5BB8"/>
            </a:solidFill>
            <a:prstDash val="solid"/>
          </a:ln>
        </p:spPr>
      </p:sp>
      <p:sp>
        <p:nvSpPr>
          <p:cNvPr id="35" name="Shape 33"/>
          <p:cNvSpPr/>
          <p:nvPr/>
        </p:nvSpPr>
        <p:spPr>
          <a:xfrm>
            <a:off x="5509260" y="1508760"/>
            <a:ext cx="1417320" cy="45720"/>
          </a:xfrm>
          <a:prstGeom prst="rect">
            <a:avLst/>
          </a:prstGeom>
          <a:solidFill>
            <a:srgbClr val="2D5BB8"/>
          </a:solidFill>
          <a:ln w="12700">
            <a:solidFill>
              <a:srgbClr val="2D5BB8"/>
            </a:solidFill>
            <a:prstDash val="solid"/>
          </a:ln>
        </p:spPr>
      </p:sp>
      <p:sp>
        <p:nvSpPr>
          <p:cNvPr id="36" name="Text 34"/>
          <p:cNvSpPr/>
          <p:nvPr/>
        </p:nvSpPr>
        <p:spPr>
          <a:xfrm>
            <a:off x="5582412" y="1618488"/>
            <a:ext cx="127101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Payment Router</a:t>
            </a:r>
            <a:endParaRPr lang="en-US" sz="1150" dirty="0"/>
          </a:p>
        </p:txBody>
      </p:sp>
      <p:sp>
        <p:nvSpPr>
          <p:cNvPr id="37" name="Text 35"/>
          <p:cNvSpPr/>
          <p:nvPr/>
        </p:nvSpPr>
        <p:spPr>
          <a:xfrm>
            <a:off x="5582412" y="2011680"/>
            <a:ext cx="1271016" cy="731520"/>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x402 · USDC</a:t>
            </a:r>
            <a:endParaRPr lang="en-US" sz="950" dirty="0"/>
          </a:p>
          <a:p>
            <a:pPr algn="ctr" indent="0" marL="0">
              <a:buNone/>
            </a:pPr>
            <a:r>
              <a:rPr lang="en-US" sz="950" dirty="0">
                <a:solidFill>
                  <a:srgbClr val="8A9BBE"/>
                </a:solidFill>
                <a:latin typeface="Calibri" pitchFamily="34" charset="0"/>
                <a:ea typeface="Calibri" pitchFamily="34" charset="-122"/>
                <a:cs typeface="Calibri" pitchFamily="34" charset="-120"/>
              </a:rPr>
              <a:t>card · ACH</a:t>
            </a:r>
            <a:endParaRPr lang="en-US" sz="950" dirty="0"/>
          </a:p>
        </p:txBody>
      </p:sp>
      <p:sp>
        <p:nvSpPr>
          <p:cNvPr id="38" name="Shape 36"/>
          <p:cNvSpPr/>
          <p:nvPr/>
        </p:nvSpPr>
        <p:spPr>
          <a:xfrm>
            <a:off x="6944868" y="2139696"/>
            <a:ext cx="192024" cy="36576"/>
          </a:xfrm>
          <a:prstGeom prst="rect">
            <a:avLst/>
          </a:prstGeom>
          <a:solidFill>
            <a:srgbClr val="3D4E66"/>
          </a:solidFill>
          <a:ln w="12700">
            <a:solidFill>
              <a:srgbClr val="3D4E66"/>
            </a:solidFill>
            <a:prstDash val="solid"/>
          </a:ln>
        </p:spPr>
      </p:sp>
      <p:sp>
        <p:nvSpPr>
          <p:cNvPr id="39" name="Shape 37"/>
          <p:cNvSpPr/>
          <p:nvPr/>
        </p:nvSpPr>
        <p:spPr>
          <a:xfrm rot="2700000">
            <a:off x="7082028" y="2084832"/>
            <a:ext cx="91440" cy="146304"/>
          </a:xfrm>
          <a:prstGeom prst="rect">
            <a:avLst/>
          </a:prstGeom>
          <a:solidFill>
            <a:srgbClr val="3D4E66"/>
          </a:solidFill>
          <a:ln w="12700">
            <a:solidFill>
              <a:srgbClr val="3D4E66"/>
            </a:solidFill>
            <a:prstDash val="solid"/>
          </a:ln>
        </p:spPr>
      </p:sp>
      <p:sp>
        <p:nvSpPr>
          <p:cNvPr id="40" name="Shape 38"/>
          <p:cNvSpPr/>
          <p:nvPr/>
        </p:nvSpPr>
        <p:spPr>
          <a:xfrm>
            <a:off x="7155180" y="1508760"/>
            <a:ext cx="1417320" cy="1298448"/>
          </a:xfrm>
          <a:prstGeom prst="rect">
            <a:avLst/>
          </a:prstGeom>
          <a:solidFill>
            <a:srgbClr val="0A1A10"/>
          </a:solidFill>
          <a:ln w="15240">
            <a:solidFill>
              <a:srgbClr val="1A3A22"/>
            </a:solidFill>
            <a:prstDash val="solid"/>
          </a:ln>
        </p:spPr>
      </p:sp>
      <p:sp>
        <p:nvSpPr>
          <p:cNvPr id="41" name="Shape 39"/>
          <p:cNvSpPr/>
          <p:nvPr/>
        </p:nvSpPr>
        <p:spPr>
          <a:xfrm>
            <a:off x="7155180" y="1508760"/>
            <a:ext cx="1417320" cy="45720"/>
          </a:xfrm>
          <a:prstGeom prst="rect">
            <a:avLst/>
          </a:prstGeom>
          <a:solidFill>
            <a:srgbClr val="1A3A22"/>
          </a:solidFill>
          <a:ln w="12700">
            <a:solidFill>
              <a:srgbClr val="1A3A22"/>
            </a:solidFill>
            <a:prstDash val="solid"/>
          </a:ln>
        </p:spPr>
      </p:sp>
      <p:sp>
        <p:nvSpPr>
          <p:cNvPr id="42" name="Text 40"/>
          <p:cNvSpPr/>
          <p:nvPr/>
        </p:nvSpPr>
        <p:spPr>
          <a:xfrm>
            <a:off x="7228332" y="1618488"/>
            <a:ext cx="127101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Paid + Logged</a:t>
            </a:r>
            <a:endParaRPr lang="en-US" sz="1150" dirty="0"/>
          </a:p>
        </p:txBody>
      </p:sp>
      <p:sp>
        <p:nvSpPr>
          <p:cNvPr id="43" name="Text 41"/>
          <p:cNvSpPr/>
          <p:nvPr/>
        </p:nvSpPr>
        <p:spPr>
          <a:xfrm>
            <a:off x="7228332" y="2011680"/>
            <a:ext cx="1271016" cy="731520"/>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signed receipt</a:t>
            </a:r>
            <a:endParaRPr lang="en-US" sz="950" dirty="0"/>
          </a:p>
          <a:p>
            <a:pPr algn="ctr" indent="0" marL="0">
              <a:buNone/>
            </a:pPr>
            <a:r>
              <a:rPr lang="en-US" sz="950" dirty="0">
                <a:solidFill>
                  <a:srgbClr val="8A9BBE"/>
                </a:solidFill>
                <a:latin typeface="Calibri" pitchFamily="34" charset="0"/>
                <a:ea typeface="Calibri" pitchFamily="34" charset="-122"/>
                <a:cs typeface="Calibri" pitchFamily="34" charset="-120"/>
              </a:rPr>
              <a:t>immutable record</a:t>
            </a:r>
            <a:endParaRPr lang="en-US" sz="950" dirty="0"/>
          </a:p>
        </p:txBody>
      </p:sp>
      <p:sp>
        <p:nvSpPr>
          <p:cNvPr id="44" name="Shape 42"/>
          <p:cNvSpPr/>
          <p:nvPr/>
        </p:nvSpPr>
        <p:spPr>
          <a:xfrm>
            <a:off x="365760" y="2999232"/>
            <a:ext cx="8412480" cy="685800"/>
          </a:xfrm>
          <a:prstGeom prst="rect">
            <a:avLst/>
          </a:prstGeom>
          <a:solidFill>
            <a:srgbClr val="0A0F1A"/>
          </a:solidFill>
          <a:ln w="9525">
            <a:solidFill>
              <a:srgbClr val="1E3050"/>
            </a:solidFill>
            <a:prstDash val="solid"/>
          </a:ln>
        </p:spPr>
      </p:sp>
      <p:sp>
        <p:nvSpPr>
          <p:cNvPr id="45" name="Text 43"/>
          <p:cNvSpPr/>
          <p:nvPr/>
        </p:nvSpPr>
        <p:spPr>
          <a:xfrm>
            <a:off x="548640" y="2999232"/>
            <a:ext cx="8138160" cy="685800"/>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CISO: Can an agent spend outside policy if Tutelum's servers are breached?  </a:t>
            </a:r>
            <a:pPr indent="0" marL="0">
              <a:buNone/>
            </a:pPr>
            <a:r>
              <a:rPr lang="en-US" sz="1100" b="1" dirty="0">
                <a:solidFill>
                  <a:srgbClr val="4B8EF8"/>
                </a:solidFill>
                <a:latin typeface="Calibri" pitchFamily="34" charset="0"/>
                <a:ea typeface="Calibri" pitchFamily="34" charset="-122"/>
                <a:cs typeface="Calibri" pitchFamily="34" charset="-120"/>
              </a:rPr>
              <a:t>No.</a:t>
            </a:r>
            <a:pPr indent="0" marL="0">
              <a:buNone/>
            </a:pPr>
            <a:r>
              <a:rPr lang="en-US" sz="1100" dirty="0">
                <a:solidFill>
                  <a:srgbClr val="8A9BBE"/>
                </a:solidFill>
                <a:latin typeface="Calibri" pitchFamily="34" charset="0"/>
                <a:ea typeface="Calibri" pitchFamily="34" charset="-122"/>
                <a:cs typeface="Calibri" pitchFamily="34" charset="-120"/>
              </a:rPr>
              <a:t>  The hard spend limit is enforced in hardware by Turnkey's secure enclave, cryptographically verifiable and independent of our application layer.</a:t>
            </a:r>
            <a:endParaRPr lang="en-US" sz="1100" dirty="0"/>
          </a:p>
        </p:txBody>
      </p:sp>
      <p:sp>
        <p:nvSpPr>
          <p:cNvPr id="46" name="Text 44"/>
          <p:cNvSpPr/>
          <p:nvPr/>
        </p:nvSpPr>
        <p:spPr>
          <a:xfrm>
            <a:off x="365760" y="3822192"/>
            <a:ext cx="2743200" cy="365760"/>
          </a:xfrm>
          <a:prstGeom prst="rect">
            <a:avLst/>
          </a:prstGeom>
          <a:noFill/>
          <a:ln/>
        </p:spPr>
        <p:txBody>
          <a:bodyPr wrap="square" lIns="0" tIns="0" rIns="0" bIns="0" rtlCol="0" anchor="ctr"/>
          <a:lstStyle/>
          <a:p>
            <a:pPr algn="ctr" indent="0" marL="0">
              <a:buNone/>
            </a:pPr>
            <a:r>
              <a:rPr lang="en-US" sz="950" dirty="0">
                <a:solidFill>
                  <a:srgbClr val="3D4E66"/>
                </a:solidFill>
                <a:latin typeface="Calibri" pitchFamily="34" charset="0"/>
                <a:ea typeface="Calibri" pitchFamily="34" charset="-122"/>
                <a:cs typeface="Calibri" pitchFamily="34" charset="-120"/>
              </a:rPr>
              <a:t>Spend limits · Velocity caps · Domain allowlists · Time-window rules</a:t>
            </a:r>
            <a:endParaRPr lang="en-US" sz="950" dirty="0"/>
          </a:p>
        </p:txBody>
      </p:sp>
      <p:sp>
        <p:nvSpPr>
          <p:cNvPr id="47" name="Text 45"/>
          <p:cNvSpPr/>
          <p:nvPr/>
        </p:nvSpPr>
        <p:spPr>
          <a:xfrm>
            <a:off x="3291840" y="3822192"/>
            <a:ext cx="2743200" cy="365760"/>
          </a:xfrm>
          <a:prstGeom prst="rect">
            <a:avLst/>
          </a:prstGeom>
          <a:noFill/>
          <a:ln/>
        </p:spPr>
        <p:txBody>
          <a:bodyPr wrap="square" lIns="0" tIns="0" rIns="0" bIns="0" rtlCol="0" anchor="ctr"/>
          <a:lstStyle/>
          <a:p>
            <a:pPr algn="ctr" indent="0" marL="0">
              <a:buNone/>
            </a:pPr>
            <a:r>
              <a:rPr lang="en-US" sz="950" dirty="0">
                <a:solidFill>
                  <a:srgbClr val="3D4E66"/>
                </a:solidFill>
                <a:latin typeface="Calibri" pitchFamily="34" charset="0"/>
                <a:ea typeface="Calibri" pitchFamily="34" charset="-122"/>
                <a:cs typeface="Calibri" pitchFamily="34" charset="-120"/>
              </a:rPr>
              <a:t>Z-score anomaly detection · 30-day behavioral baseline · Zero latency</a:t>
            </a:r>
            <a:endParaRPr lang="en-US" sz="950" dirty="0"/>
          </a:p>
        </p:txBody>
      </p:sp>
      <p:sp>
        <p:nvSpPr>
          <p:cNvPr id="48" name="Text 46"/>
          <p:cNvSpPr/>
          <p:nvPr/>
        </p:nvSpPr>
        <p:spPr>
          <a:xfrm>
            <a:off x="6217920" y="3822192"/>
            <a:ext cx="2743200" cy="365760"/>
          </a:xfrm>
          <a:prstGeom prst="rect">
            <a:avLst/>
          </a:prstGeom>
          <a:noFill/>
          <a:ln/>
        </p:spPr>
        <p:txBody>
          <a:bodyPr wrap="square" lIns="0" tIns="0" rIns="0" bIns="0" rtlCol="0" anchor="ctr"/>
          <a:lstStyle/>
          <a:p>
            <a:pPr algn="ctr" indent="0" marL="0">
              <a:buNone/>
            </a:pPr>
            <a:r>
              <a:rPr lang="en-US" sz="950" dirty="0">
                <a:solidFill>
                  <a:srgbClr val="3D4E66"/>
                </a:solidFill>
                <a:latin typeface="Calibri" pitchFamily="34" charset="0"/>
                <a:ea typeface="Calibri" pitchFamily="34" charset="-122"/>
                <a:cs typeface="Calibri" pitchFamily="34" charset="-120"/>
              </a:rPr>
              <a:t>Cryptographically signed · 12-month retention · CSV / PDF / JSON export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6 / 12</a:t>
            </a:r>
            <a:endParaRPr lang="en-US" sz="800" dirty="0"/>
          </a:p>
        </p:txBody>
      </p:sp>
      <p:sp>
        <p:nvSpPr>
          <p:cNvPr id="3" name="Text 1"/>
          <p:cNvSpPr/>
          <p:nvPr/>
        </p:nvSpPr>
        <p:spPr>
          <a:xfrm>
            <a:off x="457200" y="182880"/>
            <a:ext cx="8229600" cy="530352"/>
          </a:xfrm>
          <a:prstGeom prst="rect">
            <a:avLst/>
          </a:prstGeom>
          <a:noFill/>
          <a:ln/>
        </p:spPr>
        <p:txBody>
          <a:bodyPr wrap="square"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Momentum Before Revenue</a:t>
            </a:r>
            <a:endParaRPr lang="en-US" sz="2700" dirty="0"/>
          </a:p>
        </p:txBody>
      </p:sp>
      <p:sp>
        <p:nvSpPr>
          <p:cNvPr id="4" name="Text 2"/>
          <p:cNvSpPr/>
          <p:nvPr/>
        </p:nvSpPr>
        <p:spPr>
          <a:xfrm>
            <a:off x="685800" y="749808"/>
            <a:ext cx="7772400" cy="384048"/>
          </a:xfrm>
          <a:prstGeom prst="rect">
            <a:avLst/>
          </a:prstGeom>
          <a:noFill/>
          <a:ln/>
        </p:spPr>
        <p:txBody>
          <a:bodyPr wrap="square" rtlCol="0" anchor="ctr"/>
          <a:lstStyle/>
          <a:p>
            <a:pPr algn="ctr" indent="0" marL="0">
              <a:buNone/>
            </a:pPr>
            <a:r>
              <a:rPr lang="en-US" sz="1150" dirty="0">
                <a:solidFill>
                  <a:srgbClr val="8A9BBE"/>
                </a:solidFill>
                <a:latin typeface="Calibri" pitchFamily="34" charset="0"/>
                <a:ea typeface="Calibri" pitchFamily="34" charset="-122"/>
                <a:cs typeface="Calibri" pitchFamily="34" charset="-120"/>
              </a:rPr>
              <a:t>Pre-revenue does not mean pre-progress. The product is live, tested, and integrated with the tools engineers already use.</a:t>
            </a:r>
            <a:endParaRPr lang="en-US" sz="1150" dirty="0"/>
          </a:p>
        </p:txBody>
      </p:sp>
      <p:sp>
        <p:nvSpPr>
          <p:cNvPr id="5" name="Shape 3"/>
          <p:cNvSpPr/>
          <p:nvPr/>
        </p:nvSpPr>
        <p:spPr>
          <a:xfrm>
            <a:off x="365760" y="1298448"/>
            <a:ext cx="1965960" cy="3474720"/>
          </a:xfrm>
          <a:prstGeom prst="rect">
            <a:avLst/>
          </a:prstGeom>
          <a:solidFill>
            <a:srgbClr val="1A2235"/>
          </a:solidFill>
          <a:ln w="9525">
            <a:solidFill>
              <a:srgbClr val="232E45"/>
            </a:solidFill>
            <a:prstDash val="solid"/>
          </a:ln>
        </p:spPr>
      </p:sp>
      <p:sp>
        <p:nvSpPr>
          <p:cNvPr id="6" name="Shape 4"/>
          <p:cNvSpPr/>
          <p:nvPr/>
        </p:nvSpPr>
        <p:spPr>
          <a:xfrm>
            <a:off x="365760" y="1298448"/>
            <a:ext cx="1965960" cy="45720"/>
          </a:xfrm>
          <a:prstGeom prst="rect">
            <a:avLst/>
          </a:prstGeom>
          <a:solidFill>
            <a:srgbClr val="4B8EF8"/>
          </a:solidFill>
          <a:ln w="12700">
            <a:solidFill>
              <a:srgbClr val="4B8EF8"/>
            </a:solidFill>
            <a:prstDash val="solid"/>
          </a:ln>
        </p:spPr>
      </p:sp>
      <p:sp>
        <p:nvSpPr>
          <p:cNvPr id="7" name="Text 5"/>
          <p:cNvSpPr/>
          <p:nvPr/>
        </p:nvSpPr>
        <p:spPr>
          <a:xfrm>
            <a:off x="457200" y="1481328"/>
            <a:ext cx="1783080" cy="658368"/>
          </a:xfrm>
          <a:prstGeom prst="rect">
            <a:avLst/>
          </a:prstGeom>
          <a:noFill/>
          <a:ln/>
        </p:spPr>
        <p:txBody>
          <a:bodyPr wrap="square" lIns="0" tIns="0" rIns="0" bIns="0" rtlCol="0" anchor="ctr"/>
          <a:lstStyle/>
          <a:p>
            <a:pPr algn="ctr" indent="0" marL="0">
              <a:buNone/>
            </a:pPr>
            <a:r>
              <a:rPr lang="en-US" sz="4200" b="1" dirty="0">
                <a:solidFill>
                  <a:srgbClr val="4B8EF8"/>
                </a:solidFill>
                <a:latin typeface="Calibri" pitchFamily="34" charset="0"/>
                <a:ea typeface="Calibri" pitchFamily="34" charset="-122"/>
                <a:cs typeface="Calibri" pitchFamily="34" charset="-120"/>
              </a:rPr>
              <a:t>3</a:t>
            </a:r>
            <a:endParaRPr lang="en-US" sz="4200" dirty="0"/>
          </a:p>
        </p:txBody>
      </p:sp>
      <p:sp>
        <p:nvSpPr>
          <p:cNvPr id="8" name="Text 6"/>
          <p:cNvSpPr/>
          <p:nvPr/>
        </p:nvSpPr>
        <p:spPr>
          <a:xfrm>
            <a:off x="457200" y="2176272"/>
            <a:ext cx="17830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Integrations Shipped</a:t>
            </a:r>
            <a:endParaRPr lang="en-US" sz="1200" dirty="0"/>
          </a:p>
        </p:txBody>
      </p:sp>
      <p:sp>
        <p:nvSpPr>
          <p:cNvPr id="9" name="Shape 7"/>
          <p:cNvSpPr/>
          <p:nvPr/>
        </p:nvSpPr>
        <p:spPr>
          <a:xfrm>
            <a:off x="640080" y="2560320"/>
            <a:ext cx="1417320" cy="18288"/>
          </a:xfrm>
          <a:prstGeom prst="rect">
            <a:avLst/>
          </a:prstGeom>
          <a:solidFill>
            <a:srgbClr val="3D4E66"/>
          </a:solidFill>
          <a:ln w="12700">
            <a:solidFill>
              <a:srgbClr val="3D4E66"/>
            </a:solidFill>
            <a:prstDash val="solid"/>
          </a:ln>
        </p:spPr>
      </p:sp>
      <p:sp>
        <p:nvSpPr>
          <p:cNvPr id="10" name="Text 8"/>
          <p:cNvSpPr/>
          <p:nvPr/>
        </p:nvSpPr>
        <p:spPr>
          <a:xfrm>
            <a:off x="457200" y="2651760"/>
            <a:ext cx="1783080" cy="1097280"/>
          </a:xfrm>
          <a:prstGeom prst="rect">
            <a:avLst/>
          </a:prstGeom>
          <a:noFill/>
          <a:ln/>
        </p:spPr>
        <p:txBody>
          <a:bodyPr wrap="square" lIns="0" tIns="0" rIns="0" bIns="0" rtlCol="0" anchor="ctr"/>
          <a:lstStyle/>
          <a:p>
            <a:pPr algn="ctr" indent="0" marL="0">
              <a:buNone/>
            </a:pPr>
            <a:r>
              <a:rPr lang="en-US" sz="1000" dirty="0">
                <a:solidFill>
                  <a:srgbClr val="8A9BBE"/>
                </a:solidFill>
                <a:latin typeface="Calibri" pitchFamily="34" charset="0"/>
                <a:ea typeface="Calibri" pitchFamily="34" charset="-122"/>
                <a:cs typeface="Calibri" pitchFamily="34" charset="-120"/>
              </a:rPr>
              <a:t>LangChain  ·  AutoGen  ·  MCP</a:t>
            </a:r>
            <a:endParaRPr lang="en-US" sz="1000" dirty="0"/>
          </a:p>
          <a:p>
            <a:pPr algn="ctr" indent="0" marL="0">
              <a:buNone/>
            </a:pPr>
            <a:r>
              <a:rPr lang="en-US" sz="1000" dirty="0">
                <a:solidFill>
                  <a:srgbClr val="8A9BBE"/>
                </a:solidFill>
                <a:latin typeface="Calibri" pitchFamily="34" charset="0"/>
                <a:ea typeface="Calibri" pitchFamily="34" charset="-122"/>
                <a:cs typeface="Calibri" pitchFamily="34" charset="-120"/>
              </a:rPr>
              <a:t>Drop-in for the most popular agent frameworks</a:t>
            </a:r>
            <a:endParaRPr lang="en-US" sz="1000" dirty="0"/>
          </a:p>
        </p:txBody>
      </p:sp>
      <p:sp>
        <p:nvSpPr>
          <p:cNvPr id="11" name="Shape 9"/>
          <p:cNvSpPr/>
          <p:nvPr/>
        </p:nvSpPr>
        <p:spPr>
          <a:xfrm>
            <a:off x="2514600" y="1298448"/>
            <a:ext cx="1965960" cy="3474720"/>
          </a:xfrm>
          <a:prstGeom prst="rect">
            <a:avLst/>
          </a:prstGeom>
          <a:solidFill>
            <a:srgbClr val="1A2235"/>
          </a:solidFill>
          <a:ln w="9525">
            <a:solidFill>
              <a:srgbClr val="232E45"/>
            </a:solidFill>
            <a:prstDash val="solid"/>
          </a:ln>
        </p:spPr>
      </p:sp>
      <p:sp>
        <p:nvSpPr>
          <p:cNvPr id="12" name="Shape 10"/>
          <p:cNvSpPr/>
          <p:nvPr/>
        </p:nvSpPr>
        <p:spPr>
          <a:xfrm>
            <a:off x="2514600" y="1298448"/>
            <a:ext cx="1965960" cy="45720"/>
          </a:xfrm>
          <a:prstGeom prst="rect">
            <a:avLst/>
          </a:prstGeom>
          <a:solidFill>
            <a:srgbClr val="4ADE80"/>
          </a:solidFill>
          <a:ln w="12700">
            <a:solidFill>
              <a:srgbClr val="4ADE80"/>
            </a:solidFill>
            <a:prstDash val="solid"/>
          </a:ln>
        </p:spPr>
      </p:sp>
      <p:sp>
        <p:nvSpPr>
          <p:cNvPr id="13" name="Text 11"/>
          <p:cNvSpPr/>
          <p:nvPr/>
        </p:nvSpPr>
        <p:spPr>
          <a:xfrm>
            <a:off x="2606040" y="1481328"/>
            <a:ext cx="1783080" cy="658368"/>
          </a:xfrm>
          <a:prstGeom prst="rect">
            <a:avLst/>
          </a:prstGeom>
          <a:noFill/>
          <a:ln/>
        </p:spPr>
        <p:txBody>
          <a:bodyPr wrap="square" lIns="0" tIns="0" rIns="0" bIns="0" rtlCol="0" anchor="ctr"/>
          <a:lstStyle/>
          <a:p>
            <a:pPr algn="ctr" indent="0" marL="0">
              <a:buNone/>
            </a:pPr>
            <a:r>
              <a:rPr lang="en-US" sz="3000" b="1" dirty="0">
                <a:solidFill>
                  <a:srgbClr val="4ADE80"/>
                </a:solidFill>
                <a:latin typeface="Calibri" pitchFamily="34" charset="0"/>
                <a:ea typeface="Calibri" pitchFamily="34" charset="-122"/>
                <a:cs typeface="Calibri" pitchFamily="34" charset="-120"/>
              </a:rPr>
              <a:t>100%</a:t>
            </a:r>
            <a:endParaRPr lang="en-US" sz="3000" dirty="0"/>
          </a:p>
        </p:txBody>
      </p:sp>
      <p:sp>
        <p:nvSpPr>
          <p:cNvPr id="14" name="Text 12"/>
          <p:cNvSpPr/>
          <p:nvPr/>
        </p:nvSpPr>
        <p:spPr>
          <a:xfrm>
            <a:off x="2606040" y="2176272"/>
            <a:ext cx="17830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Policy Enforcement Rate</a:t>
            </a:r>
            <a:endParaRPr lang="en-US" sz="1200" dirty="0"/>
          </a:p>
        </p:txBody>
      </p:sp>
      <p:sp>
        <p:nvSpPr>
          <p:cNvPr id="15" name="Shape 13"/>
          <p:cNvSpPr/>
          <p:nvPr/>
        </p:nvSpPr>
        <p:spPr>
          <a:xfrm>
            <a:off x="2788920" y="2560320"/>
            <a:ext cx="1417320" cy="18288"/>
          </a:xfrm>
          <a:prstGeom prst="rect">
            <a:avLst/>
          </a:prstGeom>
          <a:solidFill>
            <a:srgbClr val="3D4E66"/>
          </a:solidFill>
          <a:ln w="12700">
            <a:solidFill>
              <a:srgbClr val="3D4E66"/>
            </a:solidFill>
            <a:prstDash val="solid"/>
          </a:ln>
        </p:spPr>
      </p:sp>
      <p:sp>
        <p:nvSpPr>
          <p:cNvPr id="16" name="Text 14"/>
          <p:cNvSpPr/>
          <p:nvPr/>
        </p:nvSpPr>
        <p:spPr>
          <a:xfrm>
            <a:off x="2606040" y="2651760"/>
            <a:ext cx="1783080" cy="1097280"/>
          </a:xfrm>
          <a:prstGeom prst="rect">
            <a:avLst/>
          </a:prstGeom>
          <a:noFill/>
          <a:ln/>
        </p:spPr>
        <p:txBody>
          <a:bodyPr wrap="square" lIns="0" tIns="0" rIns="0" bIns="0" rtlCol="0" anchor="ctr"/>
          <a:lstStyle/>
          <a:p>
            <a:pPr algn="ctr" indent="0" marL="0">
              <a:buNone/>
            </a:pPr>
            <a:r>
              <a:rPr lang="en-US" sz="1000" dirty="0">
                <a:solidFill>
                  <a:srgbClr val="8A9BBE"/>
                </a:solidFill>
                <a:latin typeface="Calibri" pitchFamily="34" charset="0"/>
                <a:ea typeface="Calibri" pitchFamily="34" charset="-122"/>
                <a:cs typeface="Calibri" pitchFamily="34" charset="-120"/>
              </a:rPr>
              <a:t>Zero policy bypasses recorded</a:t>
            </a:r>
            <a:endParaRPr lang="en-US" sz="1000" dirty="0"/>
          </a:p>
          <a:p>
            <a:pPr algn="ctr" indent="0" marL="0">
              <a:buNone/>
            </a:pPr>
            <a:r>
              <a:rPr lang="en-US" sz="1000" dirty="0">
                <a:solidFill>
                  <a:srgbClr val="8A9BBE"/>
                </a:solidFill>
                <a:latin typeface="Calibri" pitchFamily="34" charset="0"/>
                <a:ea typeface="Calibri" pitchFamily="34" charset="-122"/>
                <a:cs typeface="Calibri" pitchFamily="34" charset="-120"/>
              </a:rPr>
              <a:t>in production testing to date</a:t>
            </a:r>
            <a:endParaRPr lang="en-US" sz="1000" dirty="0"/>
          </a:p>
        </p:txBody>
      </p:sp>
      <p:sp>
        <p:nvSpPr>
          <p:cNvPr id="17" name="Shape 15"/>
          <p:cNvSpPr/>
          <p:nvPr/>
        </p:nvSpPr>
        <p:spPr>
          <a:xfrm>
            <a:off x="4663440" y="1298448"/>
            <a:ext cx="1965960" cy="3474720"/>
          </a:xfrm>
          <a:prstGeom prst="rect">
            <a:avLst/>
          </a:prstGeom>
          <a:solidFill>
            <a:srgbClr val="1A2235"/>
          </a:solidFill>
          <a:ln w="9525">
            <a:solidFill>
              <a:srgbClr val="232E45"/>
            </a:solidFill>
            <a:prstDash val="solid"/>
          </a:ln>
        </p:spPr>
      </p:sp>
      <p:sp>
        <p:nvSpPr>
          <p:cNvPr id="18" name="Shape 16"/>
          <p:cNvSpPr/>
          <p:nvPr/>
        </p:nvSpPr>
        <p:spPr>
          <a:xfrm>
            <a:off x="4663440" y="1298448"/>
            <a:ext cx="1965960" cy="45720"/>
          </a:xfrm>
          <a:prstGeom prst="rect">
            <a:avLst/>
          </a:prstGeom>
          <a:solidFill>
            <a:srgbClr val="2DD4BF"/>
          </a:solidFill>
          <a:ln w="12700">
            <a:solidFill>
              <a:srgbClr val="2DD4BF"/>
            </a:solidFill>
            <a:prstDash val="solid"/>
          </a:ln>
        </p:spPr>
      </p:sp>
      <p:sp>
        <p:nvSpPr>
          <p:cNvPr id="19" name="Text 17"/>
          <p:cNvSpPr/>
          <p:nvPr/>
        </p:nvSpPr>
        <p:spPr>
          <a:xfrm>
            <a:off x="4754880" y="1481328"/>
            <a:ext cx="1783080" cy="658368"/>
          </a:xfrm>
          <a:prstGeom prst="rect">
            <a:avLst/>
          </a:prstGeom>
          <a:noFill/>
          <a:ln/>
        </p:spPr>
        <p:txBody>
          <a:bodyPr wrap="square" lIns="0" tIns="0" rIns="0" bIns="0" rtlCol="0" anchor="ctr"/>
          <a:lstStyle/>
          <a:p>
            <a:pPr algn="ctr" indent="0" marL="0">
              <a:buNone/>
            </a:pPr>
            <a:r>
              <a:rPr lang="en-US" sz="3000" b="1" dirty="0">
                <a:solidFill>
                  <a:srgbClr val="2DD4BF"/>
                </a:solidFill>
                <a:latin typeface="Calibri" pitchFamily="34" charset="0"/>
                <a:ea typeface="Calibri" pitchFamily="34" charset="-122"/>
                <a:cs typeface="Calibri" pitchFamily="34" charset="-120"/>
              </a:rPr>
              <a:t>0 → Live</a:t>
            </a:r>
            <a:endParaRPr lang="en-US" sz="3000" dirty="0"/>
          </a:p>
        </p:txBody>
      </p:sp>
      <p:sp>
        <p:nvSpPr>
          <p:cNvPr id="20" name="Text 18"/>
          <p:cNvSpPr/>
          <p:nvPr/>
        </p:nvSpPr>
        <p:spPr>
          <a:xfrm>
            <a:off x="4754880" y="2176272"/>
            <a:ext cx="17830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Production-Ready</a:t>
            </a:r>
            <a:endParaRPr lang="en-US" sz="1200" dirty="0"/>
          </a:p>
        </p:txBody>
      </p:sp>
      <p:sp>
        <p:nvSpPr>
          <p:cNvPr id="21" name="Shape 19"/>
          <p:cNvSpPr/>
          <p:nvPr/>
        </p:nvSpPr>
        <p:spPr>
          <a:xfrm>
            <a:off x="4937760" y="2560320"/>
            <a:ext cx="1417320" cy="18288"/>
          </a:xfrm>
          <a:prstGeom prst="rect">
            <a:avLst/>
          </a:prstGeom>
          <a:solidFill>
            <a:srgbClr val="3D4E66"/>
          </a:solidFill>
          <a:ln w="12700">
            <a:solidFill>
              <a:srgbClr val="3D4E66"/>
            </a:solidFill>
            <a:prstDash val="solid"/>
          </a:ln>
        </p:spPr>
      </p:sp>
      <p:sp>
        <p:nvSpPr>
          <p:cNvPr id="22" name="Text 20"/>
          <p:cNvSpPr/>
          <p:nvPr/>
        </p:nvSpPr>
        <p:spPr>
          <a:xfrm>
            <a:off x="4754880" y="2651760"/>
            <a:ext cx="1783080" cy="1097280"/>
          </a:xfrm>
          <a:prstGeom prst="rect">
            <a:avLst/>
          </a:prstGeom>
          <a:noFill/>
          <a:ln/>
        </p:spPr>
        <p:txBody>
          <a:bodyPr wrap="square" lIns="0" tIns="0" rIns="0" bIns="0" rtlCol="0" anchor="ctr"/>
          <a:lstStyle/>
          <a:p>
            <a:pPr algn="ctr" indent="0" marL="0">
              <a:buNone/>
            </a:pPr>
            <a:r>
              <a:rPr lang="en-US" sz="1000" dirty="0">
                <a:solidFill>
                  <a:srgbClr val="8A9BBE"/>
                </a:solidFill>
                <a:latin typeface="Calibri" pitchFamily="34" charset="0"/>
                <a:ea typeface="Calibri" pitchFamily="34" charset="-122"/>
                <a:cs typeface="Calibri" pitchFamily="34" charset="-120"/>
              </a:rPr>
              <a:t>Built and deployed by a 3-person team</a:t>
            </a:r>
            <a:endParaRPr lang="en-US" sz="1000" dirty="0"/>
          </a:p>
          <a:p>
            <a:pPr algn="ctr" indent="0" marL="0">
              <a:buNone/>
            </a:pPr>
            <a:r>
              <a:rPr lang="en-US" sz="1000" dirty="0">
                <a:solidFill>
                  <a:srgbClr val="8A9BBE"/>
                </a:solidFill>
                <a:latin typeface="Calibri" pitchFamily="34" charset="0"/>
                <a:ea typeface="Calibri" pitchFamily="34" charset="-122"/>
                <a:cs typeface="Calibri" pitchFamily="34" charset="-120"/>
              </a:rPr>
              <a:t>Demonstrates execution speed and focus</a:t>
            </a:r>
            <a:endParaRPr lang="en-US" sz="1000" dirty="0"/>
          </a:p>
        </p:txBody>
      </p:sp>
      <p:sp>
        <p:nvSpPr>
          <p:cNvPr id="23" name="Shape 21"/>
          <p:cNvSpPr/>
          <p:nvPr/>
        </p:nvSpPr>
        <p:spPr>
          <a:xfrm>
            <a:off x="6812280" y="1298448"/>
            <a:ext cx="1965960" cy="3474720"/>
          </a:xfrm>
          <a:prstGeom prst="rect">
            <a:avLst/>
          </a:prstGeom>
          <a:solidFill>
            <a:srgbClr val="1A2235"/>
          </a:solidFill>
          <a:ln w="9525">
            <a:solidFill>
              <a:srgbClr val="232E45"/>
            </a:solidFill>
            <a:prstDash val="solid"/>
          </a:ln>
        </p:spPr>
      </p:sp>
      <p:sp>
        <p:nvSpPr>
          <p:cNvPr id="24" name="Shape 22"/>
          <p:cNvSpPr/>
          <p:nvPr/>
        </p:nvSpPr>
        <p:spPr>
          <a:xfrm>
            <a:off x="6812280" y="1298448"/>
            <a:ext cx="1965960" cy="45720"/>
          </a:xfrm>
          <a:prstGeom prst="rect">
            <a:avLst/>
          </a:prstGeom>
          <a:solidFill>
            <a:srgbClr val="F59E0B"/>
          </a:solidFill>
          <a:ln w="12700">
            <a:solidFill>
              <a:srgbClr val="F59E0B"/>
            </a:solidFill>
            <a:prstDash val="solid"/>
          </a:ln>
        </p:spPr>
      </p:sp>
      <p:sp>
        <p:nvSpPr>
          <p:cNvPr id="25" name="Text 23"/>
          <p:cNvSpPr/>
          <p:nvPr/>
        </p:nvSpPr>
        <p:spPr>
          <a:xfrm>
            <a:off x="6903720" y="1481328"/>
            <a:ext cx="1783080" cy="658368"/>
          </a:xfrm>
          <a:prstGeom prst="rect">
            <a:avLst/>
          </a:prstGeom>
          <a:noFill/>
          <a:ln/>
        </p:spPr>
        <p:txBody>
          <a:bodyPr wrap="square" lIns="0" tIns="0" rIns="0" bIns="0" rtlCol="0" anchor="ctr"/>
          <a:lstStyle/>
          <a:p>
            <a:pPr algn="ctr" indent="0" marL="0">
              <a:buNone/>
            </a:pPr>
            <a:r>
              <a:rPr lang="en-US" sz="3000" b="1" dirty="0">
                <a:solidFill>
                  <a:srgbClr val="F59E0B"/>
                </a:solidFill>
                <a:latin typeface="Calibri" pitchFamily="34" charset="0"/>
                <a:ea typeface="Calibri" pitchFamily="34" charset="-122"/>
                <a:cs typeface="Calibri" pitchFamily="34" charset="-120"/>
              </a:rPr>
              <a:t>Active</a:t>
            </a:r>
            <a:endParaRPr lang="en-US" sz="3000" dirty="0"/>
          </a:p>
        </p:txBody>
      </p:sp>
      <p:sp>
        <p:nvSpPr>
          <p:cNvPr id="26" name="Text 24"/>
          <p:cNvSpPr/>
          <p:nvPr/>
        </p:nvSpPr>
        <p:spPr>
          <a:xfrm>
            <a:off x="6903720" y="2176272"/>
            <a:ext cx="17830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 Discovery</a:t>
            </a:r>
            <a:endParaRPr lang="en-US" sz="1200" dirty="0"/>
          </a:p>
        </p:txBody>
      </p:sp>
      <p:sp>
        <p:nvSpPr>
          <p:cNvPr id="27" name="Shape 25"/>
          <p:cNvSpPr/>
          <p:nvPr/>
        </p:nvSpPr>
        <p:spPr>
          <a:xfrm>
            <a:off x="7086600" y="2560320"/>
            <a:ext cx="1417320" cy="18288"/>
          </a:xfrm>
          <a:prstGeom prst="rect">
            <a:avLst/>
          </a:prstGeom>
          <a:solidFill>
            <a:srgbClr val="3D4E66"/>
          </a:solidFill>
          <a:ln w="12700">
            <a:solidFill>
              <a:srgbClr val="3D4E66"/>
            </a:solidFill>
            <a:prstDash val="solid"/>
          </a:ln>
        </p:spPr>
      </p:sp>
      <p:sp>
        <p:nvSpPr>
          <p:cNvPr id="28" name="Text 26"/>
          <p:cNvSpPr/>
          <p:nvPr/>
        </p:nvSpPr>
        <p:spPr>
          <a:xfrm>
            <a:off x="6903720" y="2651760"/>
            <a:ext cx="1783080" cy="1097280"/>
          </a:xfrm>
          <a:prstGeom prst="rect">
            <a:avLst/>
          </a:prstGeom>
          <a:noFill/>
          <a:ln/>
        </p:spPr>
        <p:txBody>
          <a:bodyPr wrap="square" lIns="0" tIns="0" rIns="0" bIns="0" rtlCol="0" anchor="ctr"/>
          <a:lstStyle/>
          <a:p>
            <a:pPr algn="ctr" indent="0" marL="0">
              <a:buNone/>
            </a:pPr>
            <a:r>
              <a:rPr lang="en-US" sz="1000" dirty="0">
                <a:solidFill>
                  <a:srgbClr val="8A9BBE"/>
                </a:solidFill>
                <a:latin typeface="Calibri" pitchFamily="34" charset="0"/>
                <a:ea typeface="Calibri" pitchFamily="34" charset="-122"/>
                <a:cs typeface="Calibri" pitchFamily="34" charset="-120"/>
              </a:rPr>
              <a:t>Ongoing enterprise CISO and</a:t>
            </a:r>
            <a:endParaRPr lang="en-US" sz="1000" dirty="0"/>
          </a:p>
          <a:p>
            <a:pPr algn="ctr" indent="0" marL="0">
              <a:buNone/>
            </a:pPr>
            <a:r>
              <a:rPr lang="en-US" sz="1000" dirty="0">
                <a:solidFill>
                  <a:srgbClr val="8A9BBE"/>
                </a:solidFill>
                <a:latin typeface="Calibri" pitchFamily="34" charset="0"/>
                <a:ea typeface="Calibri" pitchFamily="34" charset="-122"/>
                <a:cs typeface="Calibri" pitchFamily="34" charset="-120"/>
              </a:rPr>
              <a:t>VP Eng conversations in progress</a:t>
            </a:r>
            <a:endParaRPr lang="en-US" sz="1000" dirty="0"/>
          </a:p>
        </p:txBody>
      </p:sp>
      <p:sp>
        <p:nvSpPr>
          <p:cNvPr id="29" name="Shape 27"/>
          <p:cNvSpPr/>
          <p:nvPr/>
        </p:nvSpPr>
        <p:spPr>
          <a:xfrm>
            <a:off x="365760" y="4773168"/>
            <a:ext cx="8412480" cy="274320"/>
          </a:xfrm>
          <a:prstGeom prst="rect">
            <a:avLst/>
          </a:prstGeom>
          <a:solidFill>
            <a:srgbClr val="0A1A10"/>
          </a:solidFill>
          <a:ln w="9525">
            <a:solidFill>
              <a:srgbClr val="1A3A22"/>
            </a:solidFill>
            <a:prstDash val="solid"/>
          </a:ln>
        </p:spPr>
      </p:sp>
      <p:sp>
        <p:nvSpPr>
          <p:cNvPr id="30" name="Text 28"/>
          <p:cNvSpPr/>
          <p:nvPr/>
        </p:nvSpPr>
        <p:spPr>
          <a:xfrm>
            <a:off x="548640" y="4773168"/>
            <a:ext cx="8046720" cy="274320"/>
          </a:xfrm>
          <a:prstGeom prst="rect">
            <a:avLst/>
          </a:prstGeom>
          <a:noFill/>
          <a:ln/>
        </p:spPr>
        <p:txBody>
          <a:bodyPr wrap="square" lIns="0" tIns="0" rIns="0" bIns="0" rtlCol="0" anchor="ctr"/>
          <a:lstStyle/>
          <a:p>
            <a:pPr algn="ctr" indent="0" marL="0">
              <a:buNone/>
            </a:pPr>
            <a:r>
              <a:rPr lang="en-US" sz="950" dirty="0">
                <a:solidFill>
                  <a:srgbClr val="4ADE80"/>
                </a:solidFill>
                <a:latin typeface="Calibri" pitchFamily="34" charset="0"/>
                <a:ea typeface="Calibri" pitchFamily="34" charset="-122"/>
                <a:cs typeface="Calibri" pitchFamily="34" charset="-120"/>
              </a:rPr>
              <a:t>Next milestone: 5 signed pilot agreements · Letters of Intent from enterprise accounts in target verticals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7 / 12</a:t>
            </a:r>
            <a:endParaRPr lang="en-US" sz="800" dirty="0"/>
          </a:p>
        </p:txBody>
      </p:sp>
      <p:sp>
        <p:nvSpPr>
          <p:cNvPr id="3" name="Text 1"/>
          <p:cNvSpPr/>
          <p:nvPr/>
        </p:nvSpPr>
        <p:spPr>
          <a:xfrm>
            <a:off x="457200" y="164592"/>
            <a:ext cx="8229600" cy="50292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Usage-Based SaaS + Platform Fees</a:t>
            </a:r>
            <a:endParaRPr lang="en-US" sz="2700" dirty="0"/>
          </a:p>
        </p:txBody>
      </p:sp>
      <p:sp>
        <p:nvSpPr>
          <p:cNvPr id="4" name="Shape 2"/>
          <p:cNvSpPr/>
          <p:nvPr/>
        </p:nvSpPr>
        <p:spPr>
          <a:xfrm>
            <a:off x="365760" y="777240"/>
            <a:ext cx="2697480" cy="2331720"/>
          </a:xfrm>
          <a:prstGeom prst="rect">
            <a:avLst/>
          </a:prstGeom>
          <a:solidFill>
            <a:srgbClr val="1A2235"/>
          </a:solidFill>
          <a:ln w="9525">
            <a:solidFill>
              <a:srgbClr val="232E45"/>
            </a:solidFill>
            <a:prstDash val="solid"/>
          </a:ln>
        </p:spPr>
      </p:sp>
      <p:sp>
        <p:nvSpPr>
          <p:cNvPr id="5" name="Shape 3"/>
          <p:cNvSpPr/>
          <p:nvPr/>
        </p:nvSpPr>
        <p:spPr>
          <a:xfrm>
            <a:off x="365760" y="777240"/>
            <a:ext cx="2697480" cy="45720"/>
          </a:xfrm>
          <a:prstGeom prst="rect">
            <a:avLst/>
          </a:prstGeom>
          <a:solidFill>
            <a:srgbClr val="2D5BB8"/>
          </a:solidFill>
          <a:ln w="12700">
            <a:solidFill>
              <a:srgbClr val="2D5BB8"/>
            </a:solidFill>
            <a:prstDash val="solid"/>
          </a:ln>
        </p:spPr>
      </p:sp>
      <p:sp>
        <p:nvSpPr>
          <p:cNvPr id="6" name="Text 4"/>
          <p:cNvSpPr/>
          <p:nvPr/>
        </p:nvSpPr>
        <p:spPr>
          <a:xfrm>
            <a:off x="502920" y="914400"/>
            <a:ext cx="24231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Starter</a:t>
            </a:r>
            <a:endParaRPr lang="en-US" sz="1400" dirty="0"/>
          </a:p>
        </p:txBody>
      </p:sp>
      <p:sp>
        <p:nvSpPr>
          <p:cNvPr id="7" name="Text 5"/>
          <p:cNvSpPr/>
          <p:nvPr/>
        </p:nvSpPr>
        <p:spPr>
          <a:xfrm>
            <a:off x="502920" y="1234440"/>
            <a:ext cx="2423160" cy="292608"/>
          </a:xfrm>
          <a:prstGeom prst="rect">
            <a:avLst/>
          </a:prstGeom>
          <a:noFill/>
          <a:ln/>
        </p:spPr>
        <p:txBody>
          <a:bodyPr wrap="square" lIns="0" tIns="0" rIns="0" bIns="0" rtlCol="0" anchor="ctr"/>
          <a:lstStyle/>
          <a:p>
            <a:pPr indent="0" marL="0">
              <a:buNone/>
            </a:pPr>
            <a:r>
              <a:rPr lang="en-US" sz="1100" b="1" dirty="0">
                <a:solidFill>
                  <a:srgbClr val="8A9BBE"/>
                </a:solidFill>
                <a:latin typeface="Calibri" pitchFamily="34" charset="0"/>
                <a:ea typeface="Calibri" pitchFamily="34" charset="-122"/>
                <a:cs typeface="Calibri" pitchFamily="34" charset="-120"/>
              </a:rPr>
              <a:t>Free  →  $199/mo</a:t>
            </a:r>
            <a:endParaRPr lang="en-US" sz="1100" dirty="0"/>
          </a:p>
        </p:txBody>
      </p:sp>
      <p:sp>
        <p:nvSpPr>
          <p:cNvPr id="8" name="Shape 6"/>
          <p:cNvSpPr/>
          <p:nvPr/>
        </p:nvSpPr>
        <p:spPr>
          <a:xfrm>
            <a:off x="502920" y="1572768"/>
            <a:ext cx="2423160" cy="18288"/>
          </a:xfrm>
          <a:prstGeom prst="rect">
            <a:avLst/>
          </a:prstGeom>
          <a:solidFill>
            <a:srgbClr val="1E2A40"/>
          </a:solidFill>
          <a:ln w="12700">
            <a:solidFill>
              <a:srgbClr val="1E2A40"/>
            </a:solidFill>
            <a:prstDash val="solid"/>
          </a:ln>
        </p:spPr>
      </p:sp>
      <p:sp>
        <p:nvSpPr>
          <p:cNvPr id="9" name="Shape 7"/>
          <p:cNvSpPr/>
          <p:nvPr/>
        </p:nvSpPr>
        <p:spPr>
          <a:xfrm>
            <a:off x="530352" y="1819656"/>
            <a:ext cx="91440" cy="91440"/>
          </a:xfrm>
          <a:prstGeom prst="ellipse">
            <a:avLst/>
          </a:prstGeom>
          <a:solidFill>
            <a:srgbClr val="3D4E66"/>
          </a:solidFill>
          <a:ln w="12700">
            <a:solidFill>
              <a:srgbClr val="3D4E66"/>
            </a:solidFill>
            <a:prstDash val="solid"/>
          </a:ln>
        </p:spPr>
      </p:sp>
      <p:sp>
        <p:nvSpPr>
          <p:cNvPr id="10" name="Text 8"/>
          <p:cNvSpPr/>
          <p:nvPr/>
        </p:nvSpPr>
        <p:spPr>
          <a:xfrm>
            <a:off x="685800" y="1719072"/>
            <a:ext cx="2221992" cy="292608"/>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Up to 10 agents</a:t>
            </a:r>
            <a:endParaRPr lang="en-US" sz="1000" dirty="0"/>
          </a:p>
        </p:txBody>
      </p:sp>
      <p:sp>
        <p:nvSpPr>
          <p:cNvPr id="11" name="Shape 9"/>
          <p:cNvSpPr/>
          <p:nvPr/>
        </p:nvSpPr>
        <p:spPr>
          <a:xfrm>
            <a:off x="530352" y="2148840"/>
            <a:ext cx="91440" cy="91440"/>
          </a:xfrm>
          <a:prstGeom prst="ellipse">
            <a:avLst/>
          </a:prstGeom>
          <a:solidFill>
            <a:srgbClr val="3D4E66"/>
          </a:solidFill>
          <a:ln w="12700">
            <a:solidFill>
              <a:srgbClr val="3D4E66"/>
            </a:solidFill>
            <a:prstDash val="solid"/>
          </a:ln>
        </p:spPr>
      </p:sp>
      <p:sp>
        <p:nvSpPr>
          <p:cNvPr id="12" name="Text 10"/>
          <p:cNvSpPr/>
          <p:nvPr/>
        </p:nvSpPr>
        <p:spPr>
          <a:xfrm>
            <a:off x="685800" y="2048256"/>
            <a:ext cx="2221992" cy="292608"/>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10K tx/mo</a:t>
            </a:r>
            <a:endParaRPr lang="en-US" sz="1000" dirty="0"/>
          </a:p>
        </p:txBody>
      </p:sp>
      <p:sp>
        <p:nvSpPr>
          <p:cNvPr id="13" name="Shape 11"/>
          <p:cNvSpPr/>
          <p:nvPr/>
        </p:nvSpPr>
        <p:spPr>
          <a:xfrm>
            <a:off x="530352" y="2478024"/>
            <a:ext cx="91440" cy="91440"/>
          </a:xfrm>
          <a:prstGeom prst="ellipse">
            <a:avLst/>
          </a:prstGeom>
          <a:solidFill>
            <a:srgbClr val="3D4E66"/>
          </a:solidFill>
          <a:ln w="12700">
            <a:solidFill>
              <a:srgbClr val="3D4E66"/>
            </a:solidFill>
            <a:prstDash val="solid"/>
          </a:ln>
        </p:spPr>
      </p:sp>
      <p:sp>
        <p:nvSpPr>
          <p:cNvPr id="14" name="Text 12"/>
          <p:cNvSpPr/>
          <p:nvPr/>
        </p:nvSpPr>
        <p:spPr>
          <a:xfrm>
            <a:off x="685800" y="2377440"/>
            <a:ext cx="2221992" cy="292608"/>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Basic policy</a:t>
            </a:r>
            <a:endParaRPr lang="en-US" sz="1000" dirty="0"/>
          </a:p>
        </p:txBody>
      </p:sp>
      <p:sp>
        <p:nvSpPr>
          <p:cNvPr id="15" name="Shape 13"/>
          <p:cNvSpPr/>
          <p:nvPr/>
        </p:nvSpPr>
        <p:spPr>
          <a:xfrm>
            <a:off x="530352" y="2807208"/>
            <a:ext cx="91440" cy="91440"/>
          </a:xfrm>
          <a:prstGeom prst="ellipse">
            <a:avLst/>
          </a:prstGeom>
          <a:solidFill>
            <a:srgbClr val="3D4E66"/>
          </a:solidFill>
          <a:ln w="12700">
            <a:solidFill>
              <a:srgbClr val="3D4E66"/>
            </a:solidFill>
            <a:prstDash val="solid"/>
          </a:ln>
        </p:spPr>
      </p:sp>
      <p:sp>
        <p:nvSpPr>
          <p:cNvPr id="16" name="Text 14"/>
          <p:cNvSpPr/>
          <p:nvPr/>
        </p:nvSpPr>
        <p:spPr>
          <a:xfrm>
            <a:off x="685800" y="2706624"/>
            <a:ext cx="2221992" cy="292608"/>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30-day audit log</a:t>
            </a:r>
            <a:endParaRPr lang="en-US" sz="1000" dirty="0"/>
          </a:p>
        </p:txBody>
      </p:sp>
      <p:sp>
        <p:nvSpPr>
          <p:cNvPr id="17" name="Shape 15"/>
          <p:cNvSpPr/>
          <p:nvPr/>
        </p:nvSpPr>
        <p:spPr>
          <a:xfrm>
            <a:off x="3246120" y="777240"/>
            <a:ext cx="2697480" cy="2331720"/>
          </a:xfrm>
          <a:prstGeom prst="rect">
            <a:avLst/>
          </a:prstGeom>
          <a:solidFill>
            <a:srgbClr val="162040"/>
          </a:solidFill>
          <a:ln w="9525">
            <a:solidFill>
              <a:srgbClr val="2D5BB8"/>
            </a:solidFill>
            <a:prstDash val="solid"/>
          </a:ln>
        </p:spPr>
      </p:sp>
      <p:sp>
        <p:nvSpPr>
          <p:cNvPr id="18" name="Shape 16"/>
          <p:cNvSpPr/>
          <p:nvPr/>
        </p:nvSpPr>
        <p:spPr>
          <a:xfrm>
            <a:off x="3246120" y="777240"/>
            <a:ext cx="2697480" cy="45720"/>
          </a:xfrm>
          <a:prstGeom prst="rect">
            <a:avLst/>
          </a:prstGeom>
          <a:solidFill>
            <a:srgbClr val="4B8EF8"/>
          </a:solidFill>
          <a:ln w="12700">
            <a:solidFill>
              <a:srgbClr val="4B8EF8"/>
            </a:solidFill>
            <a:prstDash val="solid"/>
          </a:ln>
        </p:spPr>
      </p:sp>
      <p:sp>
        <p:nvSpPr>
          <p:cNvPr id="19" name="Text 17"/>
          <p:cNvSpPr/>
          <p:nvPr/>
        </p:nvSpPr>
        <p:spPr>
          <a:xfrm>
            <a:off x="3383280" y="914400"/>
            <a:ext cx="2423160" cy="292608"/>
          </a:xfrm>
          <a:prstGeom prst="rect">
            <a:avLst/>
          </a:prstGeom>
          <a:noFill/>
          <a:ln/>
        </p:spPr>
        <p:txBody>
          <a:bodyPr wrap="square" lIns="0" tIns="0" rIns="0" bIns="0" rtlCol="0" anchor="ctr"/>
          <a:lstStyle/>
          <a:p>
            <a:pPr indent="0" marL="0">
              <a:buNone/>
            </a:pPr>
            <a:r>
              <a:rPr lang="en-US" sz="1400" b="1" dirty="0">
                <a:solidFill>
                  <a:srgbClr val="4B8EF8"/>
                </a:solidFill>
                <a:latin typeface="Calibri" pitchFamily="34" charset="0"/>
                <a:ea typeface="Calibri" pitchFamily="34" charset="-122"/>
                <a:cs typeface="Calibri" pitchFamily="34" charset="-120"/>
              </a:rPr>
              <a:t>Growth</a:t>
            </a:r>
            <a:endParaRPr lang="en-US" sz="1400" dirty="0"/>
          </a:p>
        </p:txBody>
      </p:sp>
      <p:sp>
        <p:nvSpPr>
          <p:cNvPr id="20" name="Text 18"/>
          <p:cNvSpPr/>
          <p:nvPr/>
        </p:nvSpPr>
        <p:spPr>
          <a:xfrm>
            <a:off x="3383280" y="1234440"/>
            <a:ext cx="242316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$999/mo + 0.008% per tx</a:t>
            </a:r>
            <a:endParaRPr lang="en-US" sz="1100" dirty="0"/>
          </a:p>
        </p:txBody>
      </p:sp>
      <p:sp>
        <p:nvSpPr>
          <p:cNvPr id="21" name="Shape 19"/>
          <p:cNvSpPr/>
          <p:nvPr/>
        </p:nvSpPr>
        <p:spPr>
          <a:xfrm>
            <a:off x="3383280" y="1572768"/>
            <a:ext cx="2423160" cy="18288"/>
          </a:xfrm>
          <a:prstGeom prst="rect">
            <a:avLst/>
          </a:prstGeom>
          <a:solidFill>
            <a:srgbClr val="1E2A40"/>
          </a:solidFill>
          <a:ln w="12700">
            <a:solidFill>
              <a:srgbClr val="1E2A40"/>
            </a:solidFill>
            <a:prstDash val="solid"/>
          </a:ln>
        </p:spPr>
      </p:sp>
      <p:sp>
        <p:nvSpPr>
          <p:cNvPr id="22" name="Shape 20"/>
          <p:cNvSpPr/>
          <p:nvPr/>
        </p:nvSpPr>
        <p:spPr>
          <a:xfrm>
            <a:off x="3410712" y="1819656"/>
            <a:ext cx="91440" cy="91440"/>
          </a:xfrm>
          <a:prstGeom prst="ellipse">
            <a:avLst/>
          </a:prstGeom>
          <a:solidFill>
            <a:srgbClr val="4B8EF8"/>
          </a:solidFill>
          <a:ln w="12700">
            <a:solidFill>
              <a:srgbClr val="4B8EF8"/>
            </a:solidFill>
            <a:prstDash val="solid"/>
          </a:ln>
        </p:spPr>
      </p:sp>
      <p:sp>
        <p:nvSpPr>
          <p:cNvPr id="23" name="Text 21"/>
          <p:cNvSpPr/>
          <p:nvPr/>
        </p:nvSpPr>
        <p:spPr>
          <a:xfrm>
            <a:off x="3566160" y="1719072"/>
            <a:ext cx="2221992"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Unlimited agents</a:t>
            </a:r>
            <a:endParaRPr lang="en-US" sz="1000" dirty="0"/>
          </a:p>
        </p:txBody>
      </p:sp>
      <p:sp>
        <p:nvSpPr>
          <p:cNvPr id="24" name="Shape 22"/>
          <p:cNvSpPr/>
          <p:nvPr/>
        </p:nvSpPr>
        <p:spPr>
          <a:xfrm>
            <a:off x="3410712" y="2148840"/>
            <a:ext cx="91440" cy="91440"/>
          </a:xfrm>
          <a:prstGeom prst="ellipse">
            <a:avLst/>
          </a:prstGeom>
          <a:solidFill>
            <a:srgbClr val="4B8EF8"/>
          </a:solidFill>
          <a:ln w="12700">
            <a:solidFill>
              <a:srgbClr val="4B8EF8"/>
            </a:solidFill>
            <a:prstDash val="solid"/>
          </a:ln>
        </p:spPr>
      </p:sp>
      <p:sp>
        <p:nvSpPr>
          <p:cNvPr id="25" name="Text 23"/>
          <p:cNvSpPr/>
          <p:nvPr/>
        </p:nvSpPr>
        <p:spPr>
          <a:xfrm>
            <a:off x="3566160" y="2048256"/>
            <a:ext cx="2221992"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Full policy + anomaly detection</a:t>
            </a:r>
            <a:endParaRPr lang="en-US" sz="1000" dirty="0"/>
          </a:p>
        </p:txBody>
      </p:sp>
      <p:sp>
        <p:nvSpPr>
          <p:cNvPr id="26" name="Shape 24"/>
          <p:cNvSpPr/>
          <p:nvPr/>
        </p:nvSpPr>
        <p:spPr>
          <a:xfrm>
            <a:off x="3410712" y="2478024"/>
            <a:ext cx="91440" cy="91440"/>
          </a:xfrm>
          <a:prstGeom prst="ellipse">
            <a:avLst/>
          </a:prstGeom>
          <a:solidFill>
            <a:srgbClr val="4B8EF8"/>
          </a:solidFill>
          <a:ln w="12700">
            <a:solidFill>
              <a:srgbClr val="4B8EF8"/>
            </a:solidFill>
            <a:prstDash val="solid"/>
          </a:ln>
        </p:spPr>
      </p:sp>
      <p:sp>
        <p:nvSpPr>
          <p:cNvPr id="27" name="Text 25"/>
          <p:cNvSpPr/>
          <p:nvPr/>
        </p:nvSpPr>
        <p:spPr>
          <a:xfrm>
            <a:off x="3566160" y="2377440"/>
            <a:ext cx="2221992"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Human approvals</a:t>
            </a:r>
            <a:endParaRPr lang="en-US" sz="1000" dirty="0"/>
          </a:p>
        </p:txBody>
      </p:sp>
      <p:sp>
        <p:nvSpPr>
          <p:cNvPr id="28" name="Shape 26"/>
          <p:cNvSpPr/>
          <p:nvPr/>
        </p:nvSpPr>
        <p:spPr>
          <a:xfrm>
            <a:off x="3410712" y="2807208"/>
            <a:ext cx="91440" cy="91440"/>
          </a:xfrm>
          <a:prstGeom prst="ellipse">
            <a:avLst/>
          </a:prstGeom>
          <a:solidFill>
            <a:srgbClr val="4B8EF8"/>
          </a:solidFill>
          <a:ln w="12700">
            <a:solidFill>
              <a:srgbClr val="4B8EF8"/>
            </a:solidFill>
            <a:prstDash val="solid"/>
          </a:ln>
        </p:spPr>
      </p:sp>
      <p:sp>
        <p:nvSpPr>
          <p:cNvPr id="29" name="Text 27"/>
          <p:cNvSpPr/>
          <p:nvPr/>
        </p:nvSpPr>
        <p:spPr>
          <a:xfrm>
            <a:off x="3566160" y="2706624"/>
            <a:ext cx="2221992"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12-month audit log</a:t>
            </a:r>
            <a:endParaRPr lang="en-US" sz="1000" dirty="0"/>
          </a:p>
        </p:txBody>
      </p:sp>
      <p:sp>
        <p:nvSpPr>
          <p:cNvPr id="30" name="Shape 28"/>
          <p:cNvSpPr/>
          <p:nvPr/>
        </p:nvSpPr>
        <p:spPr>
          <a:xfrm>
            <a:off x="6126480" y="777240"/>
            <a:ext cx="2697480" cy="2331720"/>
          </a:xfrm>
          <a:prstGeom prst="rect">
            <a:avLst/>
          </a:prstGeom>
          <a:solidFill>
            <a:srgbClr val="1A2235"/>
          </a:solidFill>
          <a:ln w="9525">
            <a:solidFill>
              <a:srgbClr val="232E45"/>
            </a:solidFill>
            <a:prstDash val="solid"/>
          </a:ln>
        </p:spPr>
      </p:sp>
      <p:sp>
        <p:nvSpPr>
          <p:cNvPr id="31" name="Shape 29"/>
          <p:cNvSpPr/>
          <p:nvPr/>
        </p:nvSpPr>
        <p:spPr>
          <a:xfrm>
            <a:off x="6126480" y="777240"/>
            <a:ext cx="2697480" cy="45720"/>
          </a:xfrm>
          <a:prstGeom prst="rect">
            <a:avLst/>
          </a:prstGeom>
          <a:solidFill>
            <a:srgbClr val="2D5BB8"/>
          </a:solidFill>
          <a:ln w="12700">
            <a:solidFill>
              <a:srgbClr val="2D5BB8"/>
            </a:solidFill>
            <a:prstDash val="solid"/>
          </a:ln>
        </p:spPr>
      </p:sp>
      <p:sp>
        <p:nvSpPr>
          <p:cNvPr id="32" name="Text 30"/>
          <p:cNvSpPr/>
          <p:nvPr/>
        </p:nvSpPr>
        <p:spPr>
          <a:xfrm>
            <a:off x="6263640" y="914400"/>
            <a:ext cx="24231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Enterprise</a:t>
            </a:r>
            <a:endParaRPr lang="en-US" sz="1400" dirty="0"/>
          </a:p>
        </p:txBody>
      </p:sp>
      <p:sp>
        <p:nvSpPr>
          <p:cNvPr id="33" name="Text 31"/>
          <p:cNvSpPr/>
          <p:nvPr/>
        </p:nvSpPr>
        <p:spPr>
          <a:xfrm>
            <a:off x="6263640" y="1234440"/>
            <a:ext cx="2423160" cy="292608"/>
          </a:xfrm>
          <a:prstGeom prst="rect">
            <a:avLst/>
          </a:prstGeom>
          <a:noFill/>
          <a:ln/>
        </p:spPr>
        <p:txBody>
          <a:bodyPr wrap="square" lIns="0" tIns="0" rIns="0" bIns="0" rtlCol="0" anchor="ctr"/>
          <a:lstStyle/>
          <a:p>
            <a:pPr indent="0" marL="0">
              <a:buNone/>
            </a:pPr>
            <a:r>
              <a:rPr lang="en-US" sz="1100" b="1" dirty="0">
                <a:solidFill>
                  <a:srgbClr val="8A9BBE"/>
                </a:solidFill>
                <a:latin typeface="Calibri" pitchFamily="34" charset="0"/>
                <a:ea typeface="Calibri" pitchFamily="34" charset="-122"/>
                <a:cs typeface="Calibri" pitchFamily="34" charset="-120"/>
              </a:rPr>
              <a:t>Custom</a:t>
            </a:r>
            <a:endParaRPr lang="en-US" sz="1100" dirty="0"/>
          </a:p>
        </p:txBody>
      </p:sp>
      <p:sp>
        <p:nvSpPr>
          <p:cNvPr id="34" name="Shape 32"/>
          <p:cNvSpPr/>
          <p:nvPr/>
        </p:nvSpPr>
        <p:spPr>
          <a:xfrm>
            <a:off x="6263640" y="1572768"/>
            <a:ext cx="2423160" cy="18288"/>
          </a:xfrm>
          <a:prstGeom prst="rect">
            <a:avLst/>
          </a:prstGeom>
          <a:solidFill>
            <a:srgbClr val="1E2A40"/>
          </a:solidFill>
          <a:ln w="12700">
            <a:solidFill>
              <a:srgbClr val="1E2A40"/>
            </a:solidFill>
            <a:prstDash val="solid"/>
          </a:ln>
        </p:spPr>
      </p:sp>
      <p:sp>
        <p:nvSpPr>
          <p:cNvPr id="35" name="Shape 33"/>
          <p:cNvSpPr/>
          <p:nvPr/>
        </p:nvSpPr>
        <p:spPr>
          <a:xfrm>
            <a:off x="6291072" y="1819656"/>
            <a:ext cx="91440" cy="91440"/>
          </a:xfrm>
          <a:prstGeom prst="ellipse">
            <a:avLst/>
          </a:prstGeom>
          <a:solidFill>
            <a:srgbClr val="3D4E66"/>
          </a:solidFill>
          <a:ln w="12700">
            <a:solidFill>
              <a:srgbClr val="3D4E66"/>
            </a:solidFill>
            <a:prstDash val="solid"/>
          </a:ln>
        </p:spPr>
      </p:sp>
      <p:sp>
        <p:nvSpPr>
          <p:cNvPr id="36" name="Text 34"/>
          <p:cNvSpPr/>
          <p:nvPr/>
        </p:nvSpPr>
        <p:spPr>
          <a:xfrm>
            <a:off x="6446520" y="1719072"/>
            <a:ext cx="2221992" cy="292608"/>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Turnkey TEE hardware</a:t>
            </a:r>
            <a:endParaRPr lang="en-US" sz="1000" dirty="0"/>
          </a:p>
        </p:txBody>
      </p:sp>
      <p:sp>
        <p:nvSpPr>
          <p:cNvPr id="37" name="Shape 35"/>
          <p:cNvSpPr/>
          <p:nvPr/>
        </p:nvSpPr>
        <p:spPr>
          <a:xfrm>
            <a:off x="6291072" y="2148840"/>
            <a:ext cx="91440" cy="91440"/>
          </a:xfrm>
          <a:prstGeom prst="ellipse">
            <a:avLst/>
          </a:prstGeom>
          <a:solidFill>
            <a:srgbClr val="3D4E66"/>
          </a:solidFill>
          <a:ln w="12700">
            <a:solidFill>
              <a:srgbClr val="3D4E66"/>
            </a:solidFill>
            <a:prstDash val="solid"/>
          </a:ln>
        </p:spPr>
      </p:sp>
      <p:sp>
        <p:nvSpPr>
          <p:cNvPr id="38" name="Text 36"/>
          <p:cNvSpPr/>
          <p:nvPr/>
        </p:nvSpPr>
        <p:spPr>
          <a:xfrm>
            <a:off x="6446520" y="2048256"/>
            <a:ext cx="2221992" cy="292608"/>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SOC 2 / EU AI Act packages</a:t>
            </a:r>
            <a:endParaRPr lang="en-US" sz="1000" dirty="0"/>
          </a:p>
        </p:txBody>
      </p:sp>
      <p:sp>
        <p:nvSpPr>
          <p:cNvPr id="39" name="Shape 37"/>
          <p:cNvSpPr/>
          <p:nvPr/>
        </p:nvSpPr>
        <p:spPr>
          <a:xfrm>
            <a:off x="6291072" y="2478024"/>
            <a:ext cx="91440" cy="91440"/>
          </a:xfrm>
          <a:prstGeom prst="ellipse">
            <a:avLst/>
          </a:prstGeom>
          <a:solidFill>
            <a:srgbClr val="3D4E66"/>
          </a:solidFill>
          <a:ln w="12700">
            <a:solidFill>
              <a:srgbClr val="3D4E66"/>
            </a:solidFill>
            <a:prstDash val="solid"/>
          </a:ln>
        </p:spPr>
      </p:sp>
      <p:sp>
        <p:nvSpPr>
          <p:cNvPr id="40" name="Text 38"/>
          <p:cNvSpPr/>
          <p:nvPr/>
        </p:nvSpPr>
        <p:spPr>
          <a:xfrm>
            <a:off x="6446520" y="2377440"/>
            <a:ext cx="2221992" cy="292608"/>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SSO (Okta, Azure AD)</a:t>
            </a:r>
            <a:endParaRPr lang="en-US" sz="1000" dirty="0"/>
          </a:p>
        </p:txBody>
      </p:sp>
      <p:sp>
        <p:nvSpPr>
          <p:cNvPr id="41" name="Shape 39"/>
          <p:cNvSpPr/>
          <p:nvPr/>
        </p:nvSpPr>
        <p:spPr>
          <a:xfrm>
            <a:off x="6291072" y="2807208"/>
            <a:ext cx="91440" cy="91440"/>
          </a:xfrm>
          <a:prstGeom prst="ellipse">
            <a:avLst/>
          </a:prstGeom>
          <a:solidFill>
            <a:srgbClr val="3D4E66"/>
          </a:solidFill>
          <a:ln w="12700">
            <a:solidFill>
              <a:srgbClr val="3D4E66"/>
            </a:solidFill>
            <a:prstDash val="solid"/>
          </a:ln>
        </p:spPr>
      </p:sp>
      <p:sp>
        <p:nvSpPr>
          <p:cNvPr id="42" name="Text 40"/>
          <p:cNvSpPr/>
          <p:nvPr/>
        </p:nvSpPr>
        <p:spPr>
          <a:xfrm>
            <a:off x="6446520" y="2706624"/>
            <a:ext cx="2221992" cy="292608"/>
          </a:xfrm>
          <a:prstGeom prst="rect">
            <a:avLst/>
          </a:prstGeom>
          <a:noFill/>
          <a:ln/>
        </p:spPr>
        <p:txBody>
          <a:bodyPr wrap="square" lIns="0" tIns="0" rIns="0" bIns="0" rtlCol="0" anchor="ctr"/>
          <a:lstStyle/>
          <a:p>
            <a:pPr indent="0" marL="0">
              <a:buNone/>
            </a:pPr>
            <a:r>
              <a:rPr lang="en-US" sz="1000" dirty="0">
                <a:solidFill>
                  <a:srgbClr val="8A9BBE"/>
                </a:solidFill>
                <a:latin typeface="Calibri" pitchFamily="34" charset="0"/>
                <a:ea typeface="Calibri" pitchFamily="34" charset="-122"/>
                <a:cs typeface="Calibri" pitchFamily="34" charset="-120"/>
              </a:rPr>
              <a:t>Dedicated support</a:t>
            </a:r>
            <a:endParaRPr lang="en-US" sz="1000" dirty="0"/>
          </a:p>
        </p:txBody>
      </p:sp>
      <p:sp>
        <p:nvSpPr>
          <p:cNvPr id="43" name="Shape 41"/>
          <p:cNvSpPr/>
          <p:nvPr/>
        </p:nvSpPr>
        <p:spPr>
          <a:xfrm>
            <a:off x="365760" y="3273552"/>
            <a:ext cx="8412480" cy="1664208"/>
          </a:xfrm>
          <a:prstGeom prst="rect">
            <a:avLst/>
          </a:prstGeom>
          <a:solidFill>
            <a:srgbClr val="0D1628"/>
          </a:solidFill>
          <a:ln w="9525">
            <a:solidFill>
              <a:srgbClr val="2D5BB8"/>
            </a:solidFill>
            <a:prstDash val="solid"/>
          </a:ln>
        </p:spPr>
      </p:sp>
      <p:sp>
        <p:nvSpPr>
          <p:cNvPr id="44" name="Shape 42"/>
          <p:cNvSpPr/>
          <p:nvPr/>
        </p:nvSpPr>
        <p:spPr>
          <a:xfrm>
            <a:off x="365760" y="3273552"/>
            <a:ext cx="45720" cy="1664208"/>
          </a:xfrm>
          <a:prstGeom prst="rect">
            <a:avLst/>
          </a:prstGeom>
          <a:solidFill>
            <a:srgbClr val="4B8EF8"/>
          </a:solidFill>
          <a:ln w="12700">
            <a:solidFill>
              <a:srgbClr val="4B8EF8"/>
            </a:solidFill>
            <a:prstDash val="solid"/>
          </a:ln>
        </p:spPr>
      </p:sp>
      <p:sp>
        <p:nvSpPr>
          <p:cNvPr id="45" name="Text 43"/>
          <p:cNvSpPr/>
          <p:nvPr/>
        </p:nvSpPr>
        <p:spPr>
          <a:xfrm>
            <a:off x="594360" y="3337560"/>
            <a:ext cx="7955280" cy="274320"/>
          </a:xfrm>
          <a:prstGeom prst="rect">
            <a:avLst/>
          </a:prstGeom>
          <a:noFill/>
          <a:ln/>
        </p:spPr>
        <p:txBody>
          <a:bodyPr wrap="square" lIns="0" tIns="0" rIns="0" bIns="0" rtlCol="0" anchor="ctr"/>
          <a:lstStyle/>
          <a:p>
            <a:pPr indent="0" marL="0">
              <a:buNone/>
            </a:pPr>
            <a:r>
              <a:rPr lang="en-US" sz="1100" b="1" dirty="0">
                <a:solidFill>
                  <a:srgbClr val="4B8EF8"/>
                </a:solidFill>
                <a:latin typeface="Calibri" pitchFamily="34" charset="0"/>
                <a:ea typeface="Calibri" pitchFamily="34" charset="-122"/>
                <a:cs typeface="Calibri" pitchFamily="34" charset="-120"/>
              </a:rPr>
              <a:t>Unit Economics</a:t>
            </a:r>
            <a:endParaRPr lang="en-US" sz="1100" dirty="0"/>
          </a:p>
        </p:txBody>
      </p:sp>
      <p:sp>
        <p:nvSpPr>
          <p:cNvPr id="46" name="Text 44"/>
          <p:cNvSpPr/>
          <p:nvPr/>
        </p:nvSpPr>
        <p:spPr>
          <a:xfrm>
            <a:off x="594360" y="3657600"/>
            <a:ext cx="7955280" cy="1188720"/>
          </a:xfrm>
          <a:prstGeom prst="rect">
            <a:avLst/>
          </a:prstGeom>
          <a:noFill/>
          <a:ln/>
        </p:spPr>
        <p:txBody>
          <a:bodyPr wrap="square" lIns="0" tIns="0" rIns="0" bIns="0" rtlCol="0" anchor="ctr"/>
          <a:lstStyle/>
          <a:p>
            <a:pPr indent="0" marL="0">
              <a:buNone/>
            </a:pPr>
            <a:r>
              <a:rPr lang="en-US" sz="1150" dirty="0">
                <a:solidFill>
                  <a:srgbClr val="8A9BBE"/>
                </a:solidFill>
                <a:latin typeface="Calibri" pitchFamily="34" charset="0"/>
                <a:ea typeface="Calibri" pitchFamily="34" charset="-122"/>
                <a:cs typeface="Calibri" pitchFamily="34" charset="-120"/>
              </a:rPr>
              <a:t>Growth plan $999/mo = $12K ACV  ·  Enterprise plan ~$40K–$80K ACV</a:t>
            </a:r>
            <a:endParaRPr lang="en-US" sz="1150" dirty="0"/>
          </a:p>
          <a:p>
            <a:pPr indent="0" marL="0">
              <a:buNone/>
            </a:pPr>
            <a:r>
              <a:rPr lang="en-US" sz="1150" dirty="0">
                <a:solidFill>
                  <a:srgbClr val="8A9BBE"/>
                </a:solidFill>
                <a:latin typeface="Calibri" pitchFamily="34" charset="0"/>
                <a:ea typeface="Calibri" pitchFamily="34" charset="-122"/>
                <a:cs typeface="Calibri" pitchFamily="34" charset="-120"/>
              </a:rPr>
              <a:t>Year 1 target: 15 enterprise + 25 growth accounts = ~$800K ARR  ·  Usage expansion: revenue scales automatically as agent fleets grow</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8 / 12</a:t>
            </a:r>
            <a:endParaRPr lang="en-US" sz="800" dirty="0"/>
          </a:p>
        </p:txBody>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Three-Motion GTM Strategy</a:t>
            </a:r>
            <a:endParaRPr lang="en-US" sz="2700" dirty="0"/>
          </a:p>
        </p:txBody>
      </p:sp>
      <p:sp>
        <p:nvSpPr>
          <p:cNvPr id="4" name="Text 2"/>
          <p:cNvSpPr/>
          <p:nvPr/>
        </p:nvSpPr>
        <p:spPr>
          <a:xfrm>
            <a:off x="685800" y="731520"/>
            <a:ext cx="7772400" cy="384048"/>
          </a:xfrm>
          <a:prstGeom prst="rect">
            <a:avLst/>
          </a:prstGeom>
          <a:noFill/>
          <a:ln/>
        </p:spPr>
        <p:txBody>
          <a:bodyPr wrap="square" rtlCol="0" anchor="ctr"/>
          <a:lstStyle/>
          <a:p>
            <a:pPr algn="ctr" indent="0" marL="0">
              <a:buNone/>
            </a:pPr>
            <a:r>
              <a:rPr lang="en-US" sz="1150" dirty="0">
                <a:solidFill>
                  <a:srgbClr val="8A9BBE"/>
                </a:solidFill>
                <a:latin typeface="Calibri" pitchFamily="34" charset="0"/>
                <a:ea typeface="Calibri" pitchFamily="34" charset="-122"/>
                <a:cs typeface="Calibri" pitchFamily="34" charset="-120"/>
              </a:rPr>
              <a:t>Developer-led adoption creates the land; compliance pressure closes the enterprise deal; usage expansion drives NRR.</a:t>
            </a:r>
            <a:endParaRPr lang="en-US" sz="1150" dirty="0"/>
          </a:p>
        </p:txBody>
      </p:sp>
      <p:sp>
        <p:nvSpPr>
          <p:cNvPr id="5" name="Shape 3"/>
          <p:cNvSpPr/>
          <p:nvPr/>
        </p:nvSpPr>
        <p:spPr>
          <a:xfrm>
            <a:off x="365760" y="1298448"/>
            <a:ext cx="2697480" cy="3383280"/>
          </a:xfrm>
          <a:prstGeom prst="rect">
            <a:avLst/>
          </a:prstGeom>
          <a:solidFill>
            <a:srgbClr val="1A2235"/>
          </a:solidFill>
          <a:ln w="9525">
            <a:solidFill>
              <a:srgbClr val="232E45"/>
            </a:solidFill>
            <a:prstDash val="solid"/>
          </a:ln>
        </p:spPr>
      </p:sp>
      <p:sp>
        <p:nvSpPr>
          <p:cNvPr id="6" name="Shape 4"/>
          <p:cNvSpPr/>
          <p:nvPr/>
        </p:nvSpPr>
        <p:spPr>
          <a:xfrm>
            <a:off x="365760" y="1298448"/>
            <a:ext cx="2697480" cy="45720"/>
          </a:xfrm>
          <a:prstGeom prst="rect">
            <a:avLst/>
          </a:prstGeom>
          <a:solidFill>
            <a:srgbClr val="4B8EF8"/>
          </a:solidFill>
          <a:ln w="12700">
            <a:solidFill>
              <a:srgbClr val="4B8EF8"/>
            </a:solidFill>
            <a:prstDash val="solid"/>
          </a:ln>
        </p:spPr>
      </p:sp>
      <p:sp>
        <p:nvSpPr>
          <p:cNvPr id="7" name="Text 5"/>
          <p:cNvSpPr/>
          <p:nvPr/>
        </p:nvSpPr>
        <p:spPr>
          <a:xfrm>
            <a:off x="502920" y="1463040"/>
            <a:ext cx="457200" cy="457200"/>
          </a:xfrm>
          <a:prstGeom prst="rect">
            <a:avLst/>
          </a:prstGeom>
          <a:noFill/>
          <a:ln/>
        </p:spPr>
        <p:txBody>
          <a:bodyPr wrap="square" lIns="0" tIns="0" rIns="0" bIns="0" rtlCol="0" anchor="ctr"/>
          <a:lstStyle/>
          <a:p>
            <a:pPr indent="0" marL="0">
              <a:buNone/>
            </a:pPr>
            <a:r>
              <a:rPr lang="en-US" sz="2600" b="1" dirty="0">
                <a:solidFill>
                  <a:srgbClr val="4B8EF8"/>
                </a:solidFill>
                <a:latin typeface="Calibri" pitchFamily="34" charset="0"/>
                <a:ea typeface="Calibri" pitchFamily="34" charset="-122"/>
                <a:cs typeface="Calibri" pitchFamily="34" charset="-120"/>
              </a:rPr>
              <a:t>①</a:t>
            </a:r>
            <a:endParaRPr lang="en-US" sz="2600" dirty="0"/>
          </a:p>
        </p:txBody>
      </p:sp>
      <p:sp>
        <p:nvSpPr>
          <p:cNvPr id="8" name="Text 6"/>
          <p:cNvSpPr/>
          <p:nvPr/>
        </p:nvSpPr>
        <p:spPr>
          <a:xfrm>
            <a:off x="502920" y="1956816"/>
            <a:ext cx="24231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SDK-Led (Bottom-Up)</a:t>
            </a:r>
            <a:endParaRPr lang="en-US" sz="1300" dirty="0"/>
          </a:p>
        </p:txBody>
      </p:sp>
      <p:sp>
        <p:nvSpPr>
          <p:cNvPr id="9" name="Shape 7"/>
          <p:cNvSpPr/>
          <p:nvPr/>
        </p:nvSpPr>
        <p:spPr>
          <a:xfrm>
            <a:off x="502920" y="2414016"/>
            <a:ext cx="2423160" cy="18288"/>
          </a:xfrm>
          <a:prstGeom prst="rect">
            <a:avLst/>
          </a:prstGeom>
          <a:solidFill>
            <a:srgbClr val="3D4E66"/>
          </a:solidFill>
          <a:ln w="12700">
            <a:solidFill>
              <a:srgbClr val="3D4E66"/>
            </a:solidFill>
            <a:prstDash val="solid"/>
          </a:ln>
        </p:spPr>
      </p:sp>
      <p:sp>
        <p:nvSpPr>
          <p:cNvPr id="10" name="Text 8"/>
          <p:cNvSpPr/>
          <p:nvPr/>
        </p:nvSpPr>
        <p:spPr>
          <a:xfrm>
            <a:off x="502920" y="2505456"/>
            <a:ext cx="2423160" cy="2011680"/>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Free tier and open MCP integration drive individual developer adoption. Developers bring Tutelum into their team's agent stack. Bottom-up enterprise land with zero cold sales needed for early accounts.</a:t>
            </a:r>
            <a:endParaRPr lang="en-US" sz="1100" dirty="0"/>
          </a:p>
        </p:txBody>
      </p:sp>
      <p:sp>
        <p:nvSpPr>
          <p:cNvPr id="11" name="Shape 9"/>
          <p:cNvSpPr/>
          <p:nvPr/>
        </p:nvSpPr>
        <p:spPr>
          <a:xfrm>
            <a:off x="3291840" y="1298448"/>
            <a:ext cx="2697480" cy="3383280"/>
          </a:xfrm>
          <a:prstGeom prst="rect">
            <a:avLst/>
          </a:prstGeom>
          <a:solidFill>
            <a:srgbClr val="1A2235"/>
          </a:solidFill>
          <a:ln w="9525">
            <a:solidFill>
              <a:srgbClr val="232E45"/>
            </a:solidFill>
            <a:prstDash val="solid"/>
          </a:ln>
        </p:spPr>
      </p:sp>
      <p:sp>
        <p:nvSpPr>
          <p:cNvPr id="12" name="Shape 10"/>
          <p:cNvSpPr/>
          <p:nvPr/>
        </p:nvSpPr>
        <p:spPr>
          <a:xfrm>
            <a:off x="3291840" y="1298448"/>
            <a:ext cx="2697480" cy="45720"/>
          </a:xfrm>
          <a:prstGeom prst="rect">
            <a:avLst/>
          </a:prstGeom>
          <a:solidFill>
            <a:srgbClr val="2DD4BF"/>
          </a:solidFill>
          <a:ln w="12700">
            <a:solidFill>
              <a:srgbClr val="2DD4BF"/>
            </a:solidFill>
            <a:prstDash val="solid"/>
          </a:ln>
        </p:spPr>
      </p:sp>
      <p:sp>
        <p:nvSpPr>
          <p:cNvPr id="13" name="Text 11"/>
          <p:cNvSpPr/>
          <p:nvPr/>
        </p:nvSpPr>
        <p:spPr>
          <a:xfrm>
            <a:off x="3429000" y="1463040"/>
            <a:ext cx="457200" cy="457200"/>
          </a:xfrm>
          <a:prstGeom prst="rect">
            <a:avLst/>
          </a:prstGeom>
          <a:noFill/>
          <a:ln/>
        </p:spPr>
        <p:txBody>
          <a:bodyPr wrap="square" lIns="0" tIns="0" rIns="0" bIns="0" rtlCol="0" anchor="ctr"/>
          <a:lstStyle/>
          <a:p>
            <a:pPr indent="0" marL="0">
              <a:buNone/>
            </a:pPr>
            <a:r>
              <a:rPr lang="en-US" sz="2600" b="1" dirty="0">
                <a:solidFill>
                  <a:srgbClr val="2DD4BF"/>
                </a:solidFill>
                <a:latin typeface="Calibri" pitchFamily="34" charset="0"/>
                <a:ea typeface="Calibri" pitchFamily="34" charset="-122"/>
                <a:cs typeface="Calibri" pitchFamily="34" charset="-120"/>
              </a:rPr>
              <a:t>②</a:t>
            </a:r>
            <a:endParaRPr lang="en-US" sz="2600" dirty="0"/>
          </a:p>
        </p:txBody>
      </p:sp>
      <p:sp>
        <p:nvSpPr>
          <p:cNvPr id="14" name="Text 12"/>
          <p:cNvSpPr/>
          <p:nvPr/>
        </p:nvSpPr>
        <p:spPr>
          <a:xfrm>
            <a:off x="3429000" y="1956816"/>
            <a:ext cx="24231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Compliance Pull (Top-Down)</a:t>
            </a:r>
            <a:endParaRPr lang="en-US" sz="1300" dirty="0"/>
          </a:p>
        </p:txBody>
      </p:sp>
      <p:sp>
        <p:nvSpPr>
          <p:cNvPr id="15" name="Shape 13"/>
          <p:cNvSpPr/>
          <p:nvPr/>
        </p:nvSpPr>
        <p:spPr>
          <a:xfrm>
            <a:off x="3429000" y="2414016"/>
            <a:ext cx="2423160" cy="18288"/>
          </a:xfrm>
          <a:prstGeom prst="rect">
            <a:avLst/>
          </a:prstGeom>
          <a:solidFill>
            <a:srgbClr val="3D4E66"/>
          </a:solidFill>
          <a:ln w="12700">
            <a:solidFill>
              <a:srgbClr val="3D4E66"/>
            </a:solidFill>
            <a:prstDash val="solid"/>
          </a:ln>
        </p:spPr>
      </p:sp>
      <p:sp>
        <p:nvSpPr>
          <p:cNvPr id="16" name="Text 14"/>
          <p:cNvSpPr/>
          <p:nvPr/>
        </p:nvSpPr>
        <p:spPr>
          <a:xfrm>
            <a:off x="3429000" y="2505456"/>
            <a:ext cx="2423160" cy="2011680"/>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EU AI Act enforcement (August 2026) creates a mandatory procurement trigger for enterprise legal and CISO teams. CISOs are already asking vendors about agent financial controls — Tutelum is the answer.</a:t>
            </a:r>
            <a:endParaRPr lang="en-US" sz="1100" dirty="0"/>
          </a:p>
        </p:txBody>
      </p:sp>
      <p:sp>
        <p:nvSpPr>
          <p:cNvPr id="17" name="Shape 15"/>
          <p:cNvSpPr/>
          <p:nvPr/>
        </p:nvSpPr>
        <p:spPr>
          <a:xfrm>
            <a:off x="6217920" y="1298448"/>
            <a:ext cx="2697480" cy="3383280"/>
          </a:xfrm>
          <a:prstGeom prst="rect">
            <a:avLst/>
          </a:prstGeom>
          <a:solidFill>
            <a:srgbClr val="1A2235"/>
          </a:solidFill>
          <a:ln w="9525">
            <a:solidFill>
              <a:srgbClr val="232E45"/>
            </a:solidFill>
            <a:prstDash val="solid"/>
          </a:ln>
        </p:spPr>
      </p:sp>
      <p:sp>
        <p:nvSpPr>
          <p:cNvPr id="18" name="Shape 16"/>
          <p:cNvSpPr/>
          <p:nvPr/>
        </p:nvSpPr>
        <p:spPr>
          <a:xfrm>
            <a:off x="6217920" y="1298448"/>
            <a:ext cx="2697480" cy="45720"/>
          </a:xfrm>
          <a:prstGeom prst="rect">
            <a:avLst/>
          </a:prstGeom>
          <a:solidFill>
            <a:srgbClr val="F59E0B"/>
          </a:solidFill>
          <a:ln w="12700">
            <a:solidFill>
              <a:srgbClr val="F59E0B"/>
            </a:solidFill>
            <a:prstDash val="solid"/>
          </a:ln>
        </p:spPr>
      </p:sp>
      <p:sp>
        <p:nvSpPr>
          <p:cNvPr id="19" name="Text 17"/>
          <p:cNvSpPr/>
          <p:nvPr/>
        </p:nvSpPr>
        <p:spPr>
          <a:xfrm>
            <a:off x="6355080" y="1463040"/>
            <a:ext cx="457200" cy="457200"/>
          </a:xfrm>
          <a:prstGeom prst="rect">
            <a:avLst/>
          </a:prstGeom>
          <a:noFill/>
          <a:ln/>
        </p:spPr>
        <p:txBody>
          <a:bodyPr wrap="square" lIns="0" tIns="0" rIns="0" bIns="0"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③</a:t>
            </a:r>
            <a:endParaRPr lang="en-US" sz="2600" dirty="0"/>
          </a:p>
        </p:txBody>
      </p:sp>
      <p:sp>
        <p:nvSpPr>
          <p:cNvPr id="20" name="Text 18"/>
          <p:cNvSpPr/>
          <p:nvPr/>
        </p:nvSpPr>
        <p:spPr>
          <a:xfrm>
            <a:off x="6355080" y="1956816"/>
            <a:ext cx="24231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Usage Expansion (Built-In NRR)</a:t>
            </a:r>
            <a:endParaRPr lang="en-US" sz="1300" dirty="0"/>
          </a:p>
        </p:txBody>
      </p:sp>
      <p:sp>
        <p:nvSpPr>
          <p:cNvPr id="21" name="Shape 19"/>
          <p:cNvSpPr/>
          <p:nvPr/>
        </p:nvSpPr>
        <p:spPr>
          <a:xfrm>
            <a:off x="6355080" y="2414016"/>
            <a:ext cx="2423160" cy="18288"/>
          </a:xfrm>
          <a:prstGeom prst="rect">
            <a:avLst/>
          </a:prstGeom>
          <a:solidFill>
            <a:srgbClr val="3D4E66"/>
          </a:solidFill>
          <a:ln w="12700">
            <a:solidFill>
              <a:srgbClr val="3D4E66"/>
            </a:solidFill>
            <a:prstDash val="solid"/>
          </a:ln>
        </p:spPr>
      </p:sp>
      <p:sp>
        <p:nvSpPr>
          <p:cNvPr id="22" name="Text 20"/>
          <p:cNvSpPr/>
          <p:nvPr/>
        </p:nvSpPr>
        <p:spPr>
          <a:xfrm>
            <a:off x="6355080" y="2505456"/>
            <a:ext cx="2423160" cy="2011680"/>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Revenue scales with agent fleet size, no enterprise renewal negotiation needed. Every new agent an existing customer deploys generates incremental per-transaction and per-seat revenue automatically.</a:t>
            </a:r>
            <a:endParaRPr lang="en-US" sz="1100" dirty="0"/>
          </a:p>
        </p:txBody>
      </p:sp>
      <p:sp>
        <p:nvSpPr>
          <p:cNvPr id="23" name="Text 21"/>
          <p:cNvSpPr/>
          <p:nvPr/>
        </p:nvSpPr>
        <p:spPr>
          <a:xfrm>
            <a:off x="457200" y="4828032"/>
            <a:ext cx="8412480" cy="256032"/>
          </a:xfrm>
          <a:prstGeom prst="rect">
            <a:avLst/>
          </a:prstGeom>
          <a:noFill/>
          <a:ln/>
        </p:spPr>
        <p:txBody>
          <a:bodyPr wrap="square" lIns="0" tIns="0" rIns="0" bIns="0" rtlCol="0" anchor="ctr"/>
          <a:lstStyle/>
          <a:p>
            <a:pPr indent="0" marL="0">
              <a:buNone/>
            </a:pPr>
            <a:r>
              <a:rPr lang="en-US" sz="950" b="1" dirty="0">
                <a:solidFill>
                  <a:srgbClr val="4B8EF8"/>
                </a:solidFill>
                <a:latin typeface="Calibri" pitchFamily="34" charset="0"/>
                <a:ea typeface="Calibri" pitchFamily="34" charset="-122"/>
                <a:cs typeface="Calibri" pitchFamily="34" charset="-120"/>
              </a:rPr>
              <a:t>Sales Motion:  </a:t>
            </a:r>
            <a:pPr indent="0" marL="0">
              <a:buNone/>
            </a:pPr>
            <a:r>
              <a:rPr lang="en-US" sz="950" dirty="0">
                <a:solidFill>
                  <a:srgbClr val="8A9BBE"/>
                </a:solidFill>
                <a:latin typeface="Calibri" pitchFamily="34" charset="0"/>
                <a:ea typeface="Calibri" pitchFamily="34" charset="-122"/>
                <a:cs typeface="Calibri" pitchFamily="34" charset="-120"/>
              </a:rPr>
              <a:t>Developer tries free tier  →  </a:t>
            </a:r>
            <a:pPr indent="0" marL="0">
              <a:buNone/>
            </a:pPr>
            <a:r>
              <a:rPr lang="en-US" sz="950" dirty="0">
                <a:solidFill>
                  <a:srgbClr val="8A9BBE"/>
                </a:solidFill>
                <a:latin typeface="Calibri" pitchFamily="34" charset="0"/>
                <a:ea typeface="Calibri" pitchFamily="34" charset="-122"/>
                <a:cs typeface="Calibri" pitchFamily="34" charset="-120"/>
              </a:rPr>
              <a:t>Team adopts (Growth plan)  →  </a:t>
            </a:r>
            <a:pPr indent="0" marL="0">
              <a:buNone/>
            </a:pPr>
            <a:r>
              <a:rPr lang="en-US" sz="950" dirty="0">
                <a:solidFill>
                  <a:srgbClr val="8A9BBE"/>
                </a:solidFill>
                <a:latin typeface="Calibri" pitchFamily="34" charset="0"/>
                <a:ea typeface="Calibri" pitchFamily="34" charset="-122"/>
                <a:cs typeface="Calibri" pitchFamily="34" charset="-120"/>
              </a:rPr>
              <a:t>CISO/Legal requires compliance package  →  </a:t>
            </a:r>
            <a:pPr indent="0" marL="0">
              <a:buNone/>
            </a:pPr>
            <a:r>
              <a:rPr lang="en-US" sz="950" b="1" dirty="0">
                <a:solidFill>
                  <a:srgbClr val="FFFFFF"/>
                </a:solidFill>
                <a:latin typeface="Calibri" pitchFamily="34" charset="0"/>
                <a:ea typeface="Calibri" pitchFamily="34" charset="-122"/>
                <a:cs typeface="Calibri" pitchFamily="34" charset="-120"/>
              </a:rPr>
              <a:t>Enterprise contract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9 / 12</a:t>
            </a:r>
            <a:endParaRPr lang="en-US" sz="800" dirty="0"/>
          </a:p>
        </p:txBody>
      </p:sp>
      <p:sp>
        <p:nvSpPr>
          <p:cNvPr id="3" name="Text 1"/>
          <p:cNvSpPr/>
          <p:nvPr/>
        </p:nvSpPr>
        <p:spPr>
          <a:xfrm>
            <a:off x="457200" y="182880"/>
            <a:ext cx="8229600" cy="548640"/>
          </a:xfrm>
          <a:prstGeom prst="rect">
            <a:avLst/>
          </a:prstGeom>
          <a:noFill/>
          <a:ln/>
        </p:spPr>
        <p:txBody>
          <a:bodyPr wrap="square"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A $251B Market With No Governance Layer</a:t>
            </a:r>
            <a:endParaRPr lang="en-US" sz="2700" dirty="0"/>
          </a:p>
        </p:txBody>
      </p:sp>
      <p:sp>
        <p:nvSpPr>
          <p:cNvPr id="4" name="Shape 2"/>
          <p:cNvSpPr/>
          <p:nvPr/>
        </p:nvSpPr>
        <p:spPr>
          <a:xfrm>
            <a:off x="457200" y="841248"/>
            <a:ext cx="2606040" cy="2011680"/>
          </a:xfrm>
          <a:prstGeom prst="rect">
            <a:avLst/>
          </a:prstGeom>
          <a:solidFill>
            <a:srgbClr val="162040"/>
          </a:solidFill>
          <a:ln w="9525">
            <a:solidFill>
              <a:srgbClr val="2D5BB8"/>
            </a:solidFill>
            <a:prstDash val="solid"/>
          </a:ln>
        </p:spPr>
      </p:sp>
      <p:sp>
        <p:nvSpPr>
          <p:cNvPr id="5" name="Shape 3"/>
          <p:cNvSpPr/>
          <p:nvPr/>
        </p:nvSpPr>
        <p:spPr>
          <a:xfrm>
            <a:off x="457200" y="841248"/>
            <a:ext cx="2606040" cy="45720"/>
          </a:xfrm>
          <a:prstGeom prst="rect">
            <a:avLst/>
          </a:prstGeom>
          <a:solidFill>
            <a:srgbClr val="4B8EF8"/>
          </a:solidFill>
          <a:ln w="12700">
            <a:solidFill>
              <a:srgbClr val="4B8EF8"/>
            </a:solidFill>
            <a:prstDash val="solid"/>
          </a:ln>
        </p:spPr>
      </p:sp>
      <p:sp>
        <p:nvSpPr>
          <p:cNvPr id="6" name="Text 4"/>
          <p:cNvSpPr/>
          <p:nvPr/>
        </p:nvSpPr>
        <p:spPr>
          <a:xfrm>
            <a:off x="594360" y="1005840"/>
            <a:ext cx="2331720" cy="256032"/>
          </a:xfrm>
          <a:prstGeom prst="rect">
            <a:avLst/>
          </a:prstGeom>
          <a:noFill/>
          <a:ln/>
        </p:spPr>
        <p:txBody>
          <a:bodyPr wrap="square" lIns="0" tIns="0" rIns="0" bIns="0" rtlCol="0" anchor="ctr"/>
          <a:lstStyle/>
          <a:p>
            <a:pPr indent="0" marL="0">
              <a:buNone/>
            </a:pPr>
            <a:r>
              <a:rPr lang="en-US" sz="1100" b="1" spc="300" kern="0" dirty="0">
                <a:solidFill>
                  <a:srgbClr val="4B8EF8"/>
                </a:solidFill>
                <a:latin typeface="Calibri" pitchFamily="34" charset="0"/>
                <a:ea typeface="Calibri" pitchFamily="34" charset="-122"/>
                <a:cs typeface="Calibri" pitchFamily="34" charset="-120"/>
              </a:rPr>
              <a:t>TAM</a:t>
            </a:r>
            <a:endParaRPr lang="en-US" sz="1100" dirty="0"/>
          </a:p>
        </p:txBody>
      </p:sp>
      <p:sp>
        <p:nvSpPr>
          <p:cNvPr id="7" name="Text 5"/>
          <p:cNvSpPr/>
          <p:nvPr/>
        </p:nvSpPr>
        <p:spPr>
          <a:xfrm>
            <a:off x="548640" y="1261872"/>
            <a:ext cx="2423160" cy="658368"/>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$251B</a:t>
            </a:r>
            <a:endParaRPr lang="en-US" sz="4200" dirty="0"/>
          </a:p>
        </p:txBody>
      </p:sp>
      <p:sp>
        <p:nvSpPr>
          <p:cNvPr id="8" name="Text 6"/>
          <p:cNvSpPr/>
          <p:nvPr/>
        </p:nvSpPr>
        <p:spPr>
          <a:xfrm>
            <a:off x="548640" y="1956816"/>
            <a:ext cx="2423160" cy="411480"/>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Global AI Agents market by 2034</a:t>
            </a:r>
            <a:endParaRPr lang="en-US" sz="950" dirty="0"/>
          </a:p>
        </p:txBody>
      </p:sp>
      <p:sp>
        <p:nvSpPr>
          <p:cNvPr id="9" name="Text 7"/>
          <p:cNvSpPr/>
          <p:nvPr/>
        </p:nvSpPr>
        <p:spPr>
          <a:xfrm>
            <a:off x="548640" y="2414016"/>
            <a:ext cx="2423160" cy="228600"/>
          </a:xfrm>
          <a:prstGeom prst="rect">
            <a:avLst/>
          </a:prstGeom>
          <a:noFill/>
          <a:ln/>
        </p:spPr>
        <p:txBody>
          <a:bodyPr wrap="square" lIns="0" tIns="0" rIns="0" bIns="0" rtlCol="0" anchor="ctr"/>
          <a:lstStyle/>
          <a:p>
            <a:pPr algn="ctr" indent="0" marL="0">
              <a:buNone/>
            </a:pPr>
            <a:r>
              <a:rPr lang="en-US" sz="850" dirty="0">
                <a:solidFill>
                  <a:srgbClr val="2D5BB8"/>
                </a:solidFill>
                <a:latin typeface="Calibri" pitchFamily="34" charset="0"/>
                <a:ea typeface="Calibri" pitchFamily="34" charset="-122"/>
                <a:cs typeface="Calibri" pitchFamily="34" charset="-120"/>
              </a:rPr>
              <a:t>45.8% CAGR · Grand View Research</a:t>
            </a:r>
            <a:endParaRPr lang="en-US" sz="850" dirty="0"/>
          </a:p>
        </p:txBody>
      </p:sp>
      <p:sp>
        <p:nvSpPr>
          <p:cNvPr id="10" name="Shape 8"/>
          <p:cNvSpPr/>
          <p:nvPr/>
        </p:nvSpPr>
        <p:spPr>
          <a:xfrm>
            <a:off x="3291840" y="841248"/>
            <a:ext cx="2606040" cy="2011680"/>
          </a:xfrm>
          <a:prstGeom prst="rect">
            <a:avLst/>
          </a:prstGeom>
          <a:solidFill>
            <a:srgbClr val="1A2235"/>
          </a:solidFill>
          <a:ln w="9525">
            <a:solidFill>
              <a:srgbClr val="232E45"/>
            </a:solidFill>
            <a:prstDash val="solid"/>
          </a:ln>
        </p:spPr>
      </p:sp>
      <p:sp>
        <p:nvSpPr>
          <p:cNvPr id="11" name="Shape 9"/>
          <p:cNvSpPr/>
          <p:nvPr/>
        </p:nvSpPr>
        <p:spPr>
          <a:xfrm>
            <a:off x="3291840" y="841248"/>
            <a:ext cx="2606040" cy="45720"/>
          </a:xfrm>
          <a:prstGeom prst="rect">
            <a:avLst/>
          </a:prstGeom>
          <a:solidFill>
            <a:srgbClr val="2D5BB8"/>
          </a:solidFill>
          <a:ln w="12700">
            <a:solidFill>
              <a:srgbClr val="2D5BB8"/>
            </a:solidFill>
            <a:prstDash val="solid"/>
          </a:ln>
        </p:spPr>
      </p:sp>
      <p:sp>
        <p:nvSpPr>
          <p:cNvPr id="12" name="Text 10"/>
          <p:cNvSpPr/>
          <p:nvPr/>
        </p:nvSpPr>
        <p:spPr>
          <a:xfrm>
            <a:off x="3429000" y="1005840"/>
            <a:ext cx="2331720" cy="256032"/>
          </a:xfrm>
          <a:prstGeom prst="rect">
            <a:avLst/>
          </a:prstGeom>
          <a:noFill/>
          <a:ln/>
        </p:spPr>
        <p:txBody>
          <a:bodyPr wrap="square" lIns="0" tIns="0" rIns="0" bIns="0" rtlCol="0" anchor="ctr"/>
          <a:lstStyle/>
          <a:p>
            <a:pPr indent="0" marL="0">
              <a:buNone/>
            </a:pPr>
            <a:r>
              <a:rPr lang="en-US" sz="1100" b="1" spc="300" kern="0" dirty="0">
                <a:solidFill>
                  <a:srgbClr val="4B8EF8"/>
                </a:solidFill>
                <a:latin typeface="Calibri" pitchFamily="34" charset="0"/>
                <a:ea typeface="Calibri" pitchFamily="34" charset="-122"/>
                <a:cs typeface="Calibri" pitchFamily="34" charset="-120"/>
              </a:rPr>
              <a:t>SAM</a:t>
            </a:r>
            <a:endParaRPr lang="en-US" sz="1100" dirty="0"/>
          </a:p>
        </p:txBody>
      </p:sp>
      <p:sp>
        <p:nvSpPr>
          <p:cNvPr id="13" name="Text 11"/>
          <p:cNvSpPr/>
          <p:nvPr/>
        </p:nvSpPr>
        <p:spPr>
          <a:xfrm>
            <a:off x="3383280" y="1261872"/>
            <a:ext cx="2423160" cy="658368"/>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$18B</a:t>
            </a:r>
            <a:endParaRPr lang="en-US" sz="4200" dirty="0"/>
          </a:p>
        </p:txBody>
      </p:sp>
      <p:sp>
        <p:nvSpPr>
          <p:cNvPr id="14" name="Text 12"/>
          <p:cNvSpPr/>
          <p:nvPr/>
        </p:nvSpPr>
        <p:spPr>
          <a:xfrm>
            <a:off x="3383280" y="1956816"/>
            <a:ext cx="2423160" cy="411480"/>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Enterprise agentic AI with financial capability</a:t>
            </a:r>
            <a:endParaRPr lang="en-US" sz="950" dirty="0"/>
          </a:p>
        </p:txBody>
      </p:sp>
      <p:sp>
        <p:nvSpPr>
          <p:cNvPr id="15" name="Text 13"/>
          <p:cNvSpPr/>
          <p:nvPr/>
        </p:nvSpPr>
        <p:spPr>
          <a:xfrm>
            <a:off x="3383280" y="2414016"/>
            <a:ext cx="2423160" cy="228600"/>
          </a:xfrm>
          <a:prstGeom prst="rect">
            <a:avLst/>
          </a:prstGeom>
          <a:noFill/>
          <a:ln/>
        </p:spPr>
        <p:txBody>
          <a:bodyPr wrap="square" lIns="0" tIns="0" rIns="0" bIns="0" rtlCol="0" anchor="ctr"/>
          <a:lstStyle/>
          <a:p>
            <a:pPr algn="ctr" indent="0" marL="0">
              <a:buNone/>
            </a:pPr>
            <a:r>
              <a:rPr lang="en-US" sz="850" dirty="0">
                <a:solidFill>
                  <a:srgbClr val="2D5BB8"/>
                </a:solidFill>
                <a:latin typeface="Calibri" pitchFamily="34" charset="0"/>
                <a:ea typeface="Calibri" pitchFamily="34" charset="-122"/>
                <a:cs typeface="Calibri" pitchFamily="34" charset="-120"/>
              </a:rPr>
              <a:t>Est. 2026 · internal model</a:t>
            </a:r>
            <a:endParaRPr lang="en-US" sz="850" dirty="0"/>
          </a:p>
        </p:txBody>
      </p:sp>
      <p:sp>
        <p:nvSpPr>
          <p:cNvPr id="16" name="Shape 14"/>
          <p:cNvSpPr/>
          <p:nvPr/>
        </p:nvSpPr>
        <p:spPr>
          <a:xfrm>
            <a:off x="6126480" y="841248"/>
            <a:ext cx="2606040" cy="2011680"/>
          </a:xfrm>
          <a:prstGeom prst="rect">
            <a:avLst/>
          </a:prstGeom>
          <a:solidFill>
            <a:srgbClr val="1A2235"/>
          </a:solidFill>
          <a:ln w="9525">
            <a:solidFill>
              <a:srgbClr val="232E45"/>
            </a:solidFill>
            <a:prstDash val="solid"/>
          </a:ln>
        </p:spPr>
      </p:sp>
      <p:sp>
        <p:nvSpPr>
          <p:cNvPr id="17" name="Shape 15"/>
          <p:cNvSpPr/>
          <p:nvPr/>
        </p:nvSpPr>
        <p:spPr>
          <a:xfrm>
            <a:off x="6126480" y="841248"/>
            <a:ext cx="2606040" cy="45720"/>
          </a:xfrm>
          <a:prstGeom prst="rect">
            <a:avLst/>
          </a:prstGeom>
          <a:solidFill>
            <a:srgbClr val="2D5BB8"/>
          </a:solidFill>
          <a:ln w="12700">
            <a:solidFill>
              <a:srgbClr val="2D5BB8"/>
            </a:solidFill>
            <a:prstDash val="solid"/>
          </a:ln>
        </p:spPr>
      </p:sp>
      <p:sp>
        <p:nvSpPr>
          <p:cNvPr id="18" name="Text 16"/>
          <p:cNvSpPr/>
          <p:nvPr/>
        </p:nvSpPr>
        <p:spPr>
          <a:xfrm>
            <a:off x="6263640" y="1005840"/>
            <a:ext cx="2331720" cy="256032"/>
          </a:xfrm>
          <a:prstGeom prst="rect">
            <a:avLst/>
          </a:prstGeom>
          <a:noFill/>
          <a:ln/>
        </p:spPr>
        <p:txBody>
          <a:bodyPr wrap="square" lIns="0" tIns="0" rIns="0" bIns="0" rtlCol="0" anchor="ctr"/>
          <a:lstStyle/>
          <a:p>
            <a:pPr indent="0" marL="0">
              <a:buNone/>
            </a:pPr>
            <a:r>
              <a:rPr lang="en-US" sz="1100" b="1" spc="300" kern="0" dirty="0">
                <a:solidFill>
                  <a:srgbClr val="4B8EF8"/>
                </a:solidFill>
                <a:latin typeface="Calibri" pitchFamily="34" charset="0"/>
                <a:ea typeface="Calibri" pitchFamily="34" charset="-122"/>
                <a:cs typeface="Calibri" pitchFamily="34" charset="-120"/>
              </a:rPr>
              <a:t>SOM</a:t>
            </a:r>
            <a:endParaRPr lang="en-US" sz="1100" dirty="0"/>
          </a:p>
        </p:txBody>
      </p:sp>
      <p:sp>
        <p:nvSpPr>
          <p:cNvPr id="19" name="Text 17"/>
          <p:cNvSpPr/>
          <p:nvPr/>
        </p:nvSpPr>
        <p:spPr>
          <a:xfrm>
            <a:off x="6217920" y="1261872"/>
            <a:ext cx="2423160" cy="658368"/>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$850M</a:t>
            </a:r>
            <a:endParaRPr lang="en-US" sz="4200" dirty="0"/>
          </a:p>
        </p:txBody>
      </p:sp>
      <p:sp>
        <p:nvSpPr>
          <p:cNvPr id="20" name="Text 18"/>
          <p:cNvSpPr/>
          <p:nvPr/>
        </p:nvSpPr>
        <p:spPr>
          <a:xfrm>
            <a:off x="6217920" y="1956816"/>
            <a:ext cx="2423160" cy="411480"/>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Reachable via dev-led enterprise sales (3 yrs)</a:t>
            </a:r>
            <a:endParaRPr lang="en-US" sz="950" dirty="0"/>
          </a:p>
        </p:txBody>
      </p:sp>
      <p:sp>
        <p:nvSpPr>
          <p:cNvPr id="21" name="Text 19"/>
          <p:cNvSpPr/>
          <p:nvPr/>
        </p:nvSpPr>
        <p:spPr>
          <a:xfrm>
            <a:off x="6217920" y="2414016"/>
            <a:ext cx="2423160" cy="228600"/>
          </a:xfrm>
          <a:prstGeom prst="rect">
            <a:avLst/>
          </a:prstGeom>
          <a:noFill/>
          <a:ln/>
        </p:spPr>
        <p:txBody>
          <a:bodyPr wrap="square" lIns="0" tIns="0" rIns="0" bIns="0" rtlCol="0" anchor="ctr"/>
          <a:lstStyle/>
          <a:p>
            <a:pPr algn="ctr" indent="0" marL="0">
              <a:buNone/>
            </a:pPr>
            <a:r>
              <a:rPr lang="en-US" sz="850" dirty="0">
                <a:solidFill>
                  <a:srgbClr val="2D5BB8"/>
                </a:solidFill>
                <a:latin typeface="Calibri" pitchFamily="34" charset="0"/>
                <a:ea typeface="Calibri" pitchFamily="34" charset="-122"/>
                <a:cs typeface="Calibri" pitchFamily="34" charset="-120"/>
              </a:rPr>
              <a:t>0.3% SAM · 40 accts Y1</a:t>
            </a:r>
            <a:endParaRPr lang="en-US" sz="850" dirty="0"/>
          </a:p>
        </p:txBody>
      </p:sp>
      <p:sp>
        <p:nvSpPr>
          <p:cNvPr id="22" name="Shape 20"/>
          <p:cNvSpPr/>
          <p:nvPr/>
        </p:nvSpPr>
        <p:spPr>
          <a:xfrm>
            <a:off x="365760" y="2816352"/>
            <a:ext cx="8412480" cy="1005840"/>
          </a:xfrm>
          <a:prstGeom prst="rect">
            <a:avLst/>
          </a:prstGeom>
          <a:solidFill>
            <a:srgbClr val="0D1628"/>
          </a:solidFill>
          <a:ln w="9525">
            <a:solidFill>
              <a:srgbClr val="2D5BB8"/>
            </a:solidFill>
            <a:prstDash val="solid"/>
          </a:ln>
        </p:spPr>
      </p:sp>
      <p:sp>
        <p:nvSpPr>
          <p:cNvPr id="23" name="Shape 21"/>
          <p:cNvSpPr/>
          <p:nvPr/>
        </p:nvSpPr>
        <p:spPr>
          <a:xfrm>
            <a:off x="365760" y="2816352"/>
            <a:ext cx="45720" cy="1005840"/>
          </a:xfrm>
          <a:prstGeom prst="rect">
            <a:avLst/>
          </a:prstGeom>
          <a:solidFill>
            <a:srgbClr val="4B8EF8"/>
          </a:solidFill>
          <a:ln w="12700">
            <a:solidFill>
              <a:srgbClr val="4B8EF8"/>
            </a:solidFill>
            <a:prstDash val="solid"/>
          </a:ln>
        </p:spPr>
      </p:sp>
      <p:sp>
        <p:nvSpPr>
          <p:cNvPr id="24" name="Text 22"/>
          <p:cNvSpPr/>
          <p:nvPr/>
        </p:nvSpPr>
        <p:spPr>
          <a:xfrm>
            <a:off x="594360" y="2862072"/>
            <a:ext cx="2743200" cy="256032"/>
          </a:xfrm>
          <a:prstGeom prst="rect">
            <a:avLst/>
          </a:prstGeom>
          <a:noFill/>
          <a:ln/>
        </p:spPr>
        <p:txBody>
          <a:bodyPr wrap="square" lIns="0" tIns="0" rIns="0" bIns="0" rtlCol="0" anchor="ctr"/>
          <a:lstStyle/>
          <a:p>
            <a:pPr indent="0" marL="0">
              <a:buNone/>
            </a:pPr>
            <a:r>
              <a:rPr lang="en-US" sz="1000" b="1" dirty="0">
                <a:solidFill>
                  <a:srgbClr val="4B8EF8"/>
                </a:solidFill>
                <a:latin typeface="Calibri" pitchFamily="34" charset="0"/>
                <a:ea typeface="Calibri" pitchFamily="34" charset="-122"/>
                <a:cs typeface="Calibri" pitchFamily="34" charset="-120"/>
              </a:rPr>
              <a:t>Bottom-Up Validation</a:t>
            </a:r>
            <a:endParaRPr lang="en-US" sz="1000" dirty="0"/>
          </a:p>
        </p:txBody>
      </p:sp>
      <p:sp>
        <p:nvSpPr>
          <p:cNvPr id="25" name="Text 23"/>
          <p:cNvSpPr/>
          <p:nvPr/>
        </p:nvSpPr>
        <p:spPr>
          <a:xfrm>
            <a:off x="594360" y="3145536"/>
            <a:ext cx="8046720" cy="621792"/>
          </a:xfrm>
          <a:prstGeom prst="rect">
            <a:avLst/>
          </a:prstGeom>
          <a:noFill/>
          <a:ln/>
        </p:spPr>
        <p:txBody>
          <a:bodyPr wrap="square" lIns="0" tIns="0" rIns="0" bIns="0" rtlCol="0" anchor="ctr"/>
          <a:lstStyle/>
          <a:p>
            <a:pPr indent="0" marL="0">
              <a:buNone/>
            </a:pPr>
            <a:r>
              <a:rPr lang="en-US" sz="1100" dirty="0">
                <a:solidFill>
                  <a:srgbClr val="8A9BBE"/>
                </a:solidFill>
                <a:latin typeface="Calibri" pitchFamily="34" charset="0"/>
                <a:ea typeface="Calibri" pitchFamily="34" charset="-122"/>
                <a:cs typeface="Calibri" pitchFamily="34" charset="-120"/>
              </a:rPr>
              <a:t>~400K AI agents with purchasing power today  ·  Enterprise orgs average 200 agents/fleet  ·  Governance tooling runs $20K–$80K/yr per fleet  →  Near-term SAM: $6B–$20B  ·  At 0.3% capture with 40 enterprise accounts in Year 1: $800K ARR</a:t>
            </a:r>
            <a:endParaRPr lang="en-US" sz="1100" dirty="0"/>
          </a:p>
        </p:txBody>
      </p:sp>
      <p:sp>
        <p:nvSpPr>
          <p:cNvPr id="26" name="Shape 24"/>
          <p:cNvSpPr/>
          <p:nvPr/>
        </p:nvSpPr>
        <p:spPr>
          <a:xfrm>
            <a:off x="457200" y="3931920"/>
            <a:ext cx="1984248" cy="1078992"/>
          </a:xfrm>
          <a:prstGeom prst="rect">
            <a:avLst/>
          </a:prstGeom>
          <a:solidFill>
            <a:srgbClr val="0A0F1A"/>
          </a:solidFill>
          <a:ln w="9525">
            <a:solidFill>
              <a:srgbClr val="1E3050"/>
            </a:solidFill>
            <a:prstDash val="solid"/>
          </a:ln>
        </p:spPr>
      </p:sp>
      <p:sp>
        <p:nvSpPr>
          <p:cNvPr id="27" name="Text 25"/>
          <p:cNvSpPr/>
          <p:nvPr/>
        </p:nvSpPr>
        <p:spPr>
          <a:xfrm>
            <a:off x="530352" y="3977640"/>
            <a:ext cx="1837944" cy="347472"/>
          </a:xfrm>
          <a:prstGeom prst="rect">
            <a:avLst/>
          </a:prstGeom>
          <a:noFill/>
          <a:ln/>
        </p:spPr>
        <p:txBody>
          <a:bodyPr wrap="square" lIns="0" tIns="0" rIns="0" bIns="0" rtlCol="0" anchor="ctr"/>
          <a:lstStyle/>
          <a:p>
            <a:pPr algn="ctr" indent="0" marL="0">
              <a:buNone/>
            </a:pPr>
            <a:r>
              <a:rPr lang="en-US" sz="2000" b="1" dirty="0">
                <a:solidFill>
                  <a:srgbClr val="4B8EF8"/>
                </a:solidFill>
                <a:latin typeface="Calibri" pitchFamily="34" charset="0"/>
                <a:ea typeface="Calibri" pitchFamily="34" charset="-122"/>
                <a:cs typeface="Calibri" pitchFamily="34" charset="-120"/>
              </a:rPr>
              <a:t>400K+</a:t>
            </a:r>
            <a:endParaRPr lang="en-US" sz="2000" dirty="0"/>
          </a:p>
        </p:txBody>
      </p:sp>
      <p:sp>
        <p:nvSpPr>
          <p:cNvPr id="28" name="Text 26"/>
          <p:cNvSpPr/>
          <p:nvPr/>
        </p:nvSpPr>
        <p:spPr>
          <a:xfrm>
            <a:off x="530352" y="4315968"/>
            <a:ext cx="1837944" cy="40233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AI agents with</a:t>
            </a:r>
            <a:endParaRPr lang="en-US" sz="950" dirty="0"/>
          </a:p>
          <a:p>
            <a:pPr algn="ctr" indent="0" marL="0">
              <a:buNone/>
            </a:pPr>
            <a:r>
              <a:rPr lang="en-US" sz="950" dirty="0">
                <a:solidFill>
                  <a:srgbClr val="8A9BBE"/>
                </a:solidFill>
                <a:latin typeface="Calibri" pitchFamily="34" charset="0"/>
                <a:ea typeface="Calibri" pitchFamily="34" charset="-122"/>
                <a:cs typeface="Calibri" pitchFamily="34" charset="-120"/>
              </a:rPr>
              <a:t>purchasing power today</a:t>
            </a:r>
            <a:endParaRPr lang="en-US" sz="950" dirty="0"/>
          </a:p>
        </p:txBody>
      </p:sp>
      <p:sp>
        <p:nvSpPr>
          <p:cNvPr id="29" name="Text 27"/>
          <p:cNvSpPr/>
          <p:nvPr/>
        </p:nvSpPr>
        <p:spPr>
          <a:xfrm>
            <a:off x="530352" y="4718304"/>
            <a:ext cx="1837944"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Coinbase, 2025</a:t>
            </a:r>
            <a:endParaRPr lang="en-US" sz="750" dirty="0"/>
          </a:p>
        </p:txBody>
      </p:sp>
      <p:sp>
        <p:nvSpPr>
          <p:cNvPr id="30" name="Shape 28"/>
          <p:cNvSpPr/>
          <p:nvPr/>
        </p:nvSpPr>
        <p:spPr>
          <a:xfrm>
            <a:off x="2624328" y="3931920"/>
            <a:ext cx="1984248" cy="1078992"/>
          </a:xfrm>
          <a:prstGeom prst="rect">
            <a:avLst/>
          </a:prstGeom>
          <a:solidFill>
            <a:srgbClr val="0A0F1A"/>
          </a:solidFill>
          <a:ln w="9525">
            <a:solidFill>
              <a:srgbClr val="1E3050"/>
            </a:solidFill>
            <a:prstDash val="solid"/>
          </a:ln>
        </p:spPr>
      </p:sp>
      <p:sp>
        <p:nvSpPr>
          <p:cNvPr id="31" name="Text 29"/>
          <p:cNvSpPr/>
          <p:nvPr/>
        </p:nvSpPr>
        <p:spPr>
          <a:xfrm>
            <a:off x="2697480" y="3977640"/>
            <a:ext cx="1837944" cy="347472"/>
          </a:xfrm>
          <a:prstGeom prst="rect">
            <a:avLst/>
          </a:prstGeom>
          <a:noFill/>
          <a:ln/>
        </p:spPr>
        <p:txBody>
          <a:bodyPr wrap="square" lIns="0" tIns="0" rIns="0" bIns="0" rtlCol="0" anchor="ctr"/>
          <a:lstStyle/>
          <a:p>
            <a:pPr algn="ctr" indent="0" marL="0">
              <a:buNone/>
            </a:pPr>
            <a:r>
              <a:rPr lang="en-US" sz="2000" b="1" dirty="0">
                <a:solidFill>
                  <a:srgbClr val="4B8EF8"/>
                </a:solidFill>
                <a:latin typeface="Calibri" pitchFamily="34" charset="0"/>
                <a:ea typeface="Calibri" pitchFamily="34" charset="-122"/>
                <a:cs typeface="Calibri" pitchFamily="34" charset="-120"/>
              </a:rPr>
              <a:t>140M</a:t>
            </a:r>
            <a:endParaRPr lang="en-US" sz="2000" dirty="0"/>
          </a:p>
        </p:txBody>
      </p:sp>
      <p:sp>
        <p:nvSpPr>
          <p:cNvPr id="32" name="Text 30"/>
          <p:cNvSpPr/>
          <p:nvPr/>
        </p:nvSpPr>
        <p:spPr>
          <a:xfrm>
            <a:off x="2697480" y="4315968"/>
            <a:ext cx="1837944" cy="40233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agent payments in</a:t>
            </a:r>
            <a:endParaRPr lang="en-US" sz="950" dirty="0"/>
          </a:p>
          <a:p>
            <a:pPr algn="ctr" indent="0" marL="0">
              <a:buNone/>
            </a:pPr>
            <a:r>
              <a:rPr lang="en-US" sz="950" dirty="0">
                <a:solidFill>
                  <a:srgbClr val="8A9BBE"/>
                </a:solidFill>
                <a:latin typeface="Calibri" pitchFamily="34" charset="0"/>
                <a:ea typeface="Calibri" pitchFamily="34" charset="-122"/>
                <a:cs typeface="Calibri" pitchFamily="34" charset="-120"/>
              </a:rPr>
              <a:t>9 months (2025)</a:t>
            </a:r>
            <a:endParaRPr lang="en-US" sz="950" dirty="0"/>
          </a:p>
        </p:txBody>
      </p:sp>
      <p:sp>
        <p:nvSpPr>
          <p:cNvPr id="33" name="Text 31"/>
          <p:cNvSpPr/>
          <p:nvPr/>
        </p:nvSpPr>
        <p:spPr>
          <a:xfrm>
            <a:off x="2697480" y="4718304"/>
            <a:ext cx="1837944"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x402 Foundation, 2025</a:t>
            </a:r>
            <a:endParaRPr lang="en-US" sz="750" dirty="0"/>
          </a:p>
        </p:txBody>
      </p:sp>
      <p:sp>
        <p:nvSpPr>
          <p:cNvPr id="34" name="Shape 32"/>
          <p:cNvSpPr/>
          <p:nvPr/>
        </p:nvSpPr>
        <p:spPr>
          <a:xfrm>
            <a:off x="4791456" y="3931920"/>
            <a:ext cx="1984248" cy="1078992"/>
          </a:xfrm>
          <a:prstGeom prst="rect">
            <a:avLst/>
          </a:prstGeom>
          <a:solidFill>
            <a:srgbClr val="0A0F1A"/>
          </a:solidFill>
          <a:ln w="9525">
            <a:solidFill>
              <a:srgbClr val="1E3050"/>
            </a:solidFill>
            <a:prstDash val="solid"/>
          </a:ln>
        </p:spPr>
      </p:sp>
      <p:sp>
        <p:nvSpPr>
          <p:cNvPr id="35" name="Text 33"/>
          <p:cNvSpPr/>
          <p:nvPr/>
        </p:nvSpPr>
        <p:spPr>
          <a:xfrm>
            <a:off x="4864608" y="3977640"/>
            <a:ext cx="1837944" cy="347472"/>
          </a:xfrm>
          <a:prstGeom prst="rect">
            <a:avLst/>
          </a:prstGeom>
          <a:noFill/>
          <a:ln/>
        </p:spPr>
        <p:txBody>
          <a:bodyPr wrap="square" lIns="0" tIns="0" rIns="0" bIns="0" rtlCol="0" anchor="ctr"/>
          <a:lstStyle/>
          <a:p>
            <a:pPr algn="ctr" indent="0" marL="0">
              <a:buNone/>
            </a:pPr>
            <a:r>
              <a:rPr lang="en-US" sz="2000" b="1" dirty="0">
                <a:solidFill>
                  <a:srgbClr val="4B8EF8"/>
                </a:solidFill>
                <a:latin typeface="Calibri" pitchFamily="34" charset="0"/>
                <a:ea typeface="Calibri" pitchFamily="34" charset="-122"/>
                <a:cs typeface="Calibri" pitchFamily="34" charset="-120"/>
              </a:rPr>
              <a:t>88%</a:t>
            </a:r>
            <a:endParaRPr lang="en-US" sz="2000" dirty="0"/>
          </a:p>
        </p:txBody>
      </p:sp>
      <p:sp>
        <p:nvSpPr>
          <p:cNvPr id="36" name="Text 34"/>
          <p:cNvSpPr/>
          <p:nvPr/>
        </p:nvSpPr>
        <p:spPr>
          <a:xfrm>
            <a:off x="4864608" y="4315968"/>
            <a:ext cx="1837944" cy="40233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of enterprises using</a:t>
            </a:r>
            <a:endParaRPr lang="en-US" sz="950" dirty="0"/>
          </a:p>
          <a:p>
            <a:pPr algn="ctr" indent="0" marL="0">
              <a:buNone/>
            </a:pPr>
            <a:r>
              <a:rPr lang="en-US" sz="950" dirty="0">
                <a:solidFill>
                  <a:srgbClr val="8A9BBE"/>
                </a:solidFill>
                <a:latin typeface="Calibri" pitchFamily="34" charset="0"/>
                <a:ea typeface="Calibri" pitchFamily="34" charset="-122"/>
                <a:cs typeface="Calibri" pitchFamily="34" charset="-120"/>
              </a:rPr>
              <a:t>AI in ≥1 function</a:t>
            </a:r>
            <a:endParaRPr lang="en-US" sz="950" dirty="0"/>
          </a:p>
        </p:txBody>
      </p:sp>
      <p:sp>
        <p:nvSpPr>
          <p:cNvPr id="37" name="Text 35"/>
          <p:cNvSpPr/>
          <p:nvPr/>
        </p:nvSpPr>
        <p:spPr>
          <a:xfrm>
            <a:off x="4864608" y="4718304"/>
            <a:ext cx="1837944"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McKinsey, 2025</a:t>
            </a:r>
            <a:endParaRPr lang="en-US" sz="750" dirty="0"/>
          </a:p>
        </p:txBody>
      </p:sp>
      <p:sp>
        <p:nvSpPr>
          <p:cNvPr id="38" name="Shape 36"/>
          <p:cNvSpPr/>
          <p:nvPr/>
        </p:nvSpPr>
        <p:spPr>
          <a:xfrm>
            <a:off x="6958584" y="3931920"/>
            <a:ext cx="1984248" cy="1078992"/>
          </a:xfrm>
          <a:prstGeom prst="rect">
            <a:avLst/>
          </a:prstGeom>
          <a:solidFill>
            <a:srgbClr val="0A0F1A"/>
          </a:solidFill>
          <a:ln w="9525">
            <a:solidFill>
              <a:srgbClr val="1E3050"/>
            </a:solidFill>
            <a:prstDash val="solid"/>
          </a:ln>
        </p:spPr>
      </p:sp>
      <p:sp>
        <p:nvSpPr>
          <p:cNvPr id="39" name="Text 37"/>
          <p:cNvSpPr/>
          <p:nvPr/>
        </p:nvSpPr>
        <p:spPr>
          <a:xfrm>
            <a:off x="7031736" y="3977640"/>
            <a:ext cx="1837944" cy="347472"/>
          </a:xfrm>
          <a:prstGeom prst="rect">
            <a:avLst/>
          </a:prstGeom>
          <a:noFill/>
          <a:ln/>
        </p:spPr>
        <p:txBody>
          <a:bodyPr wrap="square" lIns="0" tIns="0" rIns="0" bIns="0" rtlCol="0" anchor="ctr"/>
          <a:lstStyle/>
          <a:p>
            <a:pPr algn="ctr" indent="0" marL="0">
              <a:buNone/>
            </a:pPr>
            <a:r>
              <a:rPr lang="en-US" sz="2000" b="1" dirty="0">
                <a:solidFill>
                  <a:srgbClr val="4B8EF8"/>
                </a:solidFill>
                <a:latin typeface="Calibri" pitchFamily="34" charset="0"/>
                <a:ea typeface="Calibri" pitchFamily="34" charset="-122"/>
                <a:cs typeface="Calibri" pitchFamily="34" charset="-120"/>
              </a:rPr>
              <a:t>€35M</a:t>
            </a:r>
            <a:endParaRPr lang="en-US" sz="2000" dirty="0"/>
          </a:p>
        </p:txBody>
      </p:sp>
      <p:sp>
        <p:nvSpPr>
          <p:cNvPr id="40" name="Text 38"/>
          <p:cNvSpPr/>
          <p:nvPr/>
        </p:nvSpPr>
        <p:spPr>
          <a:xfrm>
            <a:off x="7031736" y="4315968"/>
            <a:ext cx="1837944" cy="40233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EU AI Act max penalty</a:t>
            </a:r>
            <a:endParaRPr lang="en-US" sz="950" dirty="0"/>
          </a:p>
          <a:p>
            <a:pPr algn="ctr" indent="0" marL="0">
              <a:buNone/>
            </a:pPr>
            <a:r>
              <a:rPr lang="en-US" sz="950" dirty="0">
                <a:solidFill>
                  <a:srgbClr val="8A9BBE"/>
                </a:solidFill>
                <a:latin typeface="Calibri" pitchFamily="34" charset="0"/>
                <a:ea typeface="Calibri" pitchFamily="34" charset="-122"/>
                <a:cs typeface="Calibri" pitchFamily="34" charset="-120"/>
              </a:rPr>
              <a:t>Aug 2026 enforce</a:t>
            </a:r>
            <a:endParaRPr lang="en-US" sz="950" dirty="0"/>
          </a:p>
        </p:txBody>
      </p:sp>
      <p:sp>
        <p:nvSpPr>
          <p:cNvPr id="41" name="Text 39"/>
          <p:cNvSpPr/>
          <p:nvPr/>
        </p:nvSpPr>
        <p:spPr>
          <a:xfrm>
            <a:off x="7031736" y="4718304"/>
            <a:ext cx="1837944" cy="201168"/>
          </a:xfrm>
          <a:prstGeom prst="rect">
            <a:avLst/>
          </a:prstGeom>
          <a:noFill/>
          <a:ln/>
        </p:spPr>
        <p:txBody>
          <a:bodyPr wrap="square" lIns="0" tIns="0" rIns="0" bIns="0" rtlCol="0" anchor="ctr"/>
          <a:lstStyle/>
          <a:p>
            <a:pPr algn="ctr" indent="0" marL="0">
              <a:buNone/>
            </a:pPr>
            <a:r>
              <a:rPr lang="en-US" sz="750" dirty="0">
                <a:solidFill>
                  <a:srgbClr val="3D4E66"/>
                </a:solidFill>
                <a:latin typeface="Calibri" pitchFamily="34" charset="0"/>
                <a:ea typeface="Calibri" pitchFamily="34" charset="-122"/>
                <a:cs typeface="Calibri" pitchFamily="34" charset="-120"/>
              </a:rPr>
              <a:t>Source: EU Official Journal</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10 / 12</a:t>
            </a:r>
            <a:endParaRPr lang="en-US" sz="800" dirty="0"/>
          </a:p>
        </p:txBody>
      </p:sp>
      <p:sp>
        <p:nvSpPr>
          <p:cNvPr id="3" name="Text 1"/>
          <p:cNvSpPr/>
          <p:nvPr/>
        </p:nvSpPr>
        <p:spPr>
          <a:xfrm>
            <a:off x="182880" y="91440"/>
            <a:ext cx="8778240" cy="402336"/>
          </a:xfrm>
          <a:prstGeom prst="rect">
            <a:avLst/>
          </a:prstGeom>
          <a:noFill/>
          <a:ln/>
        </p:spPr>
        <p:txBody>
          <a:bodyPr wrap="square"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Every Alternative Enables Spending. None Enforce Governance.</a:t>
            </a:r>
            <a:endParaRPr lang="en-US" sz="2300" dirty="0"/>
          </a:p>
        </p:txBody>
      </p:sp>
      <p:sp>
        <p:nvSpPr>
          <p:cNvPr id="4" name="Shape 2"/>
          <p:cNvSpPr/>
          <p:nvPr/>
        </p:nvSpPr>
        <p:spPr>
          <a:xfrm>
            <a:off x="2249424" y="576072"/>
            <a:ext cx="1121664" cy="3566160"/>
          </a:xfrm>
          <a:prstGeom prst="rect">
            <a:avLst/>
          </a:prstGeom>
          <a:solidFill>
            <a:srgbClr val="0E2244"/>
          </a:solidFill>
          <a:ln w="19050">
            <a:solidFill>
              <a:srgbClr val="4B8EF8"/>
            </a:solidFill>
            <a:prstDash val="solid"/>
          </a:ln>
        </p:spPr>
      </p:sp>
      <p:sp>
        <p:nvSpPr>
          <p:cNvPr id="5" name="Shape 3"/>
          <p:cNvSpPr/>
          <p:nvPr/>
        </p:nvSpPr>
        <p:spPr>
          <a:xfrm>
            <a:off x="2249424" y="576072"/>
            <a:ext cx="1121664" cy="54864"/>
          </a:xfrm>
          <a:prstGeom prst="rect">
            <a:avLst/>
          </a:prstGeom>
          <a:solidFill>
            <a:srgbClr val="4B8EF8"/>
          </a:solidFill>
          <a:ln w="12700">
            <a:solidFill>
              <a:srgbClr val="4B8EF8"/>
            </a:solidFill>
            <a:prstDash val="solid"/>
          </a:ln>
        </p:spPr>
      </p:sp>
      <p:sp>
        <p:nvSpPr>
          <p:cNvPr id="6" name="Shape 4"/>
          <p:cNvSpPr/>
          <p:nvPr/>
        </p:nvSpPr>
        <p:spPr>
          <a:xfrm>
            <a:off x="164592" y="576072"/>
            <a:ext cx="2084832" cy="493776"/>
          </a:xfrm>
          <a:prstGeom prst="rect">
            <a:avLst/>
          </a:prstGeom>
          <a:solidFill>
            <a:srgbClr val="0A0F1A"/>
          </a:solidFill>
          <a:ln w="9525">
            <a:solidFill>
              <a:srgbClr val="1A2840"/>
            </a:solidFill>
            <a:prstDash val="solid"/>
          </a:ln>
        </p:spPr>
      </p:sp>
      <p:sp>
        <p:nvSpPr>
          <p:cNvPr id="7" name="Shape 5"/>
          <p:cNvSpPr/>
          <p:nvPr/>
        </p:nvSpPr>
        <p:spPr>
          <a:xfrm>
            <a:off x="2249424" y="576072"/>
            <a:ext cx="1121664" cy="493776"/>
          </a:xfrm>
          <a:prstGeom prst="rect">
            <a:avLst/>
          </a:prstGeom>
          <a:solidFill>
            <a:srgbClr val="0E2244"/>
          </a:solidFill>
          <a:ln w="19050">
            <a:solidFill>
              <a:srgbClr val="4B8EF8"/>
            </a:solidFill>
            <a:prstDash val="solid"/>
          </a:ln>
        </p:spPr>
      </p:sp>
      <p:sp>
        <p:nvSpPr>
          <p:cNvPr id="8" name="Text 6"/>
          <p:cNvSpPr/>
          <p:nvPr/>
        </p:nvSpPr>
        <p:spPr>
          <a:xfrm>
            <a:off x="2286000" y="576072"/>
            <a:ext cx="1048512" cy="493776"/>
          </a:xfrm>
          <a:prstGeom prst="rect">
            <a:avLst/>
          </a:prstGeom>
          <a:noFill/>
          <a:ln/>
        </p:spPr>
        <p:txBody>
          <a:bodyPr wrap="square" lIns="0" tIns="0" rIns="0" bIns="0" rtlCol="0" anchor="ctr"/>
          <a:lstStyle/>
          <a:p>
            <a:pPr algn="ctr" indent="0" marL="0">
              <a:buNone/>
            </a:pPr>
            <a:r>
              <a:rPr lang="en-US" sz="1100" b="1" dirty="0">
                <a:solidFill>
                  <a:srgbClr val="4B8EF8"/>
                </a:solidFill>
                <a:latin typeface="Calibri" pitchFamily="34" charset="0"/>
                <a:ea typeface="Calibri" pitchFamily="34" charset="-122"/>
                <a:cs typeface="Calibri" pitchFamily="34" charset="-120"/>
              </a:rPr>
              <a:t>Tutelum</a:t>
            </a:r>
            <a:endParaRPr lang="en-US" sz="1100" dirty="0"/>
          </a:p>
        </p:txBody>
      </p:sp>
      <p:sp>
        <p:nvSpPr>
          <p:cNvPr id="9" name="Shape 7"/>
          <p:cNvSpPr/>
          <p:nvPr/>
        </p:nvSpPr>
        <p:spPr>
          <a:xfrm>
            <a:off x="3371088" y="576072"/>
            <a:ext cx="1121664" cy="493776"/>
          </a:xfrm>
          <a:prstGeom prst="rect">
            <a:avLst/>
          </a:prstGeom>
          <a:solidFill>
            <a:srgbClr val="0A0F1A"/>
          </a:solidFill>
          <a:ln w="9525">
            <a:solidFill>
              <a:srgbClr val="1A2840"/>
            </a:solidFill>
            <a:prstDash val="solid"/>
          </a:ln>
        </p:spPr>
      </p:sp>
      <p:sp>
        <p:nvSpPr>
          <p:cNvPr id="10" name="Text 8"/>
          <p:cNvSpPr/>
          <p:nvPr/>
        </p:nvSpPr>
        <p:spPr>
          <a:xfrm>
            <a:off x="3407664" y="576072"/>
            <a:ext cx="1048512" cy="49377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Skyfire</a:t>
            </a:r>
            <a:endParaRPr lang="en-US" sz="950" dirty="0"/>
          </a:p>
        </p:txBody>
      </p:sp>
      <p:sp>
        <p:nvSpPr>
          <p:cNvPr id="11" name="Shape 9"/>
          <p:cNvSpPr/>
          <p:nvPr/>
        </p:nvSpPr>
        <p:spPr>
          <a:xfrm>
            <a:off x="4492752" y="576072"/>
            <a:ext cx="1121664" cy="493776"/>
          </a:xfrm>
          <a:prstGeom prst="rect">
            <a:avLst/>
          </a:prstGeom>
          <a:solidFill>
            <a:srgbClr val="0A0F1A"/>
          </a:solidFill>
          <a:ln w="9525">
            <a:solidFill>
              <a:srgbClr val="1A2840"/>
            </a:solidFill>
            <a:prstDash val="solid"/>
          </a:ln>
        </p:spPr>
      </p:sp>
      <p:sp>
        <p:nvSpPr>
          <p:cNvPr id="12" name="Text 10"/>
          <p:cNvSpPr/>
          <p:nvPr/>
        </p:nvSpPr>
        <p:spPr>
          <a:xfrm>
            <a:off x="4529328" y="576072"/>
            <a:ext cx="1048512" cy="49377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Payman AI</a:t>
            </a:r>
            <a:endParaRPr lang="en-US" sz="950" dirty="0"/>
          </a:p>
        </p:txBody>
      </p:sp>
      <p:sp>
        <p:nvSpPr>
          <p:cNvPr id="13" name="Shape 11"/>
          <p:cNvSpPr/>
          <p:nvPr/>
        </p:nvSpPr>
        <p:spPr>
          <a:xfrm>
            <a:off x="5614416" y="576072"/>
            <a:ext cx="1121664" cy="493776"/>
          </a:xfrm>
          <a:prstGeom prst="rect">
            <a:avLst/>
          </a:prstGeom>
          <a:solidFill>
            <a:srgbClr val="0A0F1A"/>
          </a:solidFill>
          <a:ln w="9525">
            <a:solidFill>
              <a:srgbClr val="1A2840"/>
            </a:solidFill>
            <a:prstDash val="solid"/>
          </a:ln>
        </p:spPr>
      </p:sp>
      <p:sp>
        <p:nvSpPr>
          <p:cNvPr id="14" name="Text 12"/>
          <p:cNvSpPr/>
          <p:nvPr/>
        </p:nvSpPr>
        <p:spPr>
          <a:xfrm>
            <a:off x="5650992" y="576072"/>
            <a:ext cx="1048512" cy="49377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AnChain.AI</a:t>
            </a:r>
            <a:endParaRPr lang="en-US" sz="950" dirty="0"/>
          </a:p>
        </p:txBody>
      </p:sp>
      <p:sp>
        <p:nvSpPr>
          <p:cNvPr id="15" name="Shape 13"/>
          <p:cNvSpPr/>
          <p:nvPr/>
        </p:nvSpPr>
        <p:spPr>
          <a:xfrm>
            <a:off x="6736080" y="576072"/>
            <a:ext cx="1121664" cy="493776"/>
          </a:xfrm>
          <a:prstGeom prst="rect">
            <a:avLst/>
          </a:prstGeom>
          <a:solidFill>
            <a:srgbClr val="0A0F1A"/>
          </a:solidFill>
          <a:ln w="9525">
            <a:solidFill>
              <a:srgbClr val="1A2840"/>
            </a:solidFill>
            <a:prstDash val="solid"/>
          </a:ln>
        </p:spPr>
      </p:sp>
      <p:sp>
        <p:nvSpPr>
          <p:cNvPr id="16" name="Text 14"/>
          <p:cNvSpPr/>
          <p:nvPr/>
        </p:nvSpPr>
        <p:spPr>
          <a:xfrm>
            <a:off x="6772656" y="576072"/>
            <a:ext cx="1048512" cy="49377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MC Agent Pay</a:t>
            </a:r>
            <a:endParaRPr lang="en-US" sz="950" dirty="0"/>
          </a:p>
        </p:txBody>
      </p:sp>
      <p:sp>
        <p:nvSpPr>
          <p:cNvPr id="17" name="Shape 15"/>
          <p:cNvSpPr/>
          <p:nvPr/>
        </p:nvSpPr>
        <p:spPr>
          <a:xfrm>
            <a:off x="7857744" y="576072"/>
            <a:ext cx="1121664" cy="493776"/>
          </a:xfrm>
          <a:prstGeom prst="rect">
            <a:avLst/>
          </a:prstGeom>
          <a:solidFill>
            <a:srgbClr val="0A0F1A"/>
          </a:solidFill>
          <a:ln w="9525">
            <a:solidFill>
              <a:srgbClr val="1A2840"/>
            </a:solidFill>
            <a:prstDash val="solid"/>
          </a:ln>
        </p:spPr>
      </p:sp>
      <p:sp>
        <p:nvSpPr>
          <p:cNvPr id="18" name="Text 16"/>
          <p:cNvSpPr/>
          <p:nvPr/>
        </p:nvSpPr>
        <p:spPr>
          <a:xfrm>
            <a:off x="7894320" y="576072"/>
            <a:ext cx="1048512" cy="49377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Ramp / Brex</a:t>
            </a:r>
            <a:endParaRPr lang="en-US" sz="950" dirty="0"/>
          </a:p>
        </p:txBody>
      </p:sp>
      <p:sp>
        <p:nvSpPr>
          <p:cNvPr id="19" name="Shape 17"/>
          <p:cNvSpPr/>
          <p:nvPr/>
        </p:nvSpPr>
        <p:spPr>
          <a:xfrm>
            <a:off x="164592" y="1069848"/>
            <a:ext cx="2084832" cy="512064"/>
          </a:xfrm>
          <a:prstGeom prst="rect">
            <a:avLst/>
          </a:prstGeom>
          <a:solidFill>
            <a:srgbClr val="1A2235"/>
          </a:solidFill>
          <a:ln w="9525">
            <a:solidFill>
              <a:srgbClr val="1A2840"/>
            </a:solidFill>
            <a:prstDash val="solid"/>
          </a:ln>
        </p:spPr>
      </p:sp>
      <p:sp>
        <p:nvSpPr>
          <p:cNvPr id="20" name="Text 18"/>
          <p:cNvSpPr/>
          <p:nvPr/>
        </p:nvSpPr>
        <p:spPr>
          <a:xfrm>
            <a:off x="292608" y="1069848"/>
            <a:ext cx="1920240" cy="5120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TEE / Hardware-Attested</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Enforcement</a:t>
            </a:r>
            <a:endParaRPr lang="en-US" sz="1000" dirty="0"/>
          </a:p>
        </p:txBody>
      </p:sp>
      <p:sp>
        <p:nvSpPr>
          <p:cNvPr id="21" name="Shape 19"/>
          <p:cNvSpPr/>
          <p:nvPr/>
        </p:nvSpPr>
        <p:spPr>
          <a:xfrm>
            <a:off x="2249424" y="1069848"/>
            <a:ext cx="1121664" cy="512064"/>
          </a:xfrm>
          <a:prstGeom prst="rect">
            <a:avLst/>
          </a:prstGeom>
          <a:solidFill>
            <a:srgbClr val="0E2244"/>
          </a:solidFill>
          <a:ln w="19050">
            <a:solidFill>
              <a:srgbClr val="4B8EF8"/>
            </a:solidFill>
            <a:prstDash val="solid"/>
          </a:ln>
        </p:spPr>
      </p:sp>
      <p:sp>
        <p:nvSpPr>
          <p:cNvPr id="22" name="Text 20"/>
          <p:cNvSpPr/>
          <p:nvPr/>
        </p:nvSpPr>
        <p:spPr>
          <a:xfrm>
            <a:off x="2286000" y="1069848"/>
            <a:ext cx="1048512" cy="512064"/>
          </a:xfrm>
          <a:prstGeom prst="rect">
            <a:avLst/>
          </a:prstGeom>
          <a:noFill/>
          <a:ln/>
        </p:spPr>
        <p:txBody>
          <a:bodyPr wrap="square" lIns="0" tIns="0" rIns="0" bIns="0" rtlCol="0" anchor="ctr"/>
          <a:lstStyle/>
          <a:p>
            <a:pPr algn="ctr" indent="0" marL="0">
              <a:buNone/>
            </a:pPr>
            <a:r>
              <a:rPr lang="en-US" sz="1700" dirty="0">
                <a:solidFill>
                  <a:srgbClr val="4ADE80"/>
                </a:solidFill>
                <a:latin typeface="Calibri" pitchFamily="34" charset="0"/>
                <a:ea typeface="Calibri" pitchFamily="34" charset="-122"/>
                <a:cs typeface="Calibri" pitchFamily="34" charset="-120"/>
              </a:rPr>
              <a:t>✅</a:t>
            </a:r>
            <a:endParaRPr lang="en-US" sz="1700" dirty="0"/>
          </a:p>
        </p:txBody>
      </p:sp>
      <p:sp>
        <p:nvSpPr>
          <p:cNvPr id="23" name="Shape 21"/>
          <p:cNvSpPr/>
          <p:nvPr/>
        </p:nvSpPr>
        <p:spPr>
          <a:xfrm>
            <a:off x="3371088" y="1069848"/>
            <a:ext cx="1121664" cy="512064"/>
          </a:xfrm>
          <a:prstGeom prst="rect">
            <a:avLst/>
          </a:prstGeom>
          <a:solidFill>
            <a:srgbClr val="1A2235"/>
          </a:solidFill>
          <a:ln w="9525">
            <a:solidFill>
              <a:srgbClr val="1A2840"/>
            </a:solidFill>
            <a:prstDash val="solid"/>
          </a:ln>
        </p:spPr>
      </p:sp>
      <p:sp>
        <p:nvSpPr>
          <p:cNvPr id="24" name="Text 22"/>
          <p:cNvSpPr/>
          <p:nvPr/>
        </p:nvSpPr>
        <p:spPr>
          <a:xfrm>
            <a:off x="3407664" y="1069848"/>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25" name="Shape 23"/>
          <p:cNvSpPr/>
          <p:nvPr/>
        </p:nvSpPr>
        <p:spPr>
          <a:xfrm>
            <a:off x="4492752" y="1069848"/>
            <a:ext cx="1121664" cy="512064"/>
          </a:xfrm>
          <a:prstGeom prst="rect">
            <a:avLst/>
          </a:prstGeom>
          <a:solidFill>
            <a:srgbClr val="1A2235"/>
          </a:solidFill>
          <a:ln w="9525">
            <a:solidFill>
              <a:srgbClr val="1A2840"/>
            </a:solidFill>
            <a:prstDash val="solid"/>
          </a:ln>
        </p:spPr>
      </p:sp>
      <p:sp>
        <p:nvSpPr>
          <p:cNvPr id="26" name="Text 24"/>
          <p:cNvSpPr/>
          <p:nvPr/>
        </p:nvSpPr>
        <p:spPr>
          <a:xfrm>
            <a:off x="4529328" y="1069848"/>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27" name="Shape 25"/>
          <p:cNvSpPr/>
          <p:nvPr/>
        </p:nvSpPr>
        <p:spPr>
          <a:xfrm>
            <a:off x="5614416" y="1069848"/>
            <a:ext cx="1121664" cy="512064"/>
          </a:xfrm>
          <a:prstGeom prst="rect">
            <a:avLst/>
          </a:prstGeom>
          <a:solidFill>
            <a:srgbClr val="1A2235"/>
          </a:solidFill>
          <a:ln w="9525">
            <a:solidFill>
              <a:srgbClr val="1A2840"/>
            </a:solidFill>
            <a:prstDash val="solid"/>
          </a:ln>
        </p:spPr>
      </p:sp>
      <p:sp>
        <p:nvSpPr>
          <p:cNvPr id="28" name="Text 26"/>
          <p:cNvSpPr/>
          <p:nvPr/>
        </p:nvSpPr>
        <p:spPr>
          <a:xfrm>
            <a:off x="5650992" y="1069848"/>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29" name="Shape 27"/>
          <p:cNvSpPr/>
          <p:nvPr/>
        </p:nvSpPr>
        <p:spPr>
          <a:xfrm>
            <a:off x="6736080" y="1069848"/>
            <a:ext cx="1121664" cy="512064"/>
          </a:xfrm>
          <a:prstGeom prst="rect">
            <a:avLst/>
          </a:prstGeom>
          <a:solidFill>
            <a:srgbClr val="1A2235"/>
          </a:solidFill>
          <a:ln w="9525">
            <a:solidFill>
              <a:srgbClr val="1A2840"/>
            </a:solidFill>
            <a:prstDash val="solid"/>
          </a:ln>
        </p:spPr>
      </p:sp>
      <p:sp>
        <p:nvSpPr>
          <p:cNvPr id="30" name="Text 28"/>
          <p:cNvSpPr/>
          <p:nvPr/>
        </p:nvSpPr>
        <p:spPr>
          <a:xfrm>
            <a:off x="6772656" y="1069848"/>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31" name="Shape 29"/>
          <p:cNvSpPr/>
          <p:nvPr/>
        </p:nvSpPr>
        <p:spPr>
          <a:xfrm>
            <a:off x="7857744" y="1069848"/>
            <a:ext cx="1121664" cy="512064"/>
          </a:xfrm>
          <a:prstGeom prst="rect">
            <a:avLst/>
          </a:prstGeom>
          <a:solidFill>
            <a:srgbClr val="1A2235"/>
          </a:solidFill>
          <a:ln w="9525">
            <a:solidFill>
              <a:srgbClr val="1A2840"/>
            </a:solidFill>
            <a:prstDash val="solid"/>
          </a:ln>
        </p:spPr>
      </p:sp>
      <p:sp>
        <p:nvSpPr>
          <p:cNvPr id="32" name="Text 30"/>
          <p:cNvSpPr/>
          <p:nvPr/>
        </p:nvSpPr>
        <p:spPr>
          <a:xfrm>
            <a:off x="7894320" y="1069848"/>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33" name="Shape 31"/>
          <p:cNvSpPr/>
          <p:nvPr/>
        </p:nvSpPr>
        <p:spPr>
          <a:xfrm>
            <a:off x="164592" y="1581912"/>
            <a:ext cx="2084832" cy="512064"/>
          </a:xfrm>
          <a:prstGeom prst="rect">
            <a:avLst/>
          </a:prstGeom>
          <a:solidFill>
            <a:srgbClr val="141C2E"/>
          </a:solidFill>
          <a:ln w="9525">
            <a:solidFill>
              <a:srgbClr val="1A2840"/>
            </a:solidFill>
            <a:prstDash val="solid"/>
          </a:ln>
        </p:spPr>
      </p:sp>
      <p:sp>
        <p:nvSpPr>
          <p:cNvPr id="34" name="Text 32"/>
          <p:cNvSpPr/>
          <p:nvPr/>
        </p:nvSpPr>
        <p:spPr>
          <a:xfrm>
            <a:off x="292608" y="1581912"/>
            <a:ext cx="1920240" cy="5120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Prompt Injection Defense</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at Payment Layer</a:t>
            </a:r>
            <a:endParaRPr lang="en-US" sz="1000" dirty="0"/>
          </a:p>
        </p:txBody>
      </p:sp>
      <p:sp>
        <p:nvSpPr>
          <p:cNvPr id="35" name="Shape 33"/>
          <p:cNvSpPr/>
          <p:nvPr/>
        </p:nvSpPr>
        <p:spPr>
          <a:xfrm>
            <a:off x="2249424" y="1581912"/>
            <a:ext cx="1121664" cy="512064"/>
          </a:xfrm>
          <a:prstGeom prst="rect">
            <a:avLst/>
          </a:prstGeom>
          <a:solidFill>
            <a:srgbClr val="0E2244"/>
          </a:solidFill>
          <a:ln w="19050">
            <a:solidFill>
              <a:srgbClr val="4B8EF8"/>
            </a:solidFill>
            <a:prstDash val="solid"/>
          </a:ln>
        </p:spPr>
      </p:sp>
      <p:sp>
        <p:nvSpPr>
          <p:cNvPr id="36" name="Text 34"/>
          <p:cNvSpPr/>
          <p:nvPr/>
        </p:nvSpPr>
        <p:spPr>
          <a:xfrm>
            <a:off x="2286000" y="1581912"/>
            <a:ext cx="1048512" cy="512064"/>
          </a:xfrm>
          <a:prstGeom prst="rect">
            <a:avLst/>
          </a:prstGeom>
          <a:noFill/>
          <a:ln/>
        </p:spPr>
        <p:txBody>
          <a:bodyPr wrap="square" lIns="0" tIns="0" rIns="0" bIns="0" rtlCol="0" anchor="ctr"/>
          <a:lstStyle/>
          <a:p>
            <a:pPr algn="ctr" indent="0" marL="0">
              <a:buNone/>
            </a:pPr>
            <a:r>
              <a:rPr lang="en-US" sz="1700" dirty="0">
                <a:solidFill>
                  <a:srgbClr val="4ADE80"/>
                </a:solidFill>
                <a:latin typeface="Calibri" pitchFamily="34" charset="0"/>
                <a:ea typeface="Calibri" pitchFamily="34" charset="-122"/>
                <a:cs typeface="Calibri" pitchFamily="34" charset="-120"/>
              </a:rPr>
              <a:t>✅</a:t>
            </a:r>
            <a:endParaRPr lang="en-US" sz="1700" dirty="0"/>
          </a:p>
        </p:txBody>
      </p:sp>
      <p:sp>
        <p:nvSpPr>
          <p:cNvPr id="37" name="Shape 35"/>
          <p:cNvSpPr/>
          <p:nvPr/>
        </p:nvSpPr>
        <p:spPr>
          <a:xfrm>
            <a:off x="3371088" y="1581912"/>
            <a:ext cx="1121664" cy="512064"/>
          </a:xfrm>
          <a:prstGeom prst="rect">
            <a:avLst/>
          </a:prstGeom>
          <a:solidFill>
            <a:srgbClr val="141C2E"/>
          </a:solidFill>
          <a:ln w="9525">
            <a:solidFill>
              <a:srgbClr val="1A2840"/>
            </a:solidFill>
            <a:prstDash val="solid"/>
          </a:ln>
        </p:spPr>
      </p:sp>
      <p:sp>
        <p:nvSpPr>
          <p:cNvPr id="38" name="Text 36"/>
          <p:cNvSpPr/>
          <p:nvPr/>
        </p:nvSpPr>
        <p:spPr>
          <a:xfrm>
            <a:off x="3407664" y="1581912"/>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39" name="Shape 37"/>
          <p:cNvSpPr/>
          <p:nvPr/>
        </p:nvSpPr>
        <p:spPr>
          <a:xfrm>
            <a:off x="4492752" y="1581912"/>
            <a:ext cx="1121664" cy="512064"/>
          </a:xfrm>
          <a:prstGeom prst="rect">
            <a:avLst/>
          </a:prstGeom>
          <a:solidFill>
            <a:srgbClr val="141C2E"/>
          </a:solidFill>
          <a:ln w="9525">
            <a:solidFill>
              <a:srgbClr val="1A2840"/>
            </a:solidFill>
            <a:prstDash val="solid"/>
          </a:ln>
        </p:spPr>
      </p:sp>
      <p:sp>
        <p:nvSpPr>
          <p:cNvPr id="40" name="Text 38"/>
          <p:cNvSpPr/>
          <p:nvPr/>
        </p:nvSpPr>
        <p:spPr>
          <a:xfrm>
            <a:off x="4529328" y="1581912"/>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41" name="Shape 39"/>
          <p:cNvSpPr/>
          <p:nvPr/>
        </p:nvSpPr>
        <p:spPr>
          <a:xfrm>
            <a:off x="5614416" y="1581912"/>
            <a:ext cx="1121664" cy="512064"/>
          </a:xfrm>
          <a:prstGeom prst="rect">
            <a:avLst/>
          </a:prstGeom>
          <a:solidFill>
            <a:srgbClr val="141C2E"/>
          </a:solidFill>
          <a:ln w="9525">
            <a:solidFill>
              <a:srgbClr val="1A2840"/>
            </a:solidFill>
            <a:prstDash val="solid"/>
          </a:ln>
        </p:spPr>
      </p:sp>
      <p:sp>
        <p:nvSpPr>
          <p:cNvPr id="42" name="Text 40"/>
          <p:cNvSpPr/>
          <p:nvPr/>
        </p:nvSpPr>
        <p:spPr>
          <a:xfrm>
            <a:off x="5650992" y="1581912"/>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43" name="Shape 41"/>
          <p:cNvSpPr/>
          <p:nvPr/>
        </p:nvSpPr>
        <p:spPr>
          <a:xfrm>
            <a:off x="6736080" y="1581912"/>
            <a:ext cx="1121664" cy="512064"/>
          </a:xfrm>
          <a:prstGeom prst="rect">
            <a:avLst/>
          </a:prstGeom>
          <a:solidFill>
            <a:srgbClr val="141C2E"/>
          </a:solidFill>
          <a:ln w="9525">
            <a:solidFill>
              <a:srgbClr val="1A2840"/>
            </a:solidFill>
            <a:prstDash val="solid"/>
          </a:ln>
        </p:spPr>
      </p:sp>
      <p:sp>
        <p:nvSpPr>
          <p:cNvPr id="44" name="Text 42"/>
          <p:cNvSpPr/>
          <p:nvPr/>
        </p:nvSpPr>
        <p:spPr>
          <a:xfrm>
            <a:off x="6772656" y="1581912"/>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45" name="Shape 43"/>
          <p:cNvSpPr/>
          <p:nvPr/>
        </p:nvSpPr>
        <p:spPr>
          <a:xfrm>
            <a:off x="7857744" y="1581912"/>
            <a:ext cx="1121664" cy="512064"/>
          </a:xfrm>
          <a:prstGeom prst="rect">
            <a:avLst/>
          </a:prstGeom>
          <a:solidFill>
            <a:srgbClr val="141C2E"/>
          </a:solidFill>
          <a:ln w="9525">
            <a:solidFill>
              <a:srgbClr val="1A2840"/>
            </a:solidFill>
            <a:prstDash val="solid"/>
          </a:ln>
        </p:spPr>
      </p:sp>
      <p:sp>
        <p:nvSpPr>
          <p:cNvPr id="46" name="Text 44"/>
          <p:cNvSpPr/>
          <p:nvPr/>
        </p:nvSpPr>
        <p:spPr>
          <a:xfrm>
            <a:off x="7894320" y="1581912"/>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47" name="Shape 45"/>
          <p:cNvSpPr/>
          <p:nvPr/>
        </p:nvSpPr>
        <p:spPr>
          <a:xfrm>
            <a:off x="164592" y="2093976"/>
            <a:ext cx="2084832" cy="512064"/>
          </a:xfrm>
          <a:prstGeom prst="rect">
            <a:avLst/>
          </a:prstGeom>
          <a:solidFill>
            <a:srgbClr val="1A2235"/>
          </a:solidFill>
          <a:ln w="9525">
            <a:solidFill>
              <a:srgbClr val="1A2840"/>
            </a:solidFill>
            <a:prstDash val="solid"/>
          </a:ln>
        </p:spPr>
      </p:sp>
      <p:sp>
        <p:nvSpPr>
          <p:cNvPr id="48" name="Text 46"/>
          <p:cNvSpPr/>
          <p:nvPr/>
        </p:nvSpPr>
        <p:spPr>
          <a:xfrm>
            <a:off x="292608" y="2093976"/>
            <a:ext cx="1920240" cy="5120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Complex Conditional</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Policy Engine</a:t>
            </a:r>
            <a:endParaRPr lang="en-US" sz="1000" dirty="0"/>
          </a:p>
        </p:txBody>
      </p:sp>
      <p:sp>
        <p:nvSpPr>
          <p:cNvPr id="49" name="Shape 47"/>
          <p:cNvSpPr/>
          <p:nvPr/>
        </p:nvSpPr>
        <p:spPr>
          <a:xfrm>
            <a:off x="2249424" y="2093976"/>
            <a:ext cx="1121664" cy="512064"/>
          </a:xfrm>
          <a:prstGeom prst="rect">
            <a:avLst/>
          </a:prstGeom>
          <a:solidFill>
            <a:srgbClr val="0E2244"/>
          </a:solidFill>
          <a:ln w="19050">
            <a:solidFill>
              <a:srgbClr val="4B8EF8"/>
            </a:solidFill>
            <a:prstDash val="solid"/>
          </a:ln>
        </p:spPr>
      </p:sp>
      <p:sp>
        <p:nvSpPr>
          <p:cNvPr id="50" name="Text 48"/>
          <p:cNvSpPr/>
          <p:nvPr/>
        </p:nvSpPr>
        <p:spPr>
          <a:xfrm>
            <a:off x="2286000" y="2093976"/>
            <a:ext cx="1048512" cy="512064"/>
          </a:xfrm>
          <a:prstGeom prst="rect">
            <a:avLst/>
          </a:prstGeom>
          <a:noFill/>
          <a:ln/>
        </p:spPr>
        <p:txBody>
          <a:bodyPr wrap="square" lIns="0" tIns="0" rIns="0" bIns="0" rtlCol="0" anchor="ctr"/>
          <a:lstStyle/>
          <a:p>
            <a:pPr algn="ctr" indent="0" marL="0">
              <a:buNone/>
            </a:pPr>
            <a:r>
              <a:rPr lang="en-US" sz="1700" dirty="0">
                <a:solidFill>
                  <a:srgbClr val="4ADE80"/>
                </a:solidFill>
                <a:latin typeface="Calibri" pitchFamily="34" charset="0"/>
                <a:ea typeface="Calibri" pitchFamily="34" charset="-122"/>
                <a:cs typeface="Calibri" pitchFamily="34" charset="-120"/>
              </a:rPr>
              <a:t>✅</a:t>
            </a:r>
            <a:endParaRPr lang="en-US" sz="1700" dirty="0"/>
          </a:p>
        </p:txBody>
      </p:sp>
      <p:sp>
        <p:nvSpPr>
          <p:cNvPr id="51" name="Shape 49"/>
          <p:cNvSpPr/>
          <p:nvPr/>
        </p:nvSpPr>
        <p:spPr>
          <a:xfrm>
            <a:off x="3371088" y="2093976"/>
            <a:ext cx="1121664" cy="512064"/>
          </a:xfrm>
          <a:prstGeom prst="rect">
            <a:avLst/>
          </a:prstGeom>
          <a:solidFill>
            <a:srgbClr val="1A2235"/>
          </a:solidFill>
          <a:ln w="9525">
            <a:solidFill>
              <a:srgbClr val="1A2840"/>
            </a:solidFill>
            <a:prstDash val="solid"/>
          </a:ln>
        </p:spPr>
      </p:sp>
      <p:sp>
        <p:nvSpPr>
          <p:cNvPr id="52" name="Text 50"/>
          <p:cNvSpPr/>
          <p:nvPr/>
        </p:nvSpPr>
        <p:spPr>
          <a:xfrm>
            <a:off x="3407664" y="2093976"/>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53" name="Shape 51"/>
          <p:cNvSpPr/>
          <p:nvPr/>
        </p:nvSpPr>
        <p:spPr>
          <a:xfrm>
            <a:off x="4492752" y="2093976"/>
            <a:ext cx="1121664" cy="512064"/>
          </a:xfrm>
          <a:prstGeom prst="rect">
            <a:avLst/>
          </a:prstGeom>
          <a:solidFill>
            <a:srgbClr val="1A2235"/>
          </a:solidFill>
          <a:ln w="9525">
            <a:solidFill>
              <a:srgbClr val="1A2840"/>
            </a:solidFill>
            <a:prstDash val="solid"/>
          </a:ln>
        </p:spPr>
      </p:sp>
      <p:sp>
        <p:nvSpPr>
          <p:cNvPr id="54" name="Text 52"/>
          <p:cNvSpPr/>
          <p:nvPr/>
        </p:nvSpPr>
        <p:spPr>
          <a:xfrm>
            <a:off x="4529328" y="2093976"/>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55" name="Shape 53"/>
          <p:cNvSpPr/>
          <p:nvPr/>
        </p:nvSpPr>
        <p:spPr>
          <a:xfrm>
            <a:off x="5614416" y="2093976"/>
            <a:ext cx="1121664" cy="512064"/>
          </a:xfrm>
          <a:prstGeom prst="rect">
            <a:avLst/>
          </a:prstGeom>
          <a:solidFill>
            <a:srgbClr val="1A2235"/>
          </a:solidFill>
          <a:ln w="9525">
            <a:solidFill>
              <a:srgbClr val="1A2840"/>
            </a:solidFill>
            <a:prstDash val="solid"/>
          </a:ln>
        </p:spPr>
      </p:sp>
      <p:sp>
        <p:nvSpPr>
          <p:cNvPr id="56" name="Text 54"/>
          <p:cNvSpPr/>
          <p:nvPr/>
        </p:nvSpPr>
        <p:spPr>
          <a:xfrm>
            <a:off x="5650992" y="2093976"/>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57" name="Shape 55"/>
          <p:cNvSpPr/>
          <p:nvPr/>
        </p:nvSpPr>
        <p:spPr>
          <a:xfrm>
            <a:off x="6736080" y="2093976"/>
            <a:ext cx="1121664" cy="512064"/>
          </a:xfrm>
          <a:prstGeom prst="rect">
            <a:avLst/>
          </a:prstGeom>
          <a:solidFill>
            <a:srgbClr val="1A2235"/>
          </a:solidFill>
          <a:ln w="9525">
            <a:solidFill>
              <a:srgbClr val="1A2840"/>
            </a:solidFill>
            <a:prstDash val="solid"/>
          </a:ln>
        </p:spPr>
      </p:sp>
      <p:sp>
        <p:nvSpPr>
          <p:cNvPr id="58" name="Text 56"/>
          <p:cNvSpPr/>
          <p:nvPr/>
        </p:nvSpPr>
        <p:spPr>
          <a:xfrm>
            <a:off x="6772656" y="2093976"/>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59" name="Shape 57"/>
          <p:cNvSpPr/>
          <p:nvPr/>
        </p:nvSpPr>
        <p:spPr>
          <a:xfrm>
            <a:off x="7857744" y="2093976"/>
            <a:ext cx="1121664" cy="512064"/>
          </a:xfrm>
          <a:prstGeom prst="rect">
            <a:avLst/>
          </a:prstGeom>
          <a:solidFill>
            <a:srgbClr val="1A2235"/>
          </a:solidFill>
          <a:ln w="9525">
            <a:solidFill>
              <a:srgbClr val="1A2840"/>
            </a:solidFill>
            <a:prstDash val="solid"/>
          </a:ln>
        </p:spPr>
      </p:sp>
      <p:sp>
        <p:nvSpPr>
          <p:cNvPr id="60" name="Text 58"/>
          <p:cNvSpPr/>
          <p:nvPr/>
        </p:nvSpPr>
        <p:spPr>
          <a:xfrm>
            <a:off x="7894320" y="2093976"/>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61" name="Shape 59"/>
          <p:cNvSpPr/>
          <p:nvPr/>
        </p:nvSpPr>
        <p:spPr>
          <a:xfrm>
            <a:off x="164592" y="2606040"/>
            <a:ext cx="2084832" cy="512064"/>
          </a:xfrm>
          <a:prstGeom prst="rect">
            <a:avLst/>
          </a:prstGeom>
          <a:solidFill>
            <a:srgbClr val="141C2E"/>
          </a:solidFill>
          <a:ln w="9525">
            <a:solidFill>
              <a:srgbClr val="1A2840"/>
            </a:solidFill>
            <a:prstDash val="solid"/>
          </a:ln>
        </p:spPr>
      </p:sp>
      <p:sp>
        <p:nvSpPr>
          <p:cNvPr id="62" name="Text 60"/>
          <p:cNvSpPr/>
          <p:nvPr/>
        </p:nvSpPr>
        <p:spPr>
          <a:xfrm>
            <a:off x="292608" y="2606040"/>
            <a:ext cx="1920240" cy="5120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x402 / Crypto-Native</a:t>
            </a:r>
            <a:endParaRPr lang="en-US" sz="1000" dirty="0"/>
          </a:p>
        </p:txBody>
      </p:sp>
      <p:sp>
        <p:nvSpPr>
          <p:cNvPr id="63" name="Shape 61"/>
          <p:cNvSpPr/>
          <p:nvPr/>
        </p:nvSpPr>
        <p:spPr>
          <a:xfrm>
            <a:off x="2249424" y="2606040"/>
            <a:ext cx="1121664" cy="512064"/>
          </a:xfrm>
          <a:prstGeom prst="rect">
            <a:avLst/>
          </a:prstGeom>
          <a:solidFill>
            <a:srgbClr val="0E2244"/>
          </a:solidFill>
          <a:ln w="19050">
            <a:solidFill>
              <a:srgbClr val="4B8EF8"/>
            </a:solidFill>
            <a:prstDash val="solid"/>
          </a:ln>
        </p:spPr>
      </p:sp>
      <p:sp>
        <p:nvSpPr>
          <p:cNvPr id="64" name="Text 62"/>
          <p:cNvSpPr/>
          <p:nvPr/>
        </p:nvSpPr>
        <p:spPr>
          <a:xfrm>
            <a:off x="2286000" y="2606040"/>
            <a:ext cx="1048512" cy="512064"/>
          </a:xfrm>
          <a:prstGeom prst="rect">
            <a:avLst/>
          </a:prstGeom>
          <a:noFill/>
          <a:ln/>
        </p:spPr>
        <p:txBody>
          <a:bodyPr wrap="square" lIns="0" tIns="0" rIns="0" bIns="0" rtlCol="0" anchor="ctr"/>
          <a:lstStyle/>
          <a:p>
            <a:pPr algn="ctr" indent="0" marL="0">
              <a:buNone/>
            </a:pPr>
            <a:r>
              <a:rPr lang="en-US" sz="1700" dirty="0">
                <a:solidFill>
                  <a:srgbClr val="4ADE80"/>
                </a:solidFill>
                <a:latin typeface="Calibri" pitchFamily="34" charset="0"/>
                <a:ea typeface="Calibri" pitchFamily="34" charset="-122"/>
                <a:cs typeface="Calibri" pitchFamily="34" charset="-120"/>
              </a:rPr>
              <a:t>✅</a:t>
            </a:r>
            <a:endParaRPr lang="en-US" sz="1700" dirty="0"/>
          </a:p>
        </p:txBody>
      </p:sp>
      <p:sp>
        <p:nvSpPr>
          <p:cNvPr id="65" name="Shape 63"/>
          <p:cNvSpPr/>
          <p:nvPr/>
        </p:nvSpPr>
        <p:spPr>
          <a:xfrm>
            <a:off x="3371088" y="2606040"/>
            <a:ext cx="1121664" cy="512064"/>
          </a:xfrm>
          <a:prstGeom prst="rect">
            <a:avLst/>
          </a:prstGeom>
          <a:solidFill>
            <a:srgbClr val="141C2E"/>
          </a:solidFill>
          <a:ln w="9525">
            <a:solidFill>
              <a:srgbClr val="1A2840"/>
            </a:solidFill>
            <a:prstDash val="solid"/>
          </a:ln>
        </p:spPr>
      </p:sp>
      <p:sp>
        <p:nvSpPr>
          <p:cNvPr id="66" name="Text 64"/>
          <p:cNvSpPr/>
          <p:nvPr/>
        </p:nvSpPr>
        <p:spPr>
          <a:xfrm>
            <a:off x="3407664" y="2606040"/>
            <a:ext cx="1048512" cy="512064"/>
          </a:xfrm>
          <a:prstGeom prst="rect">
            <a:avLst/>
          </a:prstGeom>
          <a:noFill/>
          <a:ln/>
        </p:spPr>
        <p:txBody>
          <a:bodyPr wrap="square" lIns="0" tIns="0" rIns="0" bIns="0" rtlCol="0" anchor="ctr"/>
          <a:lstStyle/>
          <a:p>
            <a:pPr algn="ctr" indent="0" marL="0">
              <a:buNone/>
            </a:pPr>
            <a:r>
              <a:rPr lang="en-US" sz="1500" dirty="0">
                <a:solidFill>
                  <a:srgbClr val="4ADE80"/>
                </a:solidFill>
                <a:latin typeface="Calibri" pitchFamily="34" charset="0"/>
                <a:ea typeface="Calibri" pitchFamily="34" charset="-122"/>
                <a:cs typeface="Calibri" pitchFamily="34" charset="-120"/>
              </a:rPr>
              <a:t>✅</a:t>
            </a:r>
            <a:endParaRPr lang="en-US" sz="1500" dirty="0"/>
          </a:p>
        </p:txBody>
      </p:sp>
      <p:sp>
        <p:nvSpPr>
          <p:cNvPr id="67" name="Shape 65"/>
          <p:cNvSpPr/>
          <p:nvPr/>
        </p:nvSpPr>
        <p:spPr>
          <a:xfrm>
            <a:off x="4492752" y="2606040"/>
            <a:ext cx="1121664" cy="512064"/>
          </a:xfrm>
          <a:prstGeom prst="rect">
            <a:avLst/>
          </a:prstGeom>
          <a:solidFill>
            <a:srgbClr val="141C2E"/>
          </a:solidFill>
          <a:ln w="9525">
            <a:solidFill>
              <a:srgbClr val="1A2840"/>
            </a:solidFill>
            <a:prstDash val="solid"/>
          </a:ln>
        </p:spPr>
      </p:sp>
      <p:sp>
        <p:nvSpPr>
          <p:cNvPr id="68" name="Text 66"/>
          <p:cNvSpPr/>
          <p:nvPr/>
        </p:nvSpPr>
        <p:spPr>
          <a:xfrm>
            <a:off x="4529328" y="2606040"/>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69" name="Shape 67"/>
          <p:cNvSpPr/>
          <p:nvPr/>
        </p:nvSpPr>
        <p:spPr>
          <a:xfrm>
            <a:off x="5614416" y="2606040"/>
            <a:ext cx="1121664" cy="512064"/>
          </a:xfrm>
          <a:prstGeom prst="rect">
            <a:avLst/>
          </a:prstGeom>
          <a:solidFill>
            <a:srgbClr val="141C2E"/>
          </a:solidFill>
          <a:ln w="9525">
            <a:solidFill>
              <a:srgbClr val="1A2840"/>
            </a:solidFill>
            <a:prstDash val="solid"/>
          </a:ln>
        </p:spPr>
      </p:sp>
      <p:sp>
        <p:nvSpPr>
          <p:cNvPr id="70" name="Text 68"/>
          <p:cNvSpPr/>
          <p:nvPr/>
        </p:nvSpPr>
        <p:spPr>
          <a:xfrm>
            <a:off x="5650992" y="2606040"/>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71" name="Shape 69"/>
          <p:cNvSpPr/>
          <p:nvPr/>
        </p:nvSpPr>
        <p:spPr>
          <a:xfrm>
            <a:off x="6736080" y="2606040"/>
            <a:ext cx="1121664" cy="512064"/>
          </a:xfrm>
          <a:prstGeom prst="rect">
            <a:avLst/>
          </a:prstGeom>
          <a:solidFill>
            <a:srgbClr val="141C2E"/>
          </a:solidFill>
          <a:ln w="9525">
            <a:solidFill>
              <a:srgbClr val="1A2840"/>
            </a:solidFill>
            <a:prstDash val="solid"/>
          </a:ln>
        </p:spPr>
      </p:sp>
      <p:sp>
        <p:nvSpPr>
          <p:cNvPr id="72" name="Text 70"/>
          <p:cNvSpPr/>
          <p:nvPr/>
        </p:nvSpPr>
        <p:spPr>
          <a:xfrm>
            <a:off x="6772656" y="2606040"/>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73" name="Shape 71"/>
          <p:cNvSpPr/>
          <p:nvPr/>
        </p:nvSpPr>
        <p:spPr>
          <a:xfrm>
            <a:off x="7857744" y="2606040"/>
            <a:ext cx="1121664" cy="512064"/>
          </a:xfrm>
          <a:prstGeom prst="rect">
            <a:avLst/>
          </a:prstGeom>
          <a:solidFill>
            <a:srgbClr val="141C2E"/>
          </a:solidFill>
          <a:ln w="9525">
            <a:solidFill>
              <a:srgbClr val="1A2840"/>
            </a:solidFill>
            <a:prstDash val="solid"/>
          </a:ln>
        </p:spPr>
      </p:sp>
      <p:sp>
        <p:nvSpPr>
          <p:cNvPr id="74" name="Text 72"/>
          <p:cNvSpPr/>
          <p:nvPr/>
        </p:nvSpPr>
        <p:spPr>
          <a:xfrm>
            <a:off x="7894320" y="2606040"/>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75" name="Shape 73"/>
          <p:cNvSpPr/>
          <p:nvPr/>
        </p:nvSpPr>
        <p:spPr>
          <a:xfrm>
            <a:off x="164592" y="3118104"/>
            <a:ext cx="2084832" cy="512064"/>
          </a:xfrm>
          <a:prstGeom prst="rect">
            <a:avLst/>
          </a:prstGeom>
          <a:solidFill>
            <a:srgbClr val="1A2235"/>
          </a:solidFill>
          <a:ln w="9525">
            <a:solidFill>
              <a:srgbClr val="1A2840"/>
            </a:solidFill>
            <a:prstDash val="solid"/>
          </a:ln>
        </p:spPr>
      </p:sp>
      <p:sp>
        <p:nvSpPr>
          <p:cNvPr id="76" name="Text 74"/>
          <p:cNvSpPr/>
          <p:nvPr/>
        </p:nvSpPr>
        <p:spPr>
          <a:xfrm>
            <a:off x="292608" y="3118104"/>
            <a:ext cx="1920240" cy="5120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Enterprise Agent</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Governance</a:t>
            </a:r>
            <a:endParaRPr lang="en-US" sz="1000" dirty="0"/>
          </a:p>
        </p:txBody>
      </p:sp>
      <p:sp>
        <p:nvSpPr>
          <p:cNvPr id="77" name="Shape 75"/>
          <p:cNvSpPr/>
          <p:nvPr/>
        </p:nvSpPr>
        <p:spPr>
          <a:xfrm>
            <a:off x="2249424" y="3118104"/>
            <a:ext cx="1121664" cy="512064"/>
          </a:xfrm>
          <a:prstGeom prst="rect">
            <a:avLst/>
          </a:prstGeom>
          <a:solidFill>
            <a:srgbClr val="0E2244"/>
          </a:solidFill>
          <a:ln w="19050">
            <a:solidFill>
              <a:srgbClr val="4B8EF8"/>
            </a:solidFill>
            <a:prstDash val="solid"/>
          </a:ln>
        </p:spPr>
      </p:sp>
      <p:sp>
        <p:nvSpPr>
          <p:cNvPr id="78" name="Text 76"/>
          <p:cNvSpPr/>
          <p:nvPr/>
        </p:nvSpPr>
        <p:spPr>
          <a:xfrm>
            <a:off x="2286000" y="3118104"/>
            <a:ext cx="1048512" cy="512064"/>
          </a:xfrm>
          <a:prstGeom prst="rect">
            <a:avLst/>
          </a:prstGeom>
          <a:noFill/>
          <a:ln/>
        </p:spPr>
        <p:txBody>
          <a:bodyPr wrap="square" lIns="0" tIns="0" rIns="0" bIns="0" rtlCol="0" anchor="ctr"/>
          <a:lstStyle/>
          <a:p>
            <a:pPr algn="ctr" indent="0" marL="0">
              <a:buNone/>
            </a:pPr>
            <a:r>
              <a:rPr lang="en-US" sz="1700" dirty="0">
                <a:solidFill>
                  <a:srgbClr val="4ADE80"/>
                </a:solidFill>
                <a:latin typeface="Calibri" pitchFamily="34" charset="0"/>
                <a:ea typeface="Calibri" pitchFamily="34" charset="-122"/>
                <a:cs typeface="Calibri" pitchFamily="34" charset="-120"/>
              </a:rPr>
              <a:t>✅</a:t>
            </a:r>
            <a:endParaRPr lang="en-US" sz="1700" dirty="0"/>
          </a:p>
        </p:txBody>
      </p:sp>
      <p:sp>
        <p:nvSpPr>
          <p:cNvPr id="79" name="Shape 77"/>
          <p:cNvSpPr/>
          <p:nvPr/>
        </p:nvSpPr>
        <p:spPr>
          <a:xfrm>
            <a:off x="3371088" y="3118104"/>
            <a:ext cx="1121664" cy="512064"/>
          </a:xfrm>
          <a:prstGeom prst="rect">
            <a:avLst/>
          </a:prstGeom>
          <a:solidFill>
            <a:srgbClr val="1A2235"/>
          </a:solidFill>
          <a:ln w="9525">
            <a:solidFill>
              <a:srgbClr val="1A2840"/>
            </a:solidFill>
            <a:prstDash val="solid"/>
          </a:ln>
        </p:spPr>
      </p:sp>
      <p:sp>
        <p:nvSpPr>
          <p:cNvPr id="80" name="Text 78"/>
          <p:cNvSpPr/>
          <p:nvPr/>
        </p:nvSpPr>
        <p:spPr>
          <a:xfrm>
            <a:off x="3407664" y="3118104"/>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81" name="Shape 79"/>
          <p:cNvSpPr/>
          <p:nvPr/>
        </p:nvSpPr>
        <p:spPr>
          <a:xfrm>
            <a:off x="4492752" y="3118104"/>
            <a:ext cx="1121664" cy="512064"/>
          </a:xfrm>
          <a:prstGeom prst="rect">
            <a:avLst/>
          </a:prstGeom>
          <a:solidFill>
            <a:srgbClr val="1A2235"/>
          </a:solidFill>
          <a:ln w="9525">
            <a:solidFill>
              <a:srgbClr val="1A2840"/>
            </a:solidFill>
            <a:prstDash val="solid"/>
          </a:ln>
        </p:spPr>
      </p:sp>
      <p:sp>
        <p:nvSpPr>
          <p:cNvPr id="82" name="Text 80"/>
          <p:cNvSpPr/>
          <p:nvPr/>
        </p:nvSpPr>
        <p:spPr>
          <a:xfrm>
            <a:off x="4529328" y="3118104"/>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83" name="Shape 81"/>
          <p:cNvSpPr/>
          <p:nvPr/>
        </p:nvSpPr>
        <p:spPr>
          <a:xfrm>
            <a:off x="5614416" y="3118104"/>
            <a:ext cx="1121664" cy="512064"/>
          </a:xfrm>
          <a:prstGeom prst="rect">
            <a:avLst/>
          </a:prstGeom>
          <a:solidFill>
            <a:srgbClr val="1A2235"/>
          </a:solidFill>
          <a:ln w="9525">
            <a:solidFill>
              <a:srgbClr val="1A2840"/>
            </a:solidFill>
            <a:prstDash val="solid"/>
          </a:ln>
        </p:spPr>
      </p:sp>
      <p:sp>
        <p:nvSpPr>
          <p:cNvPr id="84" name="Text 82"/>
          <p:cNvSpPr/>
          <p:nvPr/>
        </p:nvSpPr>
        <p:spPr>
          <a:xfrm>
            <a:off x="5650992" y="3118104"/>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85" name="Shape 83"/>
          <p:cNvSpPr/>
          <p:nvPr/>
        </p:nvSpPr>
        <p:spPr>
          <a:xfrm>
            <a:off x="6736080" y="3118104"/>
            <a:ext cx="1121664" cy="512064"/>
          </a:xfrm>
          <a:prstGeom prst="rect">
            <a:avLst/>
          </a:prstGeom>
          <a:solidFill>
            <a:srgbClr val="1A2235"/>
          </a:solidFill>
          <a:ln w="9525">
            <a:solidFill>
              <a:srgbClr val="1A2840"/>
            </a:solidFill>
            <a:prstDash val="solid"/>
          </a:ln>
        </p:spPr>
      </p:sp>
      <p:sp>
        <p:nvSpPr>
          <p:cNvPr id="86" name="Text 84"/>
          <p:cNvSpPr/>
          <p:nvPr/>
        </p:nvSpPr>
        <p:spPr>
          <a:xfrm>
            <a:off x="6772656" y="3118104"/>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87" name="Shape 85"/>
          <p:cNvSpPr/>
          <p:nvPr/>
        </p:nvSpPr>
        <p:spPr>
          <a:xfrm>
            <a:off x="7857744" y="3118104"/>
            <a:ext cx="1121664" cy="512064"/>
          </a:xfrm>
          <a:prstGeom prst="rect">
            <a:avLst/>
          </a:prstGeom>
          <a:solidFill>
            <a:srgbClr val="1A2235"/>
          </a:solidFill>
          <a:ln w="9525">
            <a:solidFill>
              <a:srgbClr val="1A2840"/>
            </a:solidFill>
            <a:prstDash val="solid"/>
          </a:ln>
        </p:spPr>
      </p:sp>
      <p:sp>
        <p:nvSpPr>
          <p:cNvPr id="88" name="Text 86"/>
          <p:cNvSpPr/>
          <p:nvPr/>
        </p:nvSpPr>
        <p:spPr>
          <a:xfrm>
            <a:off x="7894320" y="3118104"/>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89" name="Shape 87"/>
          <p:cNvSpPr/>
          <p:nvPr/>
        </p:nvSpPr>
        <p:spPr>
          <a:xfrm>
            <a:off x="164592" y="3630168"/>
            <a:ext cx="2084832" cy="512064"/>
          </a:xfrm>
          <a:prstGeom prst="rect">
            <a:avLst/>
          </a:prstGeom>
          <a:solidFill>
            <a:srgbClr val="141C2E"/>
          </a:solidFill>
          <a:ln w="9525">
            <a:solidFill>
              <a:srgbClr val="1A2840"/>
            </a:solidFill>
            <a:prstDash val="solid"/>
          </a:ln>
        </p:spPr>
      </p:sp>
      <p:sp>
        <p:nvSpPr>
          <p:cNvPr id="90" name="Text 88"/>
          <p:cNvSpPr/>
          <p:nvPr/>
        </p:nvSpPr>
        <p:spPr>
          <a:xfrm>
            <a:off x="292608" y="3630168"/>
            <a:ext cx="1920240" cy="51206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Real-Time Transaction</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Blocking</a:t>
            </a:r>
            <a:endParaRPr lang="en-US" sz="1000" dirty="0"/>
          </a:p>
        </p:txBody>
      </p:sp>
      <p:sp>
        <p:nvSpPr>
          <p:cNvPr id="91" name="Shape 89"/>
          <p:cNvSpPr/>
          <p:nvPr/>
        </p:nvSpPr>
        <p:spPr>
          <a:xfrm>
            <a:off x="2249424" y="3630168"/>
            <a:ext cx="1121664" cy="512064"/>
          </a:xfrm>
          <a:prstGeom prst="rect">
            <a:avLst/>
          </a:prstGeom>
          <a:solidFill>
            <a:srgbClr val="0E2244"/>
          </a:solidFill>
          <a:ln w="19050">
            <a:solidFill>
              <a:srgbClr val="4B8EF8"/>
            </a:solidFill>
            <a:prstDash val="solid"/>
          </a:ln>
        </p:spPr>
      </p:sp>
      <p:sp>
        <p:nvSpPr>
          <p:cNvPr id="92" name="Text 90"/>
          <p:cNvSpPr/>
          <p:nvPr/>
        </p:nvSpPr>
        <p:spPr>
          <a:xfrm>
            <a:off x="2286000" y="3630168"/>
            <a:ext cx="1048512" cy="512064"/>
          </a:xfrm>
          <a:prstGeom prst="rect">
            <a:avLst/>
          </a:prstGeom>
          <a:noFill/>
          <a:ln/>
        </p:spPr>
        <p:txBody>
          <a:bodyPr wrap="square" lIns="0" tIns="0" rIns="0" bIns="0" rtlCol="0" anchor="ctr"/>
          <a:lstStyle/>
          <a:p>
            <a:pPr algn="ctr" indent="0" marL="0">
              <a:buNone/>
            </a:pPr>
            <a:r>
              <a:rPr lang="en-US" sz="1700" dirty="0">
                <a:solidFill>
                  <a:srgbClr val="4ADE80"/>
                </a:solidFill>
                <a:latin typeface="Calibri" pitchFamily="34" charset="0"/>
                <a:ea typeface="Calibri" pitchFamily="34" charset="-122"/>
                <a:cs typeface="Calibri" pitchFamily="34" charset="-120"/>
              </a:rPr>
              <a:t>✅</a:t>
            </a:r>
            <a:endParaRPr lang="en-US" sz="1700" dirty="0"/>
          </a:p>
        </p:txBody>
      </p:sp>
      <p:sp>
        <p:nvSpPr>
          <p:cNvPr id="93" name="Shape 91"/>
          <p:cNvSpPr/>
          <p:nvPr/>
        </p:nvSpPr>
        <p:spPr>
          <a:xfrm>
            <a:off x="3371088" y="3630168"/>
            <a:ext cx="1121664" cy="512064"/>
          </a:xfrm>
          <a:prstGeom prst="rect">
            <a:avLst/>
          </a:prstGeom>
          <a:solidFill>
            <a:srgbClr val="141C2E"/>
          </a:solidFill>
          <a:ln w="9525">
            <a:solidFill>
              <a:srgbClr val="1A2840"/>
            </a:solidFill>
            <a:prstDash val="solid"/>
          </a:ln>
        </p:spPr>
      </p:sp>
      <p:sp>
        <p:nvSpPr>
          <p:cNvPr id="94" name="Text 92"/>
          <p:cNvSpPr/>
          <p:nvPr/>
        </p:nvSpPr>
        <p:spPr>
          <a:xfrm>
            <a:off x="3407664" y="3630168"/>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95" name="Shape 93"/>
          <p:cNvSpPr/>
          <p:nvPr/>
        </p:nvSpPr>
        <p:spPr>
          <a:xfrm>
            <a:off x="4492752" y="3630168"/>
            <a:ext cx="1121664" cy="512064"/>
          </a:xfrm>
          <a:prstGeom prst="rect">
            <a:avLst/>
          </a:prstGeom>
          <a:solidFill>
            <a:srgbClr val="141C2E"/>
          </a:solidFill>
          <a:ln w="9525">
            <a:solidFill>
              <a:srgbClr val="1A2840"/>
            </a:solidFill>
            <a:prstDash val="solid"/>
          </a:ln>
        </p:spPr>
      </p:sp>
      <p:sp>
        <p:nvSpPr>
          <p:cNvPr id="96" name="Text 94"/>
          <p:cNvSpPr/>
          <p:nvPr/>
        </p:nvSpPr>
        <p:spPr>
          <a:xfrm>
            <a:off x="4529328" y="3630168"/>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97" name="Shape 95"/>
          <p:cNvSpPr/>
          <p:nvPr/>
        </p:nvSpPr>
        <p:spPr>
          <a:xfrm>
            <a:off x="5614416" y="3630168"/>
            <a:ext cx="1121664" cy="512064"/>
          </a:xfrm>
          <a:prstGeom prst="rect">
            <a:avLst/>
          </a:prstGeom>
          <a:solidFill>
            <a:srgbClr val="141C2E"/>
          </a:solidFill>
          <a:ln w="9525">
            <a:solidFill>
              <a:srgbClr val="1A2840"/>
            </a:solidFill>
            <a:prstDash val="solid"/>
          </a:ln>
        </p:spPr>
      </p:sp>
      <p:sp>
        <p:nvSpPr>
          <p:cNvPr id="98" name="Text 96"/>
          <p:cNvSpPr/>
          <p:nvPr/>
        </p:nvSpPr>
        <p:spPr>
          <a:xfrm>
            <a:off x="5650992" y="3630168"/>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99" name="Shape 97"/>
          <p:cNvSpPr/>
          <p:nvPr/>
        </p:nvSpPr>
        <p:spPr>
          <a:xfrm>
            <a:off x="6736080" y="3630168"/>
            <a:ext cx="1121664" cy="512064"/>
          </a:xfrm>
          <a:prstGeom prst="rect">
            <a:avLst/>
          </a:prstGeom>
          <a:solidFill>
            <a:srgbClr val="141C2E"/>
          </a:solidFill>
          <a:ln w="9525">
            <a:solidFill>
              <a:srgbClr val="1A2840"/>
            </a:solidFill>
            <a:prstDash val="solid"/>
          </a:ln>
        </p:spPr>
      </p:sp>
      <p:sp>
        <p:nvSpPr>
          <p:cNvPr id="100" name="Text 98"/>
          <p:cNvSpPr/>
          <p:nvPr/>
        </p:nvSpPr>
        <p:spPr>
          <a:xfrm>
            <a:off x="6772656" y="3630168"/>
            <a:ext cx="1048512" cy="512064"/>
          </a:xfrm>
          <a:prstGeom prst="rect">
            <a:avLst/>
          </a:prstGeom>
          <a:noFill/>
          <a:ln/>
        </p:spPr>
        <p:txBody>
          <a:bodyPr wrap="square" lIns="0" tIns="0" rIns="0" bIns="0" rtlCol="0" anchor="ctr"/>
          <a:lstStyle/>
          <a:p>
            <a:pPr algn="ctr" indent="0" marL="0">
              <a:buNone/>
            </a:pPr>
            <a:r>
              <a:rPr lang="en-US" sz="1500" dirty="0">
                <a:solidFill>
                  <a:srgbClr val="F59E0B"/>
                </a:solidFill>
                <a:latin typeface="Calibri" pitchFamily="34" charset="0"/>
                <a:ea typeface="Calibri" pitchFamily="34" charset="-122"/>
                <a:cs typeface="Calibri" pitchFamily="34" charset="-120"/>
              </a:rPr>
              <a:t>⚠️</a:t>
            </a:r>
            <a:endParaRPr lang="en-US" sz="1500" dirty="0"/>
          </a:p>
        </p:txBody>
      </p:sp>
      <p:sp>
        <p:nvSpPr>
          <p:cNvPr id="101" name="Shape 99"/>
          <p:cNvSpPr/>
          <p:nvPr/>
        </p:nvSpPr>
        <p:spPr>
          <a:xfrm>
            <a:off x="7857744" y="3630168"/>
            <a:ext cx="1121664" cy="512064"/>
          </a:xfrm>
          <a:prstGeom prst="rect">
            <a:avLst/>
          </a:prstGeom>
          <a:solidFill>
            <a:srgbClr val="141C2E"/>
          </a:solidFill>
          <a:ln w="9525">
            <a:solidFill>
              <a:srgbClr val="1A2840"/>
            </a:solidFill>
            <a:prstDash val="solid"/>
          </a:ln>
        </p:spPr>
      </p:sp>
      <p:sp>
        <p:nvSpPr>
          <p:cNvPr id="102" name="Text 100"/>
          <p:cNvSpPr/>
          <p:nvPr/>
        </p:nvSpPr>
        <p:spPr>
          <a:xfrm>
            <a:off x="7894320" y="3630168"/>
            <a:ext cx="1048512" cy="512064"/>
          </a:xfrm>
          <a:prstGeom prst="rect">
            <a:avLst/>
          </a:prstGeom>
          <a:noFill/>
          <a:ln/>
        </p:spPr>
        <p:txBody>
          <a:bodyPr wrap="square" lIns="0" tIns="0" rIns="0" bIns="0" rtlCol="0" anchor="ctr"/>
          <a:lstStyle/>
          <a:p>
            <a:pPr algn="ctr" indent="0" marL="0">
              <a:buNone/>
            </a:pPr>
            <a:r>
              <a:rPr lang="en-US" sz="1500" dirty="0">
                <a:solidFill>
                  <a:srgbClr val="EF4444"/>
                </a:solidFill>
                <a:latin typeface="Calibri" pitchFamily="34" charset="0"/>
                <a:ea typeface="Calibri" pitchFamily="34" charset="-122"/>
                <a:cs typeface="Calibri" pitchFamily="34" charset="-120"/>
              </a:rPr>
              <a:t>❌</a:t>
            </a:r>
            <a:endParaRPr lang="en-US" sz="1500" dirty="0"/>
          </a:p>
        </p:txBody>
      </p:sp>
      <p:sp>
        <p:nvSpPr>
          <p:cNvPr id="103" name="Text 101"/>
          <p:cNvSpPr/>
          <p:nvPr/>
        </p:nvSpPr>
        <p:spPr>
          <a:xfrm>
            <a:off x="182880" y="4233672"/>
            <a:ext cx="8778240" cy="329184"/>
          </a:xfrm>
          <a:prstGeom prst="rect">
            <a:avLst/>
          </a:prstGeom>
          <a:noFill/>
          <a:ln/>
        </p:spPr>
        <p:txBody>
          <a:bodyPr wrap="square" lIns="0" tIns="0" rIns="0" bIns="0" rtlCol="0" anchor="ctr"/>
          <a:lstStyle/>
          <a:p>
            <a:pPr algn="ctr" indent="0" marL="0">
              <a:buNone/>
            </a:pPr>
            <a:r>
              <a:rPr lang="en-US" sz="1050" i="1" dirty="0">
                <a:solidFill>
                  <a:srgbClr val="8A9BBE"/>
                </a:solidFill>
                <a:latin typeface="Calibri" pitchFamily="34" charset="0"/>
                <a:ea typeface="Calibri" pitchFamily="34" charset="-122"/>
                <a:cs typeface="Calibri" pitchFamily="34" charset="-120"/>
              </a:rPr>
              <a:t>Tutelum is the only layer with hardware-attested policy enforcement built natively for the agentic payment stack.</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321040" y="4864608"/>
            <a:ext cx="685800" cy="182880"/>
          </a:xfrm>
          <a:prstGeom prst="rect">
            <a:avLst/>
          </a:prstGeom>
          <a:noFill/>
          <a:ln/>
        </p:spPr>
        <p:txBody>
          <a:bodyPr wrap="square" lIns="0" tIns="0" rIns="0" bIns="0" rtlCol="0" anchor="ctr"/>
          <a:lstStyle/>
          <a:p>
            <a:pPr algn="r" indent="0" marL="0">
              <a:buNone/>
            </a:pPr>
            <a:r>
              <a:rPr lang="en-US" sz="800" dirty="0">
                <a:solidFill>
                  <a:srgbClr val="3D4E66"/>
                </a:solidFill>
                <a:latin typeface="Calibri" pitchFamily="34" charset="0"/>
                <a:ea typeface="Calibri" pitchFamily="34" charset="-122"/>
                <a:cs typeface="Calibri" pitchFamily="34" charset="-120"/>
              </a:rPr>
              <a:t>11 / 12</a:t>
            </a:r>
            <a:endParaRPr lang="en-US" sz="800" dirty="0"/>
          </a:p>
        </p:txBody>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Built by Engineers Who've Lived the Problem</a:t>
            </a:r>
            <a:endParaRPr lang="en-US" sz="2700" dirty="0"/>
          </a:p>
        </p:txBody>
      </p:sp>
      <p:sp>
        <p:nvSpPr>
          <p:cNvPr id="4" name="Shape 2"/>
          <p:cNvSpPr/>
          <p:nvPr/>
        </p:nvSpPr>
        <p:spPr>
          <a:xfrm>
            <a:off x="365760" y="822960"/>
            <a:ext cx="2560320" cy="2606040"/>
          </a:xfrm>
          <a:prstGeom prst="rect">
            <a:avLst/>
          </a:prstGeom>
          <a:solidFill>
            <a:srgbClr val="1A2235"/>
          </a:solidFill>
          <a:ln w="9525">
            <a:solidFill>
              <a:srgbClr val="232E45"/>
            </a:solidFill>
            <a:prstDash val="solid"/>
          </a:ln>
        </p:spPr>
      </p:sp>
      <p:sp>
        <p:nvSpPr>
          <p:cNvPr id="5" name="Shape 3"/>
          <p:cNvSpPr/>
          <p:nvPr/>
        </p:nvSpPr>
        <p:spPr>
          <a:xfrm>
            <a:off x="365760" y="822960"/>
            <a:ext cx="2560320" cy="45720"/>
          </a:xfrm>
          <a:prstGeom prst="rect">
            <a:avLst/>
          </a:prstGeom>
          <a:solidFill>
            <a:srgbClr val="4B8EF8"/>
          </a:solidFill>
          <a:ln w="12700">
            <a:solidFill>
              <a:srgbClr val="4B8EF8"/>
            </a:solidFill>
            <a:prstDash val="solid"/>
          </a:ln>
        </p:spPr>
      </p:sp>
      <p:pic>
        <p:nvPicPr>
          <p:cNvPr id="6" name="Image 0" descr="/Users/jchambard/Documents/Projects/tutelum-pitch-deck/John.png">    </p:cNvPr>
          <p:cNvPicPr>
            <a:picLocks noChangeAspect="1"/>
          </p:cNvPicPr>
          <p:nvPr/>
        </p:nvPicPr>
        <p:blipFill>
          <a:blip r:embed="rId1"/>
          <a:stretch>
            <a:fillRect/>
          </a:stretch>
        </p:blipFill>
        <p:spPr>
          <a:xfrm>
            <a:off x="1243584" y="1005840"/>
            <a:ext cx="804672" cy="804672"/>
          </a:xfrm>
          <a:prstGeom prst="rect">
            <a:avLst/>
          </a:prstGeom>
        </p:spPr>
      </p:pic>
      <p:sp>
        <p:nvSpPr>
          <p:cNvPr id="7" name="Text 4"/>
          <p:cNvSpPr/>
          <p:nvPr/>
        </p:nvSpPr>
        <p:spPr>
          <a:xfrm>
            <a:off x="457200" y="1901952"/>
            <a:ext cx="23774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John Chambard</a:t>
            </a:r>
            <a:endParaRPr lang="en-US" sz="1250" dirty="0"/>
          </a:p>
        </p:txBody>
      </p:sp>
      <p:sp>
        <p:nvSpPr>
          <p:cNvPr id="8" name="Text 5"/>
          <p:cNvSpPr/>
          <p:nvPr/>
        </p:nvSpPr>
        <p:spPr>
          <a:xfrm>
            <a:off x="457200" y="2212848"/>
            <a:ext cx="2377440" cy="219456"/>
          </a:xfrm>
          <a:prstGeom prst="rect">
            <a:avLst/>
          </a:prstGeom>
          <a:noFill/>
          <a:ln/>
        </p:spPr>
        <p:txBody>
          <a:bodyPr wrap="square" lIns="0" tIns="0" rIns="0" bIns="0" rtlCol="0" anchor="ctr"/>
          <a:lstStyle/>
          <a:p>
            <a:pPr algn="ctr" indent="0" marL="0">
              <a:buNone/>
            </a:pPr>
            <a:r>
              <a:rPr lang="en-US" sz="950" b="1" dirty="0">
                <a:solidFill>
                  <a:srgbClr val="4B8EF8"/>
                </a:solidFill>
                <a:latin typeface="Calibri" pitchFamily="34" charset="0"/>
                <a:ea typeface="Calibri" pitchFamily="34" charset="-122"/>
                <a:cs typeface="Calibri" pitchFamily="34" charset="-120"/>
              </a:rPr>
              <a:t>CEO  ·  Co-Founder</a:t>
            </a:r>
            <a:endParaRPr lang="en-US" sz="950" dirty="0"/>
          </a:p>
        </p:txBody>
      </p:sp>
      <p:sp>
        <p:nvSpPr>
          <p:cNvPr id="9" name="Text 6"/>
          <p:cNvSpPr/>
          <p:nvPr/>
        </p:nvSpPr>
        <p:spPr>
          <a:xfrm>
            <a:off x="457200" y="2487168"/>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Comp Sci @ Purdue</a:t>
            </a:r>
            <a:endParaRPr lang="en-US" sz="950" dirty="0"/>
          </a:p>
        </p:txBody>
      </p:sp>
      <p:sp>
        <p:nvSpPr>
          <p:cNvPr id="10" name="Text 7"/>
          <p:cNvSpPr/>
          <p:nvPr/>
        </p:nvSpPr>
        <p:spPr>
          <a:xfrm>
            <a:off x="457200" y="2724912"/>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Enterprise IT Infrastructure @ Phillips66</a:t>
            </a:r>
            <a:endParaRPr lang="en-US" sz="950" dirty="0"/>
          </a:p>
        </p:txBody>
      </p:sp>
      <p:sp>
        <p:nvSpPr>
          <p:cNvPr id="11" name="Text 8"/>
          <p:cNvSpPr/>
          <p:nvPr/>
        </p:nvSpPr>
        <p:spPr>
          <a:xfrm>
            <a:off x="457200" y="2962656"/>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SWE @ NETSYNC</a:t>
            </a:r>
            <a:endParaRPr lang="en-US" sz="950" dirty="0"/>
          </a:p>
        </p:txBody>
      </p:sp>
      <p:sp>
        <p:nvSpPr>
          <p:cNvPr id="12" name="Shape 9"/>
          <p:cNvSpPr/>
          <p:nvPr/>
        </p:nvSpPr>
        <p:spPr>
          <a:xfrm>
            <a:off x="3200400" y="822960"/>
            <a:ext cx="2560320" cy="2606040"/>
          </a:xfrm>
          <a:prstGeom prst="rect">
            <a:avLst/>
          </a:prstGeom>
          <a:solidFill>
            <a:srgbClr val="1A2235"/>
          </a:solidFill>
          <a:ln w="9525">
            <a:solidFill>
              <a:srgbClr val="232E45"/>
            </a:solidFill>
            <a:prstDash val="solid"/>
          </a:ln>
        </p:spPr>
      </p:sp>
      <p:sp>
        <p:nvSpPr>
          <p:cNvPr id="13" name="Shape 10"/>
          <p:cNvSpPr/>
          <p:nvPr/>
        </p:nvSpPr>
        <p:spPr>
          <a:xfrm>
            <a:off x="3200400" y="822960"/>
            <a:ext cx="2560320" cy="45720"/>
          </a:xfrm>
          <a:prstGeom prst="rect">
            <a:avLst/>
          </a:prstGeom>
          <a:solidFill>
            <a:srgbClr val="4B8EF8"/>
          </a:solidFill>
          <a:ln w="12700">
            <a:solidFill>
              <a:srgbClr val="4B8EF8"/>
            </a:solidFill>
            <a:prstDash val="solid"/>
          </a:ln>
        </p:spPr>
      </p:sp>
      <p:sp>
        <p:nvSpPr>
          <p:cNvPr id="14" name="Shape 11"/>
          <p:cNvSpPr/>
          <p:nvPr/>
        </p:nvSpPr>
        <p:spPr>
          <a:xfrm>
            <a:off x="4078224" y="1005840"/>
            <a:ext cx="804672" cy="804672"/>
          </a:xfrm>
          <a:prstGeom prst="ellipse">
            <a:avLst/>
          </a:prstGeom>
          <a:solidFill>
            <a:srgbClr val="0D3D3A"/>
          </a:solidFill>
          <a:ln w="19050">
            <a:solidFill>
              <a:srgbClr val="4B8EF8"/>
            </a:solidFill>
            <a:prstDash val="solid"/>
          </a:ln>
        </p:spPr>
      </p:sp>
      <p:sp>
        <p:nvSpPr>
          <p:cNvPr id="15" name="Text 12"/>
          <p:cNvSpPr/>
          <p:nvPr/>
        </p:nvSpPr>
        <p:spPr>
          <a:xfrm>
            <a:off x="4078224" y="1005840"/>
            <a:ext cx="804672" cy="804672"/>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a:t>
            </a:r>
            <a:endParaRPr lang="en-US" sz="2600" dirty="0"/>
          </a:p>
        </p:txBody>
      </p:sp>
      <p:sp>
        <p:nvSpPr>
          <p:cNvPr id="16" name="Text 13"/>
          <p:cNvSpPr/>
          <p:nvPr/>
        </p:nvSpPr>
        <p:spPr>
          <a:xfrm>
            <a:off x="3291840" y="1901952"/>
            <a:ext cx="23774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Sri Harsha Potta</a:t>
            </a:r>
            <a:endParaRPr lang="en-US" sz="1250" dirty="0"/>
          </a:p>
        </p:txBody>
      </p:sp>
      <p:sp>
        <p:nvSpPr>
          <p:cNvPr id="17" name="Text 14"/>
          <p:cNvSpPr/>
          <p:nvPr/>
        </p:nvSpPr>
        <p:spPr>
          <a:xfrm>
            <a:off x="3291840" y="2212848"/>
            <a:ext cx="2377440" cy="219456"/>
          </a:xfrm>
          <a:prstGeom prst="rect">
            <a:avLst/>
          </a:prstGeom>
          <a:noFill/>
          <a:ln/>
        </p:spPr>
        <p:txBody>
          <a:bodyPr wrap="square" lIns="0" tIns="0" rIns="0" bIns="0" rtlCol="0" anchor="ctr"/>
          <a:lstStyle/>
          <a:p>
            <a:pPr algn="ctr" indent="0" marL="0">
              <a:buNone/>
            </a:pPr>
            <a:r>
              <a:rPr lang="en-US" sz="950" b="1" dirty="0">
                <a:solidFill>
                  <a:srgbClr val="4B8EF8"/>
                </a:solidFill>
                <a:latin typeface="Calibri" pitchFamily="34" charset="0"/>
                <a:ea typeface="Calibri" pitchFamily="34" charset="-122"/>
                <a:cs typeface="Calibri" pitchFamily="34" charset="-120"/>
              </a:rPr>
              <a:t>CTO  ·  Co-Founder</a:t>
            </a:r>
            <a:endParaRPr lang="en-US" sz="950" dirty="0"/>
          </a:p>
        </p:txBody>
      </p:sp>
      <p:sp>
        <p:nvSpPr>
          <p:cNvPr id="18" name="Text 15"/>
          <p:cNvSpPr/>
          <p:nvPr/>
        </p:nvSpPr>
        <p:spPr>
          <a:xfrm>
            <a:off x="3291840" y="2487168"/>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Comp Sci @ UT Austin</a:t>
            </a:r>
            <a:endParaRPr lang="en-US" sz="950" dirty="0"/>
          </a:p>
        </p:txBody>
      </p:sp>
      <p:sp>
        <p:nvSpPr>
          <p:cNvPr id="19" name="Text 16"/>
          <p:cNvSpPr/>
          <p:nvPr/>
        </p:nvSpPr>
        <p:spPr>
          <a:xfrm>
            <a:off x="3291840" y="2724912"/>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Cloud Infrastructure @ HPE</a:t>
            </a:r>
            <a:endParaRPr lang="en-US" sz="950" dirty="0"/>
          </a:p>
        </p:txBody>
      </p:sp>
      <p:sp>
        <p:nvSpPr>
          <p:cNvPr id="20" name="Text 17"/>
          <p:cNvSpPr/>
          <p:nvPr/>
        </p:nvSpPr>
        <p:spPr>
          <a:xfrm>
            <a:off x="3291840" y="2962656"/>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SWE @ NETSYNC</a:t>
            </a:r>
            <a:endParaRPr lang="en-US" sz="950" dirty="0"/>
          </a:p>
        </p:txBody>
      </p:sp>
      <p:sp>
        <p:nvSpPr>
          <p:cNvPr id="21" name="Shape 18"/>
          <p:cNvSpPr/>
          <p:nvPr/>
        </p:nvSpPr>
        <p:spPr>
          <a:xfrm>
            <a:off x="6035040" y="822960"/>
            <a:ext cx="2560320" cy="2606040"/>
          </a:xfrm>
          <a:prstGeom prst="rect">
            <a:avLst/>
          </a:prstGeom>
          <a:solidFill>
            <a:srgbClr val="1A2235"/>
          </a:solidFill>
          <a:ln w="9525">
            <a:solidFill>
              <a:srgbClr val="232E45"/>
            </a:solidFill>
            <a:prstDash val="solid"/>
          </a:ln>
        </p:spPr>
      </p:sp>
      <p:sp>
        <p:nvSpPr>
          <p:cNvPr id="22" name="Shape 19"/>
          <p:cNvSpPr/>
          <p:nvPr/>
        </p:nvSpPr>
        <p:spPr>
          <a:xfrm>
            <a:off x="6035040" y="822960"/>
            <a:ext cx="2560320" cy="45720"/>
          </a:xfrm>
          <a:prstGeom prst="rect">
            <a:avLst/>
          </a:prstGeom>
          <a:solidFill>
            <a:srgbClr val="4B8EF8"/>
          </a:solidFill>
          <a:ln w="12700">
            <a:solidFill>
              <a:srgbClr val="4B8EF8"/>
            </a:solidFill>
            <a:prstDash val="solid"/>
          </a:ln>
        </p:spPr>
      </p:sp>
      <p:pic>
        <p:nvPicPr>
          <p:cNvPr id="23" name="Image 1" descr="/Users/jchambard/Documents/Projects/tutelum-pitch-deck/Amar.png">    </p:cNvPr>
          <p:cNvPicPr>
            <a:picLocks noChangeAspect="1"/>
          </p:cNvPicPr>
          <p:nvPr/>
        </p:nvPicPr>
        <p:blipFill>
          <a:blip r:embed="rId2"/>
          <a:stretch>
            <a:fillRect/>
          </a:stretch>
        </p:blipFill>
        <p:spPr>
          <a:xfrm>
            <a:off x="6912864" y="1005840"/>
            <a:ext cx="804672" cy="804672"/>
          </a:xfrm>
          <a:prstGeom prst="rect">
            <a:avLst/>
          </a:prstGeom>
        </p:spPr>
      </p:pic>
      <p:sp>
        <p:nvSpPr>
          <p:cNvPr id="24" name="Text 20"/>
          <p:cNvSpPr/>
          <p:nvPr/>
        </p:nvSpPr>
        <p:spPr>
          <a:xfrm>
            <a:off x="6126480" y="1901952"/>
            <a:ext cx="23774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Amar Nangia</a:t>
            </a:r>
            <a:endParaRPr lang="en-US" sz="1250" dirty="0"/>
          </a:p>
        </p:txBody>
      </p:sp>
      <p:sp>
        <p:nvSpPr>
          <p:cNvPr id="25" name="Text 21"/>
          <p:cNvSpPr/>
          <p:nvPr/>
        </p:nvSpPr>
        <p:spPr>
          <a:xfrm>
            <a:off x="6126480" y="2212848"/>
            <a:ext cx="2377440" cy="219456"/>
          </a:xfrm>
          <a:prstGeom prst="rect">
            <a:avLst/>
          </a:prstGeom>
          <a:noFill/>
          <a:ln/>
        </p:spPr>
        <p:txBody>
          <a:bodyPr wrap="square" lIns="0" tIns="0" rIns="0" bIns="0" rtlCol="0" anchor="ctr"/>
          <a:lstStyle/>
          <a:p>
            <a:pPr algn="ctr" indent="0" marL="0">
              <a:buNone/>
            </a:pPr>
            <a:r>
              <a:rPr lang="en-US" sz="950" b="1" dirty="0">
                <a:solidFill>
                  <a:srgbClr val="4B8EF8"/>
                </a:solidFill>
                <a:latin typeface="Calibri" pitchFamily="34" charset="0"/>
                <a:ea typeface="Calibri" pitchFamily="34" charset="-122"/>
                <a:cs typeface="Calibri" pitchFamily="34" charset="-120"/>
              </a:rPr>
              <a:t>CRO  ·  Co-Founder</a:t>
            </a:r>
            <a:endParaRPr lang="en-US" sz="950" dirty="0"/>
          </a:p>
        </p:txBody>
      </p:sp>
      <p:sp>
        <p:nvSpPr>
          <p:cNvPr id="26" name="Text 22"/>
          <p:cNvSpPr/>
          <p:nvPr/>
        </p:nvSpPr>
        <p:spPr>
          <a:xfrm>
            <a:off x="6126480" y="2487168"/>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Comp Sci @ Georgia Tech</a:t>
            </a:r>
            <a:endParaRPr lang="en-US" sz="950" dirty="0"/>
          </a:p>
        </p:txBody>
      </p:sp>
      <p:sp>
        <p:nvSpPr>
          <p:cNvPr id="27" name="Text 23"/>
          <p:cNvSpPr/>
          <p:nvPr/>
        </p:nvSpPr>
        <p:spPr>
          <a:xfrm>
            <a:off x="6126480" y="2724912"/>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Tools @ LinkedIn</a:t>
            </a:r>
            <a:endParaRPr lang="en-US" sz="950" dirty="0"/>
          </a:p>
        </p:txBody>
      </p:sp>
      <p:sp>
        <p:nvSpPr>
          <p:cNvPr id="28" name="Text 24"/>
          <p:cNvSpPr/>
          <p:nvPr/>
        </p:nvSpPr>
        <p:spPr>
          <a:xfrm>
            <a:off x="6126480" y="2962656"/>
            <a:ext cx="2377440" cy="219456"/>
          </a:xfrm>
          <a:prstGeom prst="rect">
            <a:avLst/>
          </a:prstGeom>
          <a:noFill/>
          <a:ln/>
        </p:spPr>
        <p:txBody>
          <a:bodyPr wrap="square" lIns="0" tIns="0" rIns="0" bIns="0" rtlCol="0" anchor="ctr"/>
          <a:lstStyle/>
          <a:p>
            <a:pPr algn="ctr" indent="0" marL="0">
              <a:buNone/>
            </a:pPr>
            <a:r>
              <a:rPr lang="en-US" sz="950" dirty="0">
                <a:solidFill>
                  <a:srgbClr val="8A9BBE"/>
                </a:solidFill>
                <a:latin typeface="Calibri" pitchFamily="34" charset="0"/>
                <a:ea typeface="Calibri" pitchFamily="34" charset="-122"/>
                <a:cs typeface="Calibri" pitchFamily="34" charset="-120"/>
              </a:rPr>
              <a:t>SWE @ NETSYNC</a:t>
            </a:r>
            <a:endParaRPr lang="en-US" sz="950" dirty="0"/>
          </a:p>
        </p:txBody>
      </p:sp>
      <p:sp>
        <p:nvSpPr>
          <p:cNvPr id="29" name="Shape 25"/>
          <p:cNvSpPr/>
          <p:nvPr/>
        </p:nvSpPr>
        <p:spPr>
          <a:xfrm>
            <a:off x="365760" y="3566160"/>
            <a:ext cx="8412480" cy="1005840"/>
          </a:xfrm>
          <a:prstGeom prst="rect">
            <a:avLst/>
          </a:prstGeom>
          <a:solidFill>
            <a:srgbClr val="0A0F1A"/>
          </a:solidFill>
          <a:ln w="9525">
            <a:solidFill>
              <a:srgbClr val="1E3050"/>
            </a:solidFill>
            <a:prstDash val="solid"/>
          </a:ln>
        </p:spPr>
      </p:sp>
      <p:sp>
        <p:nvSpPr>
          <p:cNvPr id="30" name="Text 26"/>
          <p:cNvSpPr/>
          <p:nvPr/>
        </p:nvSpPr>
        <p:spPr>
          <a:xfrm>
            <a:off x="594360" y="3611880"/>
            <a:ext cx="7955280" cy="914400"/>
          </a:xfrm>
          <a:prstGeom prst="rect">
            <a:avLst/>
          </a:prstGeom>
          <a:noFill/>
          <a:ln/>
        </p:spPr>
        <p:txBody>
          <a:bodyPr wrap="square" lIns="0" tIns="0" rIns="0" bIns="0" rtlCol="0" anchor="ctr"/>
          <a:lstStyle/>
          <a:p>
            <a:pPr indent="0" marL="0">
              <a:buNone/>
            </a:pPr>
            <a:r>
              <a:rPr lang="en-US" sz="1150" dirty="0">
                <a:solidFill>
                  <a:srgbClr val="8A9BBE"/>
                </a:solidFill>
                <a:latin typeface="Calibri" pitchFamily="34" charset="0"/>
                <a:ea typeface="Calibri" pitchFamily="34" charset="-122"/>
                <a:cs typeface="Calibri" pitchFamily="34" charset="-120"/>
              </a:rPr>
              <a:t>John, Sri, and Amar met freshman year of high school and have been building together for over six years, competing on the same hackathon and UIL competitive programming teams, shipping a school app that reached thousands of users, and interning together at NETSYNC. They started Tutelum after working on agent systems and seeing firsthand how easy it was to give agents powerful API access with almost no financial safeguards.</a:t>
            </a:r>
            <a:endParaRPr lang="en-US" sz="1150" dirty="0"/>
          </a:p>
        </p:txBody>
      </p:sp>
      <p:sp>
        <p:nvSpPr>
          <p:cNvPr id="31" name="Text 27"/>
          <p:cNvSpPr/>
          <p:nvPr/>
        </p:nvSpPr>
        <p:spPr>
          <a:xfrm>
            <a:off x="457200" y="4690872"/>
            <a:ext cx="8412480" cy="320040"/>
          </a:xfrm>
          <a:prstGeom prst="rect">
            <a:avLst/>
          </a:prstGeom>
          <a:noFill/>
          <a:ln/>
        </p:spPr>
        <p:txBody>
          <a:bodyPr wrap="square" lIns="0" tIns="0" rIns="0" bIns="0" rtlCol="0" anchor="ctr"/>
          <a:lstStyle/>
          <a:p>
            <a:pPr indent="0" marL="0">
              <a:buNone/>
            </a:pPr>
            <a:r>
              <a:rPr lang="en-US" sz="950" b="1" dirty="0">
                <a:solidFill>
                  <a:srgbClr val="4B8EF8"/>
                </a:solidFill>
                <a:latin typeface="Calibri" pitchFamily="34" charset="0"/>
                <a:ea typeface="Calibri" pitchFamily="34" charset="-122"/>
                <a:cs typeface="Calibri" pitchFamily="34" charset="-120"/>
              </a:rPr>
              <a:t>Advisors: </a:t>
            </a:r>
            <a:pPr indent="0" marL="0">
              <a:buNone/>
            </a:pPr>
            <a:r>
              <a:rPr lang="en-US" sz="950" dirty="0">
                <a:solidFill>
                  <a:srgbClr val="3D4E66"/>
                </a:solidFill>
                <a:latin typeface="Calibri" pitchFamily="34" charset="0"/>
                <a:ea typeface="Calibri" pitchFamily="34" charset="-122"/>
                <a:cs typeface="Calibri" pitchFamily="34" charset="-120"/>
              </a:rPr>
              <a:t>Seeking 1–2 advisors with enterprise security / fintech AI experience  ·  Introductions welcome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a:ln/>
        </p:spPr>
        <p:txBody>
          <a:bodyPr wrap="square" rtlCol="0" anchor="ctr"/>
          <a:lstStyle/>
          <a:p>
            <a:pPr algn="ctr" indent="0" marL="0">
              <a:buNone/>
            </a:pPr>
            <a:r>
              <a:rPr lang="en-US" sz="4800" b="1" dirty="0">
                <a:solidFill>
                  <a:srgbClr val="4B8EF8"/>
                </a:solidFill>
                <a:latin typeface="Calibri" pitchFamily="34" charset="0"/>
                <a:ea typeface="Calibri" pitchFamily="34" charset="-122"/>
                <a:cs typeface="Calibri" pitchFamily="34" charset="-120"/>
              </a:rPr>
              <a:t>$150K – $500K</a:t>
            </a:r>
            <a:endParaRPr lang="en-US" sz="4800" dirty="0"/>
          </a:p>
        </p:txBody>
      </p:sp>
      <p:sp>
        <p:nvSpPr>
          <p:cNvPr id="3" name="Text 1"/>
          <p:cNvSpPr/>
          <p:nvPr/>
        </p:nvSpPr>
        <p:spPr>
          <a:xfrm>
            <a:off x="457200" y="786384"/>
            <a:ext cx="8229600"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Pre-Seed  ·  Accelerator Round  ·  SAFE</a:t>
            </a:r>
            <a:endParaRPr lang="en-US" sz="1400" dirty="0"/>
          </a:p>
        </p:txBody>
      </p:sp>
      <p:sp>
        <p:nvSpPr>
          <p:cNvPr id="4" name="Text 2"/>
          <p:cNvSpPr/>
          <p:nvPr/>
        </p:nvSpPr>
        <p:spPr>
          <a:xfrm>
            <a:off x="457200" y="1078992"/>
            <a:ext cx="8229600" cy="237744"/>
          </a:xfrm>
          <a:prstGeom prst="rect">
            <a:avLst/>
          </a:prstGeom>
          <a:noFill/>
          <a:ln/>
        </p:spPr>
        <p:txBody>
          <a:bodyPr wrap="square" rtlCol="0" anchor="ctr"/>
          <a:lstStyle/>
          <a:p>
            <a:pPr algn="ctr" indent="0" marL="0">
              <a:buNone/>
            </a:pPr>
            <a:r>
              <a:rPr lang="en-US" sz="1050" dirty="0">
                <a:solidFill>
                  <a:srgbClr val="8A9BBE"/>
                </a:solidFill>
                <a:latin typeface="Calibri" pitchFamily="34" charset="0"/>
                <a:ea typeface="Calibri" pitchFamily="34" charset="-122"/>
                <a:cs typeface="Calibri" pitchFamily="34" charset="-120"/>
              </a:rPr>
              <a:t>12–18 months of runway  ·  Path to first enterprise contracts  ·  EU AI Act compliance launch</a:t>
            </a:r>
            <a:endParaRPr lang="en-US" sz="1050" dirty="0"/>
          </a:p>
        </p:txBody>
      </p:sp>
      <p:sp>
        <p:nvSpPr>
          <p:cNvPr id="5" name="Shape 3"/>
          <p:cNvSpPr/>
          <p:nvPr/>
        </p:nvSpPr>
        <p:spPr>
          <a:xfrm>
            <a:off x="365760" y="1389888"/>
            <a:ext cx="2697480" cy="1097280"/>
          </a:xfrm>
          <a:prstGeom prst="rect">
            <a:avLst/>
          </a:prstGeom>
          <a:solidFill>
            <a:srgbClr val="0D1628"/>
          </a:solidFill>
          <a:ln w="9525">
            <a:solidFill>
              <a:srgbClr val="2D5BB8"/>
            </a:solidFill>
            <a:prstDash val="solid"/>
          </a:ln>
        </p:spPr>
      </p:sp>
      <p:sp>
        <p:nvSpPr>
          <p:cNvPr id="6" name="Shape 4"/>
          <p:cNvSpPr/>
          <p:nvPr/>
        </p:nvSpPr>
        <p:spPr>
          <a:xfrm>
            <a:off x="365760" y="1389888"/>
            <a:ext cx="2697480" cy="45720"/>
          </a:xfrm>
          <a:prstGeom prst="rect">
            <a:avLst/>
          </a:prstGeom>
          <a:solidFill>
            <a:srgbClr val="4B8EF8"/>
          </a:solidFill>
          <a:ln w="12700">
            <a:solidFill>
              <a:srgbClr val="4B8EF8"/>
            </a:solidFill>
            <a:prstDash val="solid"/>
          </a:ln>
        </p:spPr>
      </p:sp>
      <p:sp>
        <p:nvSpPr>
          <p:cNvPr id="7" name="Text 5"/>
          <p:cNvSpPr/>
          <p:nvPr/>
        </p:nvSpPr>
        <p:spPr>
          <a:xfrm>
            <a:off x="502920" y="1517904"/>
            <a:ext cx="24231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Capital</a:t>
            </a:r>
            <a:endParaRPr lang="en-US" sz="1200" dirty="0"/>
          </a:p>
        </p:txBody>
      </p:sp>
      <p:sp>
        <p:nvSpPr>
          <p:cNvPr id="8" name="Text 6"/>
          <p:cNvSpPr/>
          <p:nvPr/>
        </p:nvSpPr>
        <p:spPr>
          <a:xfrm>
            <a:off x="502920" y="1828800"/>
            <a:ext cx="2423160" cy="603504"/>
          </a:xfrm>
          <a:prstGeom prst="rect">
            <a:avLst/>
          </a:prstGeom>
          <a:noFill/>
          <a:ln/>
        </p:spPr>
        <p:txBody>
          <a:bodyPr wrap="square" lIns="0" tIns="0" rIns="0" bIns="0" rtlCol="0" anchor="ctr"/>
          <a:lstStyle/>
          <a:p>
            <a:pPr indent="0" marL="0">
              <a:buNone/>
            </a:pPr>
            <a:r>
              <a:rPr lang="en-US" sz="950" dirty="0">
                <a:solidFill>
                  <a:srgbClr val="8A9BBE"/>
                </a:solidFill>
                <a:latin typeface="Calibri" pitchFamily="34" charset="0"/>
                <a:ea typeface="Calibri" pitchFamily="34" charset="-122"/>
                <a:cs typeface="Calibri" pitchFamily="34" charset="-120"/>
              </a:rPr>
              <a:t>Pre-seed SAFE to fund 12–18 months of engineering, early sales, and SOC 2 certification</a:t>
            </a:r>
            <a:endParaRPr lang="en-US" sz="950" dirty="0"/>
          </a:p>
        </p:txBody>
      </p:sp>
      <p:sp>
        <p:nvSpPr>
          <p:cNvPr id="9" name="Shape 7"/>
          <p:cNvSpPr/>
          <p:nvPr/>
        </p:nvSpPr>
        <p:spPr>
          <a:xfrm>
            <a:off x="3291840" y="1389888"/>
            <a:ext cx="2697480" cy="1097280"/>
          </a:xfrm>
          <a:prstGeom prst="rect">
            <a:avLst/>
          </a:prstGeom>
          <a:solidFill>
            <a:srgbClr val="0D1628"/>
          </a:solidFill>
          <a:ln w="9525">
            <a:solidFill>
              <a:srgbClr val="2D5BB8"/>
            </a:solidFill>
            <a:prstDash val="solid"/>
          </a:ln>
        </p:spPr>
      </p:sp>
      <p:sp>
        <p:nvSpPr>
          <p:cNvPr id="10" name="Shape 8"/>
          <p:cNvSpPr/>
          <p:nvPr/>
        </p:nvSpPr>
        <p:spPr>
          <a:xfrm>
            <a:off x="3291840" y="1389888"/>
            <a:ext cx="2697480" cy="45720"/>
          </a:xfrm>
          <a:prstGeom prst="rect">
            <a:avLst/>
          </a:prstGeom>
          <a:solidFill>
            <a:srgbClr val="2DD4BF"/>
          </a:solidFill>
          <a:ln w="12700">
            <a:solidFill>
              <a:srgbClr val="2DD4BF"/>
            </a:solidFill>
            <a:prstDash val="solid"/>
          </a:ln>
        </p:spPr>
      </p:sp>
      <p:sp>
        <p:nvSpPr>
          <p:cNvPr id="11" name="Text 9"/>
          <p:cNvSpPr/>
          <p:nvPr/>
        </p:nvSpPr>
        <p:spPr>
          <a:xfrm>
            <a:off x="3429000" y="1517904"/>
            <a:ext cx="24231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Mentorship &amp; Network</a:t>
            </a:r>
            <a:endParaRPr lang="en-US" sz="1200" dirty="0"/>
          </a:p>
        </p:txBody>
      </p:sp>
      <p:sp>
        <p:nvSpPr>
          <p:cNvPr id="12" name="Text 10"/>
          <p:cNvSpPr/>
          <p:nvPr/>
        </p:nvSpPr>
        <p:spPr>
          <a:xfrm>
            <a:off x="3429000" y="1828800"/>
            <a:ext cx="2423160" cy="603504"/>
          </a:xfrm>
          <a:prstGeom prst="rect">
            <a:avLst/>
          </a:prstGeom>
          <a:noFill/>
          <a:ln/>
        </p:spPr>
        <p:txBody>
          <a:bodyPr wrap="square" lIns="0" tIns="0" rIns="0" bIns="0" rtlCol="0" anchor="ctr"/>
          <a:lstStyle/>
          <a:p>
            <a:pPr indent="0" marL="0">
              <a:buNone/>
            </a:pPr>
            <a:r>
              <a:rPr lang="en-US" sz="950" dirty="0">
                <a:solidFill>
                  <a:srgbClr val="8A9BBE"/>
                </a:solidFill>
                <a:latin typeface="Calibri" pitchFamily="34" charset="0"/>
                <a:ea typeface="Calibri" pitchFamily="34" charset="-122"/>
                <a:cs typeface="Calibri" pitchFamily="34" charset="-120"/>
              </a:rPr>
              <a:t>Intros to enterprise CISO / VP Eng prospects · EU regulatory advisors · dev community</a:t>
            </a:r>
            <a:endParaRPr lang="en-US" sz="950" dirty="0"/>
          </a:p>
        </p:txBody>
      </p:sp>
      <p:sp>
        <p:nvSpPr>
          <p:cNvPr id="13" name="Shape 11"/>
          <p:cNvSpPr/>
          <p:nvPr/>
        </p:nvSpPr>
        <p:spPr>
          <a:xfrm>
            <a:off x="6217920" y="1389888"/>
            <a:ext cx="2697480" cy="1097280"/>
          </a:xfrm>
          <a:prstGeom prst="rect">
            <a:avLst/>
          </a:prstGeom>
          <a:solidFill>
            <a:srgbClr val="0D1628"/>
          </a:solidFill>
          <a:ln w="9525">
            <a:solidFill>
              <a:srgbClr val="2D5BB8"/>
            </a:solidFill>
            <a:prstDash val="solid"/>
          </a:ln>
        </p:spPr>
      </p:sp>
      <p:sp>
        <p:nvSpPr>
          <p:cNvPr id="14" name="Shape 12"/>
          <p:cNvSpPr/>
          <p:nvPr/>
        </p:nvSpPr>
        <p:spPr>
          <a:xfrm>
            <a:off x="6217920" y="1389888"/>
            <a:ext cx="2697480" cy="45720"/>
          </a:xfrm>
          <a:prstGeom prst="rect">
            <a:avLst/>
          </a:prstGeom>
          <a:solidFill>
            <a:srgbClr val="F59E0B"/>
          </a:solidFill>
          <a:ln w="12700">
            <a:solidFill>
              <a:srgbClr val="F59E0B"/>
            </a:solidFill>
            <a:prstDash val="solid"/>
          </a:ln>
        </p:spPr>
      </p:sp>
      <p:sp>
        <p:nvSpPr>
          <p:cNvPr id="15" name="Text 13"/>
          <p:cNvSpPr/>
          <p:nvPr/>
        </p:nvSpPr>
        <p:spPr>
          <a:xfrm>
            <a:off x="6355080" y="1517904"/>
            <a:ext cx="24231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Accelerator Value</a:t>
            </a:r>
            <a:endParaRPr lang="en-US" sz="1200" dirty="0"/>
          </a:p>
        </p:txBody>
      </p:sp>
      <p:sp>
        <p:nvSpPr>
          <p:cNvPr id="16" name="Text 14"/>
          <p:cNvSpPr/>
          <p:nvPr/>
        </p:nvSpPr>
        <p:spPr>
          <a:xfrm>
            <a:off x="6355080" y="1828800"/>
            <a:ext cx="2423160" cy="603504"/>
          </a:xfrm>
          <a:prstGeom prst="rect">
            <a:avLst/>
          </a:prstGeom>
          <a:noFill/>
          <a:ln/>
        </p:spPr>
        <p:txBody>
          <a:bodyPr wrap="square" lIns="0" tIns="0" rIns="0" bIns="0" rtlCol="0" anchor="ctr"/>
          <a:lstStyle/>
          <a:p>
            <a:pPr indent="0" marL="0">
              <a:buNone/>
            </a:pPr>
            <a:r>
              <a:rPr lang="en-US" sz="950" dirty="0">
                <a:solidFill>
                  <a:srgbClr val="8A9BBE"/>
                </a:solidFill>
                <a:latin typeface="Calibri" pitchFamily="34" charset="0"/>
                <a:ea typeface="Calibri" pitchFamily="34" charset="-122"/>
                <a:cs typeface="Calibri" pitchFamily="34" charset="-120"/>
              </a:rPr>
              <a:t>Portfolio companies as early customers · enterprise sales credibility · co-investor intros</a:t>
            </a:r>
            <a:endParaRPr lang="en-US" sz="950" dirty="0"/>
          </a:p>
        </p:txBody>
      </p:sp>
      <p:sp>
        <p:nvSpPr>
          <p:cNvPr id="17" name="Shape 15"/>
          <p:cNvSpPr/>
          <p:nvPr/>
        </p:nvSpPr>
        <p:spPr>
          <a:xfrm>
            <a:off x="914400" y="3273552"/>
            <a:ext cx="6400800" cy="36576"/>
          </a:xfrm>
          <a:prstGeom prst="rect">
            <a:avLst/>
          </a:prstGeom>
          <a:solidFill>
            <a:srgbClr val="2D5BB8"/>
          </a:solidFill>
          <a:ln w="12700">
            <a:solidFill>
              <a:srgbClr val="2D5BB8"/>
            </a:solidFill>
            <a:prstDash val="solid"/>
          </a:ln>
        </p:spPr>
      </p:sp>
      <p:sp>
        <p:nvSpPr>
          <p:cNvPr id="18" name="Shape 16"/>
          <p:cNvSpPr/>
          <p:nvPr/>
        </p:nvSpPr>
        <p:spPr>
          <a:xfrm>
            <a:off x="1709928" y="3191256"/>
            <a:ext cx="201168" cy="201168"/>
          </a:xfrm>
          <a:prstGeom prst="ellipse">
            <a:avLst/>
          </a:prstGeom>
          <a:solidFill>
            <a:srgbClr val="4B8EF8"/>
          </a:solidFill>
          <a:ln w="19050">
            <a:solidFill>
              <a:srgbClr val="4B8EF8"/>
            </a:solidFill>
            <a:prstDash val="solid"/>
          </a:ln>
        </p:spPr>
      </p:sp>
      <p:sp>
        <p:nvSpPr>
          <p:cNvPr id="19" name="Text 17"/>
          <p:cNvSpPr/>
          <p:nvPr/>
        </p:nvSpPr>
        <p:spPr>
          <a:xfrm>
            <a:off x="914400" y="2651760"/>
            <a:ext cx="1828800" cy="219456"/>
          </a:xfrm>
          <a:prstGeom prst="rect">
            <a:avLst/>
          </a:prstGeom>
          <a:noFill/>
          <a:ln/>
        </p:spPr>
        <p:txBody>
          <a:bodyPr wrap="square" lIns="0" tIns="0" rIns="0" bIns="0" rtlCol="0" anchor="ctr"/>
          <a:lstStyle/>
          <a:p>
            <a:pPr algn="ctr" indent="0" marL="0">
              <a:buNone/>
            </a:pPr>
            <a:r>
              <a:rPr lang="en-US" sz="850" b="1" spc="200" kern="0" dirty="0">
                <a:solidFill>
                  <a:srgbClr val="8A9BBE"/>
                </a:solidFill>
                <a:latin typeface="Calibri" pitchFamily="34" charset="0"/>
                <a:ea typeface="Calibri" pitchFamily="34" charset="-122"/>
                <a:cs typeface="Calibri" pitchFamily="34" charset="-120"/>
              </a:rPr>
              <a:t>NOW</a:t>
            </a:r>
            <a:endParaRPr lang="en-US" sz="850" dirty="0"/>
          </a:p>
        </p:txBody>
      </p:sp>
      <p:sp>
        <p:nvSpPr>
          <p:cNvPr id="20" name="Text 18"/>
          <p:cNvSpPr/>
          <p:nvPr/>
        </p:nvSpPr>
        <p:spPr>
          <a:xfrm>
            <a:off x="914400" y="2889504"/>
            <a:ext cx="1828800" cy="310896"/>
          </a:xfrm>
          <a:prstGeom prst="rect">
            <a:avLst/>
          </a:prstGeom>
          <a:noFill/>
          <a:ln/>
        </p:spPr>
        <p:txBody>
          <a:bodyPr wrap="square" lIns="0" tIns="0" rIns="0" bIns="0" rtlCol="0" anchor="ctr"/>
          <a:lstStyle/>
          <a:p>
            <a:pPr algn="ctr" indent="0" marL="0">
              <a:buNone/>
            </a:pPr>
            <a:r>
              <a:rPr lang="en-US" sz="1800" b="1" dirty="0">
                <a:solidFill>
                  <a:srgbClr val="8A9BBE"/>
                </a:solidFill>
                <a:latin typeface="Calibri" pitchFamily="34" charset="0"/>
                <a:ea typeface="Calibri" pitchFamily="34" charset="-122"/>
                <a:cs typeface="Calibri" pitchFamily="34" charset="-120"/>
              </a:rPr>
              <a:t>$0</a:t>
            </a:r>
            <a:endParaRPr lang="en-US" sz="1800" dirty="0"/>
          </a:p>
        </p:txBody>
      </p:sp>
      <p:sp>
        <p:nvSpPr>
          <p:cNvPr id="21" name="Text 19"/>
          <p:cNvSpPr/>
          <p:nvPr/>
        </p:nvSpPr>
        <p:spPr>
          <a:xfrm>
            <a:off x="914400" y="3456432"/>
            <a:ext cx="1828800" cy="475488"/>
          </a:xfrm>
          <a:prstGeom prst="rect">
            <a:avLst/>
          </a:prstGeom>
          <a:noFill/>
          <a:ln/>
        </p:spPr>
        <p:txBody>
          <a:bodyPr wrap="square" lIns="0" tIns="0" rIns="0" bIns="0" rtlCol="0" anchor="ctr"/>
          <a:lstStyle/>
          <a:p>
            <a:pPr algn="ctr" indent="0" marL="0">
              <a:buNone/>
            </a:pPr>
            <a:r>
              <a:rPr lang="en-US" sz="850" dirty="0">
                <a:solidFill>
                  <a:srgbClr val="8A9BBE"/>
                </a:solidFill>
                <a:latin typeface="Calibri" pitchFamily="34" charset="0"/>
                <a:ea typeface="Calibri" pitchFamily="34" charset="-122"/>
                <a:cs typeface="Calibri" pitchFamily="34" charset="-120"/>
              </a:rPr>
              <a:t>Accelerator raise</a:t>
            </a:r>
            <a:endParaRPr lang="en-US" sz="850" dirty="0"/>
          </a:p>
          <a:p>
            <a:pPr algn="ctr" indent="0" marL="0">
              <a:buNone/>
            </a:pPr>
            <a:r>
              <a:rPr lang="en-US" sz="850" dirty="0">
                <a:solidFill>
                  <a:srgbClr val="8A9BBE"/>
                </a:solidFill>
                <a:latin typeface="Calibri" pitchFamily="34" charset="0"/>
                <a:ea typeface="Calibri" pitchFamily="34" charset="-122"/>
                <a:cs typeface="Calibri" pitchFamily="34" charset="-120"/>
              </a:rPr>
              <a:t>Product live · seeking pilots</a:t>
            </a:r>
            <a:endParaRPr lang="en-US" sz="850" dirty="0"/>
          </a:p>
        </p:txBody>
      </p:sp>
      <p:sp>
        <p:nvSpPr>
          <p:cNvPr id="22" name="Shape 20"/>
          <p:cNvSpPr/>
          <p:nvPr/>
        </p:nvSpPr>
        <p:spPr>
          <a:xfrm>
            <a:off x="3813048" y="3191256"/>
            <a:ext cx="201168" cy="201168"/>
          </a:xfrm>
          <a:prstGeom prst="ellipse">
            <a:avLst/>
          </a:prstGeom>
          <a:solidFill>
            <a:srgbClr val="000000"/>
          </a:solidFill>
          <a:ln w="19050">
            <a:solidFill>
              <a:srgbClr val="4B8EF8"/>
            </a:solidFill>
            <a:prstDash val="solid"/>
          </a:ln>
        </p:spPr>
      </p:sp>
      <p:sp>
        <p:nvSpPr>
          <p:cNvPr id="23" name="Text 21"/>
          <p:cNvSpPr/>
          <p:nvPr/>
        </p:nvSpPr>
        <p:spPr>
          <a:xfrm>
            <a:off x="3017520" y="2651760"/>
            <a:ext cx="1828800" cy="219456"/>
          </a:xfrm>
          <a:prstGeom prst="rect">
            <a:avLst/>
          </a:prstGeom>
          <a:noFill/>
          <a:ln/>
        </p:spPr>
        <p:txBody>
          <a:bodyPr wrap="square" lIns="0" tIns="0" rIns="0" bIns="0" rtlCol="0" anchor="ctr"/>
          <a:lstStyle/>
          <a:p>
            <a:pPr algn="ctr" indent="0" marL="0">
              <a:buNone/>
            </a:pPr>
            <a:r>
              <a:rPr lang="en-US" sz="850" b="1" spc="200" kern="0" dirty="0">
                <a:solidFill>
                  <a:srgbClr val="8A9BBE"/>
                </a:solidFill>
                <a:latin typeface="Calibri" pitchFamily="34" charset="0"/>
                <a:ea typeface="Calibri" pitchFamily="34" charset="-122"/>
                <a:cs typeface="Calibri" pitchFamily="34" charset="-120"/>
              </a:rPr>
              <a:t>YEAR 1</a:t>
            </a:r>
            <a:endParaRPr lang="en-US" sz="850" dirty="0"/>
          </a:p>
        </p:txBody>
      </p:sp>
      <p:sp>
        <p:nvSpPr>
          <p:cNvPr id="24" name="Text 22"/>
          <p:cNvSpPr/>
          <p:nvPr/>
        </p:nvSpPr>
        <p:spPr>
          <a:xfrm>
            <a:off x="3017520" y="2889504"/>
            <a:ext cx="1828800" cy="310896"/>
          </a:xfrm>
          <a:prstGeom prst="rect">
            <a:avLst/>
          </a:prstGeom>
          <a:noFill/>
          <a:ln/>
        </p:spPr>
        <p:txBody>
          <a:bodyPr wrap="square" lIns="0" tIns="0" rIns="0" bIns="0" rtlCol="0" anchor="ctr"/>
          <a:lstStyle/>
          <a:p>
            <a:pPr algn="ctr" indent="0" marL="0">
              <a:buNone/>
            </a:pPr>
            <a:r>
              <a:rPr lang="en-US" sz="1800" b="1" dirty="0">
                <a:solidFill>
                  <a:srgbClr val="4B8EF8"/>
                </a:solidFill>
                <a:latin typeface="Calibri" pitchFamily="34" charset="0"/>
                <a:ea typeface="Calibri" pitchFamily="34" charset="-122"/>
                <a:cs typeface="Calibri" pitchFamily="34" charset="-120"/>
              </a:rPr>
              <a:t>$800K</a:t>
            </a:r>
            <a:endParaRPr lang="en-US" sz="1800" dirty="0"/>
          </a:p>
        </p:txBody>
      </p:sp>
      <p:sp>
        <p:nvSpPr>
          <p:cNvPr id="25" name="Text 23"/>
          <p:cNvSpPr/>
          <p:nvPr/>
        </p:nvSpPr>
        <p:spPr>
          <a:xfrm>
            <a:off x="3017520" y="3456432"/>
            <a:ext cx="1828800" cy="475488"/>
          </a:xfrm>
          <a:prstGeom prst="rect">
            <a:avLst/>
          </a:prstGeom>
          <a:noFill/>
          <a:ln/>
        </p:spPr>
        <p:txBody>
          <a:bodyPr wrap="square" lIns="0" tIns="0" rIns="0" bIns="0" rtlCol="0" anchor="ctr"/>
          <a:lstStyle/>
          <a:p>
            <a:pPr algn="ctr" indent="0" marL="0">
              <a:buNone/>
            </a:pPr>
            <a:r>
              <a:rPr lang="en-US" sz="850" dirty="0">
                <a:solidFill>
                  <a:srgbClr val="8A9BBE"/>
                </a:solidFill>
                <a:latin typeface="Calibri" pitchFamily="34" charset="0"/>
                <a:ea typeface="Calibri" pitchFamily="34" charset="-122"/>
                <a:cs typeface="Calibri" pitchFamily="34" charset="-120"/>
              </a:rPr>
              <a:t>40 enterprise accounts</a:t>
            </a:r>
            <a:endParaRPr lang="en-US" sz="850" dirty="0"/>
          </a:p>
          <a:p>
            <a:pPr algn="ctr" indent="0" marL="0">
              <a:buNone/>
            </a:pPr>
            <a:r>
              <a:rPr lang="en-US" sz="850" dirty="0">
                <a:solidFill>
                  <a:srgbClr val="8A9BBE"/>
                </a:solidFill>
                <a:latin typeface="Calibri" pitchFamily="34" charset="0"/>
                <a:ea typeface="Calibri" pitchFamily="34" charset="-122"/>
                <a:cs typeface="Calibri" pitchFamily="34" charset="-120"/>
              </a:rPr>
              <a:t>3,000+ agents governed</a:t>
            </a:r>
            <a:endParaRPr lang="en-US" sz="850" dirty="0"/>
          </a:p>
        </p:txBody>
      </p:sp>
      <p:sp>
        <p:nvSpPr>
          <p:cNvPr id="26" name="Shape 24"/>
          <p:cNvSpPr/>
          <p:nvPr/>
        </p:nvSpPr>
        <p:spPr>
          <a:xfrm>
            <a:off x="5916168" y="3191256"/>
            <a:ext cx="201168" cy="201168"/>
          </a:xfrm>
          <a:prstGeom prst="ellipse">
            <a:avLst/>
          </a:prstGeom>
          <a:solidFill>
            <a:srgbClr val="000000"/>
          </a:solidFill>
          <a:ln w="19050">
            <a:solidFill>
              <a:srgbClr val="4B8EF8"/>
            </a:solidFill>
            <a:prstDash val="solid"/>
          </a:ln>
        </p:spPr>
      </p:sp>
      <p:sp>
        <p:nvSpPr>
          <p:cNvPr id="27" name="Text 25"/>
          <p:cNvSpPr/>
          <p:nvPr/>
        </p:nvSpPr>
        <p:spPr>
          <a:xfrm>
            <a:off x="5120640" y="2651760"/>
            <a:ext cx="1828800" cy="219456"/>
          </a:xfrm>
          <a:prstGeom prst="rect">
            <a:avLst/>
          </a:prstGeom>
          <a:noFill/>
          <a:ln/>
        </p:spPr>
        <p:txBody>
          <a:bodyPr wrap="square" lIns="0" tIns="0" rIns="0" bIns="0" rtlCol="0" anchor="ctr"/>
          <a:lstStyle/>
          <a:p>
            <a:pPr algn="ctr" indent="0" marL="0">
              <a:buNone/>
            </a:pPr>
            <a:r>
              <a:rPr lang="en-US" sz="850" b="1" spc="200" kern="0" dirty="0">
                <a:solidFill>
                  <a:srgbClr val="8A9BBE"/>
                </a:solidFill>
                <a:latin typeface="Calibri" pitchFamily="34" charset="0"/>
                <a:ea typeface="Calibri" pitchFamily="34" charset="-122"/>
                <a:cs typeface="Calibri" pitchFamily="34" charset="-120"/>
              </a:rPr>
              <a:t>YEAR 2</a:t>
            </a:r>
            <a:endParaRPr lang="en-US" sz="850" dirty="0"/>
          </a:p>
        </p:txBody>
      </p:sp>
      <p:sp>
        <p:nvSpPr>
          <p:cNvPr id="28" name="Text 26"/>
          <p:cNvSpPr/>
          <p:nvPr/>
        </p:nvSpPr>
        <p:spPr>
          <a:xfrm>
            <a:off x="5120640" y="2889504"/>
            <a:ext cx="1828800" cy="310896"/>
          </a:xfrm>
          <a:prstGeom prst="rect">
            <a:avLst/>
          </a:prstGeom>
          <a:noFill/>
          <a:ln/>
        </p:spPr>
        <p:txBody>
          <a:bodyPr wrap="square" lIns="0" tIns="0" rIns="0" bIns="0" rtlCol="0" anchor="ctr"/>
          <a:lstStyle/>
          <a:p>
            <a:pPr algn="ctr" indent="0" marL="0">
              <a:buNone/>
            </a:pPr>
            <a:r>
              <a:rPr lang="en-US" sz="1800" b="1" dirty="0">
                <a:solidFill>
                  <a:srgbClr val="4B8EF8"/>
                </a:solidFill>
                <a:latin typeface="Calibri" pitchFamily="34" charset="0"/>
                <a:ea typeface="Calibri" pitchFamily="34" charset="-122"/>
                <a:cs typeface="Calibri" pitchFamily="34" charset="-120"/>
              </a:rPr>
              <a:t>$3.5M</a:t>
            </a:r>
            <a:endParaRPr lang="en-US" sz="1800" dirty="0"/>
          </a:p>
        </p:txBody>
      </p:sp>
      <p:sp>
        <p:nvSpPr>
          <p:cNvPr id="29" name="Text 27"/>
          <p:cNvSpPr/>
          <p:nvPr/>
        </p:nvSpPr>
        <p:spPr>
          <a:xfrm>
            <a:off x="5120640" y="3456432"/>
            <a:ext cx="1828800" cy="475488"/>
          </a:xfrm>
          <a:prstGeom prst="rect">
            <a:avLst/>
          </a:prstGeom>
          <a:noFill/>
          <a:ln/>
        </p:spPr>
        <p:txBody>
          <a:bodyPr wrap="square" lIns="0" tIns="0" rIns="0" bIns="0" rtlCol="0" anchor="ctr"/>
          <a:lstStyle/>
          <a:p>
            <a:pPr algn="ctr" indent="0" marL="0">
              <a:buNone/>
            </a:pPr>
            <a:r>
              <a:rPr lang="en-US" sz="850" dirty="0">
                <a:solidFill>
                  <a:srgbClr val="8A9BBE"/>
                </a:solidFill>
                <a:latin typeface="Calibri" pitchFamily="34" charset="0"/>
                <a:ea typeface="Calibri" pitchFamily="34" charset="-122"/>
                <a:cs typeface="Calibri" pitchFamily="34" charset="-120"/>
              </a:rPr>
              <a:t>EU market launch</a:t>
            </a:r>
            <a:endParaRPr lang="en-US" sz="850" dirty="0"/>
          </a:p>
          <a:p>
            <a:pPr algn="ctr" indent="0" marL="0">
              <a:buNone/>
            </a:pPr>
            <a:r>
              <a:rPr lang="en-US" sz="850" dirty="0">
                <a:solidFill>
                  <a:srgbClr val="8A9BBE"/>
                </a:solidFill>
                <a:latin typeface="Calibri" pitchFamily="34" charset="0"/>
                <a:ea typeface="Calibri" pitchFamily="34" charset="-122"/>
                <a:cs typeface="Calibri" pitchFamily="34" charset="-120"/>
              </a:rPr>
              <a:t>200+ accounts</a:t>
            </a:r>
            <a:endParaRPr lang="en-US" sz="850" dirty="0"/>
          </a:p>
        </p:txBody>
      </p:sp>
      <p:sp>
        <p:nvSpPr>
          <p:cNvPr id="30" name="Shape 28"/>
          <p:cNvSpPr/>
          <p:nvPr/>
        </p:nvSpPr>
        <p:spPr>
          <a:xfrm>
            <a:off x="8019288" y="3191256"/>
            <a:ext cx="201168" cy="201168"/>
          </a:xfrm>
          <a:prstGeom prst="ellipse">
            <a:avLst/>
          </a:prstGeom>
          <a:solidFill>
            <a:srgbClr val="000000"/>
          </a:solidFill>
          <a:ln w="19050">
            <a:solidFill>
              <a:srgbClr val="4B8EF8"/>
            </a:solidFill>
            <a:prstDash val="solid"/>
          </a:ln>
        </p:spPr>
      </p:sp>
      <p:sp>
        <p:nvSpPr>
          <p:cNvPr id="31" name="Text 29"/>
          <p:cNvSpPr/>
          <p:nvPr/>
        </p:nvSpPr>
        <p:spPr>
          <a:xfrm>
            <a:off x="7223760" y="2651760"/>
            <a:ext cx="1828800" cy="219456"/>
          </a:xfrm>
          <a:prstGeom prst="rect">
            <a:avLst/>
          </a:prstGeom>
          <a:noFill/>
          <a:ln/>
        </p:spPr>
        <p:txBody>
          <a:bodyPr wrap="square" lIns="0" tIns="0" rIns="0" bIns="0" rtlCol="0" anchor="ctr"/>
          <a:lstStyle/>
          <a:p>
            <a:pPr algn="ctr" indent="0" marL="0">
              <a:buNone/>
            </a:pPr>
            <a:r>
              <a:rPr lang="en-US" sz="850" b="1" spc="200" kern="0" dirty="0">
                <a:solidFill>
                  <a:srgbClr val="8A9BBE"/>
                </a:solidFill>
                <a:latin typeface="Calibri" pitchFamily="34" charset="0"/>
                <a:ea typeface="Calibri" pitchFamily="34" charset="-122"/>
                <a:cs typeface="Calibri" pitchFamily="34" charset="-120"/>
              </a:rPr>
              <a:t>YEAR 3</a:t>
            </a:r>
            <a:endParaRPr lang="en-US" sz="850" dirty="0"/>
          </a:p>
        </p:txBody>
      </p:sp>
      <p:sp>
        <p:nvSpPr>
          <p:cNvPr id="32" name="Text 30"/>
          <p:cNvSpPr/>
          <p:nvPr/>
        </p:nvSpPr>
        <p:spPr>
          <a:xfrm>
            <a:off x="7223760" y="2889504"/>
            <a:ext cx="1828800" cy="310896"/>
          </a:xfrm>
          <a:prstGeom prst="rect">
            <a:avLst/>
          </a:prstGeom>
          <a:noFill/>
          <a:ln/>
        </p:spPr>
        <p:txBody>
          <a:bodyPr wrap="square" lIns="0" tIns="0" rIns="0" bIns="0" rtlCol="0" anchor="ctr"/>
          <a:lstStyle/>
          <a:p>
            <a:pPr algn="ctr" indent="0" marL="0">
              <a:buNone/>
            </a:pPr>
            <a:r>
              <a:rPr lang="en-US" sz="1800" b="1" dirty="0">
                <a:solidFill>
                  <a:srgbClr val="4B8EF8"/>
                </a:solidFill>
                <a:latin typeface="Calibri" pitchFamily="34" charset="0"/>
                <a:ea typeface="Calibri" pitchFamily="34" charset="-122"/>
                <a:cs typeface="Calibri" pitchFamily="34" charset="-120"/>
              </a:rPr>
              <a:t>$10M+</a:t>
            </a:r>
            <a:endParaRPr lang="en-US" sz="1800" dirty="0"/>
          </a:p>
        </p:txBody>
      </p:sp>
      <p:sp>
        <p:nvSpPr>
          <p:cNvPr id="33" name="Text 31"/>
          <p:cNvSpPr/>
          <p:nvPr/>
        </p:nvSpPr>
        <p:spPr>
          <a:xfrm>
            <a:off x="7223760" y="3456432"/>
            <a:ext cx="1828800" cy="475488"/>
          </a:xfrm>
          <a:prstGeom prst="rect">
            <a:avLst/>
          </a:prstGeom>
          <a:noFill/>
          <a:ln/>
        </p:spPr>
        <p:txBody>
          <a:bodyPr wrap="square" lIns="0" tIns="0" rIns="0" bIns="0" rtlCol="0" anchor="ctr"/>
          <a:lstStyle/>
          <a:p>
            <a:pPr algn="ctr" indent="0" marL="0">
              <a:buNone/>
            </a:pPr>
            <a:r>
              <a:rPr lang="en-US" sz="850" dirty="0">
                <a:solidFill>
                  <a:srgbClr val="8A9BBE"/>
                </a:solidFill>
                <a:latin typeface="Calibri" pitchFamily="34" charset="0"/>
                <a:ea typeface="Calibri" pitchFamily="34" charset="-122"/>
                <a:cs typeface="Calibri" pitchFamily="34" charset="-120"/>
              </a:rPr>
              <a:t>1,000+ accounts</a:t>
            </a:r>
            <a:endParaRPr lang="en-US" sz="850" dirty="0"/>
          </a:p>
          <a:p>
            <a:pPr algn="ctr" indent="0" marL="0">
              <a:buNone/>
            </a:pPr>
            <a:r>
              <a:rPr lang="en-US" sz="850" dirty="0">
                <a:solidFill>
                  <a:srgbClr val="8A9BBE"/>
                </a:solidFill>
                <a:latin typeface="Calibri" pitchFamily="34" charset="0"/>
                <a:ea typeface="Calibri" pitchFamily="34" charset="-122"/>
                <a:cs typeface="Calibri" pitchFamily="34" charset="-120"/>
              </a:rPr>
              <a:t>per-tx revenue at scale</a:t>
            </a:r>
            <a:endParaRPr lang="en-US" sz="850" dirty="0"/>
          </a:p>
        </p:txBody>
      </p:sp>
      <p:sp>
        <p:nvSpPr>
          <p:cNvPr id="34" name="Text 32"/>
          <p:cNvSpPr/>
          <p:nvPr/>
        </p:nvSpPr>
        <p:spPr>
          <a:xfrm>
            <a:off x="457200" y="4005072"/>
            <a:ext cx="2743200" cy="219456"/>
          </a:xfrm>
          <a:prstGeom prst="rect">
            <a:avLst/>
          </a:prstGeom>
          <a:noFill/>
          <a:ln/>
        </p:spPr>
        <p:txBody>
          <a:bodyPr wrap="square" lIns="0" tIns="0" rIns="0" bIns="0" rtlCol="0" anchor="ctr"/>
          <a:lstStyle/>
          <a:p>
            <a:pPr indent="0" marL="0">
              <a:buNone/>
            </a:pPr>
            <a:r>
              <a:rPr lang="en-US" sz="950" b="1" dirty="0">
                <a:solidFill>
                  <a:srgbClr val="8A9BBE"/>
                </a:solidFill>
                <a:latin typeface="Calibri" pitchFamily="34" charset="0"/>
                <a:ea typeface="Calibri" pitchFamily="34" charset="-122"/>
                <a:cs typeface="Calibri" pitchFamily="34" charset="-120"/>
              </a:rPr>
              <a:t>Capital Allocation</a:t>
            </a:r>
            <a:endParaRPr lang="en-US" sz="950" dirty="0"/>
          </a:p>
        </p:txBody>
      </p:sp>
      <p:sp>
        <p:nvSpPr>
          <p:cNvPr id="35" name="Shape 33"/>
          <p:cNvSpPr/>
          <p:nvPr/>
        </p:nvSpPr>
        <p:spPr>
          <a:xfrm>
            <a:off x="457200" y="4279392"/>
            <a:ext cx="5029200" cy="219456"/>
          </a:xfrm>
          <a:prstGeom prst="rect">
            <a:avLst/>
          </a:prstGeom>
          <a:solidFill>
            <a:srgbClr val="111827"/>
          </a:solidFill>
          <a:ln w="12700">
            <a:solidFill>
              <a:srgbClr val="111827"/>
            </a:solidFill>
            <a:prstDash val="solid"/>
          </a:ln>
        </p:spPr>
      </p:sp>
      <p:sp>
        <p:nvSpPr>
          <p:cNvPr id="36" name="Shape 34"/>
          <p:cNvSpPr/>
          <p:nvPr/>
        </p:nvSpPr>
        <p:spPr>
          <a:xfrm>
            <a:off x="457200" y="4279392"/>
            <a:ext cx="2263140" cy="219456"/>
          </a:xfrm>
          <a:prstGeom prst="rect">
            <a:avLst/>
          </a:prstGeom>
          <a:solidFill>
            <a:srgbClr val="4B8EF8"/>
          </a:solidFill>
          <a:ln w="12700">
            <a:solidFill>
              <a:srgbClr val="4B8EF8"/>
            </a:solidFill>
            <a:prstDash val="solid"/>
          </a:ln>
        </p:spPr>
      </p:sp>
      <p:sp>
        <p:nvSpPr>
          <p:cNvPr id="37" name="Text 35"/>
          <p:cNvSpPr/>
          <p:nvPr/>
        </p:nvSpPr>
        <p:spPr>
          <a:xfrm>
            <a:off x="548640" y="4297680"/>
            <a:ext cx="2743200"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Engineering  45%</a:t>
            </a:r>
            <a:endParaRPr lang="en-US" sz="900" dirty="0"/>
          </a:p>
        </p:txBody>
      </p:sp>
      <p:sp>
        <p:nvSpPr>
          <p:cNvPr id="38" name="Text 36"/>
          <p:cNvSpPr/>
          <p:nvPr/>
        </p:nvSpPr>
        <p:spPr>
          <a:xfrm>
            <a:off x="5650992" y="4279392"/>
            <a:ext cx="2395728" cy="219456"/>
          </a:xfrm>
          <a:prstGeom prst="rect">
            <a:avLst/>
          </a:prstGeom>
          <a:noFill/>
          <a:ln/>
        </p:spPr>
        <p:txBody>
          <a:bodyPr wrap="square" lIns="0" tIns="0" rIns="0" bIns="0" rtlCol="0" anchor="ctr"/>
          <a:lstStyle/>
          <a:p>
            <a:pPr indent="0" marL="0">
              <a:buNone/>
            </a:pPr>
            <a:r>
              <a:rPr lang="en-US" sz="900" dirty="0">
                <a:solidFill>
                  <a:srgbClr val="3D4E66"/>
                </a:solidFill>
                <a:latin typeface="Calibri" pitchFamily="34" charset="0"/>
                <a:ea typeface="Calibri" pitchFamily="34" charset="-122"/>
                <a:cs typeface="Calibri" pitchFamily="34" charset="-120"/>
              </a:rPr>
              <a:t>TEE hardening · EU AI Act modules · SSO</a:t>
            </a:r>
            <a:endParaRPr lang="en-US" sz="900" dirty="0"/>
          </a:p>
        </p:txBody>
      </p:sp>
      <p:sp>
        <p:nvSpPr>
          <p:cNvPr id="39" name="Shape 37"/>
          <p:cNvSpPr/>
          <p:nvPr/>
        </p:nvSpPr>
        <p:spPr>
          <a:xfrm>
            <a:off x="457200" y="4572000"/>
            <a:ext cx="5029200" cy="219456"/>
          </a:xfrm>
          <a:prstGeom prst="rect">
            <a:avLst/>
          </a:prstGeom>
          <a:solidFill>
            <a:srgbClr val="111827"/>
          </a:solidFill>
          <a:ln w="12700">
            <a:solidFill>
              <a:srgbClr val="111827"/>
            </a:solidFill>
            <a:prstDash val="solid"/>
          </a:ln>
        </p:spPr>
      </p:sp>
      <p:sp>
        <p:nvSpPr>
          <p:cNvPr id="40" name="Shape 38"/>
          <p:cNvSpPr/>
          <p:nvPr/>
        </p:nvSpPr>
        <p:spPr>
          <a:xfrm>
            <a:off x="457200" y="4572000"/>
            <a:ext cx="1508760" cy="219456"/>
          </a:xfrm>
          <a:prstGeom prst="rect">
            <a:avLst/>
          </a:prstGeom>
          <a:solidFill>
            <a:srgbClr val="7CB4F8"/>
          </a:solidFill>
          <a:ln w="12700">
            <a:solidFill>
              <a:srgbClr val="7CB4F8"/>
            </a:solidFill>
            <a:prstDash val="solid"/>
          </a:ln>
        </p:spPr>
      </p:sp>
      <p:sp>
        <p:nvSpPr>
          <p:cNvPr id="41" name="Text 39"/>
          <p:cNvSpPr/>
          <p:nvPr/>
        </p:nvSpPr>
        <p:spPr>
          <a:xfrm>
            <a:off x="548640" y="4590288"/>
            <a:ext cx="2743200"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Sales &amp; GTM  30%</a:t>
            </a:r>
            <a:endParaRPr lang="en-US" sz="900" dirty="0"/>
          </a:p>
        </p:txBody>
      </p:sp>
      <p:sp>
        <p:nvSpPr>
          <p:cNvPr id="42" name="Text 40"/>
          <p:cNvSpPr/>
          <p:nvPr/>
        </p:nvSpPr>
        <p:spPr>
          <a:xfrm>
            <a:off x="5650992" y="4572000"/>
            <a:ext cx="2395728" cy="219456"/>
          </a:xfrm>
          <a:prstGeom prst="rect">
            <a:avLst/>
          </a:prstGeom>
          <a:noFill/>
          <a:ln/>
        </p:spPr>
        <p:txBody>
          <a:bodyPr wrap="square" lIns="0" tIns="0" rIns="0" bIns="0" rtlCol="0" anchor="ctr"/>
          <a:lstStyle/>
          <a:p>
            <a:pPr indent="0" marL="0">
              <a:buNone/>
            </a:pPr>
            <a:r>
              <a:rPr lang="en-US" sz="900" dirty="0">
                <a:solidFill>
                  <a:srgbClr val="3D4E66"/>
                </a:solidFill>
                <a:latin typeface="Calibri" pitchFamily="34" charset="0"/>
                <a:ea typeface="Calibri" pitchFamily="34" charset="-122"/>
                <a:cs typeface="Calibri" pitchFamily="34" charset="-120"/>
              </a:rPr>
              <a:t>Enterprise sales · developer community</a:t>
            </a:r>
            <a:endParaRPr lang="en-US" sz="900" dirty="0"/>
          </a:p>
        </p:txBody>
      </p:sp>
      <p:sp>
        <p:nvSpPr>
          <p:cNvPr id="43" name="Shape 41"/>
          <p:cNvSpPr/>
          <p:nvPr/>
        </p:nvSpPr>
        <p:spPr>
          <a:xfrm>
            <a:off x="457200" y="4864608"/>
            <a:ext cx="5029200" cy="219456"/>
          </a:xfrm>
          <a:prstGeom prst="rect">
            <a:avLst/>
          </a:prstGeom>
          <a:solidFill>
            <a:srgbClr val="111827"/>
          </a:solidFill>
          <a:ln w="12700">
            <a:solidFill>
              <a:srgbClr val="111827"/>
            </a:solidFill>
            <a:prstDash val="solid"/>
          </a:ln>
        </p:spPr>
      </p:sp>
      <p:sp>
        <p:nvSpPr>
          <p:cNvPr id="44" name="Shape 42"/>
          <p:cNvSpPr/>
          <p:nvPr/>
        </p:nvSpPr>
        <p:spPr>
          <a:xfrm>
            <a:off x="457200" y="4864608"/>
            <a:ext cx="1257300" cy="219456"/>
          </a:xfrm>
          <a:prstGeom prst="rect">
            <a:avLst/>
          </a:prstGeom>
          <a:solidFill>
            <a:srgbClr val="4A7ACC"/>
          </a:solidFill>
          <a:ln w="12700">
            <a:solidFill>
              <a:srgbClr val="4A7ACC"/>
            </a:solidFill>
            <a:prstDash val="solid"/>
          </a:ln>
        </p:spPr>
      </p:sp>
      <p:sp>
        <p:nvSpPr>
          <p:cNvPr id="45" name="Text 43"/>
          <p:cNvSpPr/>
          <p:nvPr/>
        </p:nvSpPr>
        <p:spPr>
          <a:xfrm>
            <a:off x="548640" y="4882896"/>
            <a:ext cx="2743200"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Operations  25%</a:t>
            </a:r>
            <a:endParaRPr lang="en-US" sz="900" dirty="0"/>
          </a:p>
        </p:txBody>
      </p:sp>
      <p:sp>
        <p:nvSpPr>
          <p:cNvPr id="46" name="Text 44"/>
          <p:cNvSpPr/>
          <p:nvPr/>
        </p:nvSpPr>
        <p:spPr>
          <a:xfrm>
            <a:off x="5650992" y="4864608"/>
            <a:ext cx="2395728" cy="219456"/>
          </a:xfrm>
          <a:prstGeom prst="rect">
            <a:avLst/>
          </a:prstGeom>
          <a:noFill/>
          <a:ln/>
        </p:spPr>
        <p:txBody>
          <a:bodyPr wrap="square" lIns="0" tIns="0" rIns="0" bIns="0" rtlCol="0" anchor="ctr"/>
          <a:lstStyle/>
          <a:p>
            <a:pPr indent="0" marL="0">
              <a:buNone/>
            </a:pPr>
            <a:r>
              <a:rPr lang="en-US" sz="900" dirty="0">
                <a:solidFill>
                  <a:srgbClr val="3D4E66"/>
                </a:solidFill>
                <a:latin typeface="Calibri" pitchFamily="34" charset="0"/>
                <a:ea typeface="Calibri" pitchFamily="34" charset="-122"/>
                <a:cs typeface="Calibri" pitchFamily="34" charset="-120"/>
              </a:rPr>
              <a:t>SOC 2 · EU AI Act prep · infra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Tutelum — Pre-Seed Pitch Deck</dc:title>
  <dc:subject>PptxGenJS Presentation</dc:subject>
  <dc:creator>PptxGenJS</dc:creator>
  <cp:lastModifiedBy>PptxGenJS</cp:lastModifiedBy>
  <cp:revision>1</cp:revision>
  <dcterms:created xsi:type="dcterms:W3CDTF">2026-04-03T05:23:08Z</dcterms:created>
  <dcterms:modified xsi:type="dcterms:W3CDTF">2026-04-03T05:23:08Z</dcterms:modified>
</cp:coreProperties>
</file>